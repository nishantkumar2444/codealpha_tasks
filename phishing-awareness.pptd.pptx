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9144000" cy="16256000"/>
  <p:embeddedFontLst>
    <p:embeddedFont>
      <p:font typeface="Liter" panose="02000503030000020004" pitchFamily="2" charset="0"/>
      <p:regular r:id="rId19"/>
    </p:embeddedFont>
    <p:embeddedFont>
      <p:font typeface="Quattrocento Sans" panose="020B0502050000020003"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37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font" Target="fonts/font3.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font" Target="fonts/font2.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5.fntdata" /><Relationship Id="rId10" Type="http://schemas.openxmlformats.org/officeDocument/2006/relationships/slide" Target="slides/slide9.xml" /><Relationship Id="rId19" Type="http://schemas.openxmlformats.org/officeDocument/2006/relationships/font" Target="fonts/font1.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4.fntdata"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3018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gradFill flip="none" rotWithShape="1">
            <a:gsLst>
              <a:gs pos="0">
                <a:srgbClr val="1B263B">
                  <a:alpha val="13000"/>
                </a:srgbClr>
              </a:gs>
              <a:gs pos="35000">
                <a:srgbClr val="1B263B">
                  <a:alpha val="53000"/>
                </a:srgbClr>
              </a:gs>
              <a:gs pos="100000">
                <a:srgbClr val="1B263B">
                  <a:alpha val="87000"/>
                </a:srgbClr>
              </a:gs>
            </a:gsLst>
            <a:lin ang="5400000" scaled="1"/>
          </a:gradFill>
          <a:ln/>
        </p:spPr>
      </p:sp>
      <p:sp>
        <p:nvSpPr>
          <p:cNvPr id="3" name="Shape 1"/>
          <p:cNvSpPr/>
          <p:nvPr/>
        </p:nvSpPr>
        <p:spPr>
          <a:xfrm>
            <a:off x="6858000" y="2921000"/>
            <a:ext cx="2540000" cy="38100"/>
          </a:xfrm>
          <a:prstGeom prst="rect">
            <a:avLst/>
          </a:prstGeom>
          <a:solidFill>
            <a:srgbClr val="E85D04"/>
          </a:solidFill>
          <a:ln/>
        </p:spPr>
      </p:sp>
      <p:sp>
        <p:nvSpPr>
          <p:cNvPr id="4" name="Text 2"/>
          <p:cNvSpPr/>
          <p:nvPr/>
        </p:nvSpPr>
        <p:spPr>
          <a:xfrm>
            <a:off x="1143000" y="3175000"/>
            <a:ext cx="13970000" cy="1651000"/>
          </a:xfrm>
          <a:prstGeom prst="rect">
            <a:avLst/>
          </a:prstGeom>
          <a:noFill/>
          <a:ln/>
        </p:spPr>
        <p:txBody>
          <a:bodyPr wrap="square" lIns="0" tIns="0" rIns="0" bIns="0" rtlCol="0" anchor="ctr"/>
          <a:lstStyle/>
          <a:p>
            <a:pPr algn="ctr">
              <a:lnSpc>
                <a:spcPct val="120000"/>
              </a:lnSpc>
            </a:pPr>
            <a:r>
              <a:rPr lang="en-US" sz="4400" kern="0" spc="300" dirty="0">
                <a:solidFill>
                  <a:srgbClr val="FFFFFF"/>
                </a:solidFill>
                <a:latin typeface="Liter" pitchFamily="34" charset="0"/>
                <a:ea typeface="Liter" pitchFamily="34" charset="-122"/>
                <a:cs typeface="Liter" pitchFamily="34" charset="-120"/>
              </a:rPr>
              <a:t>DON'T TAKE THE BAIT</a:t>
            </a:r>
            <a:endParaRPr lang="en-US" sz="4400" dirty="0"/>
          </a:p>
        </p:txBody>
      </p:sp>
      <p:sp>
        <p:nvSpPr>
          <p:cNvPr id="5" name="Shape 3"/>
          <p:cNvSpPr/>
          <p:nvPr/>
        </p:nvSpPr>
        <p:spPr>
          <a:xfrm>
            <a:off x="6858000" y="5016500"/>
            <a:ext cx="2540000" cy="38100"/>
          </a:xfrm>
          <a:prstGeom prst="rect">
            <a:avLst/>
          </a:prstGeom>
          <a:solidFill>
            <a:srgbClr val="E85D04"/>
          </a:solidFill>
          <a:ln/>
        </p:spPr>
      </p:sp>
      <p:sp>
        <p:nvSpPr>
          <p:cNvPr id="6" name="Text 4"/>
          <p:cNvSpPr/>
          <p:nvPr/>
        </p:nvSpPr>
        <p:spPr>
          <a:xfrm>
            <a:off x="2413000" y="5270500"/>
            <a:ext cx="11430000" cy="508000"/>
          </a:xfrm>
          <a:prstGeom prst="rect">
            <a:avLst/>
          </a:prstGeom>
          <a:noFill/>
          <a:ln/>
        </p:spPr>
        <p:txBody>
          <a:bodyPr wrap="none" lIns="0" tIns="0" rIns="0" bIns="0" rtlCol="0" anchor="ctr"/>
          <a:lstStyle/>
          <a:p>
            <a:pPr algn="ctr">
              <a:lnSpc>
                <a:spcPct val="100000"/>
              </a:lnSpc>
            </a:pPr>
            <a:r>
              <a:rPr lang="en-US" sz="2200" dirty="0">
                <a:solidFill>
                  <a:srgbClr val="FFFFFF">
                    <a:alpha val="80000"/>
                  </a:srgbClr>
                </a:solidFill>
                <a:latin typeface="Quattrocento Sans" pitchFamily="34" charset="0"/>
                <a:ea typeface="Quattrocento Sans" pitchFamily="34" charset="-122"/>
                <a:cs typeface="Quattrocento Sans" pitchFamily="34" charset="-120"/>
              </a:rPr>
              <a:t>Phishing Awareness Training</a:t>
            </a:r>
            <a:endParaRPr lang="en-US" sz="1600" dirty="0"/>
          </a:p>
        </p:txBody>
      </p:sp>
      <p:sp>
        <p:nvSpPr>
          <p:cNvPr id="7" name="Text 5"/>
          <p:cNvSpPr/>
          <p:nvPr/>
        </p:nvSpPr>
        <p:spPr>
          <a:xfrm>
            <a:off x="3048000" y="5969000"/>
            <a:ext cx="10160000" cy="381000"/>
          </a:xfrm>
          <a:prstGeom prst="rect">
            <a:avLst/>
          </a:prstGeom>
          <a:noFill/>
          <a:ln/>
        </p:spPr>
        <p:txBody>
          <a:bodyPr wrap="none" lIns="0" tIns="0" rIns="0" bIns="0" rtlCol="0" anchor="ctr"/>
          <a:lstStyle/>
          <a:p>
            <a:pPr algn="ctr">
              <a:lnSpc>
                <a:spcPct val="100000"/>
              </a:lnSpc>
            </a:pPr>
            <a:r>
              <a:rPr lang="en-US" sz="1600" dirty="0">
                <a:solidFill>
                  <a:srgbClr val="FFFFFF">
                    <a:alpha val="53333"/>
                  </a:srgbClr>
                </a:solidFill>
                <a:latin typeface="Quattrocento Sans" pitchFamily="34" charset="0"/>
                <a:ea typeface="Quattrocento Sans" pitchFamily="34" charset="-122"/>
                <a:cs typeface="Quattrocento Sans" pitchFamily="34" charset="-120"/>
              </a:rPr>
              <a:t>Protect Yourself and Your Organization from Cyber Threats</a:t>
            </a:r>
            <a:endParaRPr lang="en-US" sz="1600" dirty="0"/>
          </a:p>
        </p:txBody>
      </p:sp>
      <p:sp>
        <p:nvSpPr>
          <p:cNvPr id="8" name="Shape 6"/>
          <p:cNvSpPr/>
          <p:nvPr/>
        </p:nvSpPr>
        <p:spPr>
          <a:xfrm>
            <a:off x="0" y="8890000"/>
            <a:ext cx="16256000" cy="254000"/>
          </a:xfrm>
          <a:prstGeom prst="rect">
            <a:avLst/>
          </a:prstGeom>
          <a:solidFill>
            <a:srgbClr val="E85D04"/>
          </a:solidFill>
          <a:ln/>
        </p:spPr>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762000" y="571500"/>
            <a:ext cx="6350000" cy="571500"/>
          </a:xfrm>
          <a:prstGeom prst="rect">
            <a:avLst/>
          </a:prstGeom>
          <a:noFill/>
          <a:ln/>
        </p:spPr>
        <p:txBody>
          <a:bodyPr wrap="none" lIns="0" tIns="0" rIns="0" bIns="0" rtlCol="0" anchor="ctr"/>
          <a:lstStyle/>
          <a:p>
            <a:pPr>
              <a:lnSpc>
                <a:spcPct val="130000"/>
              </a:lnSpc>
            </a:pPr>
            <a:r>
              <a:rPr lang="en-US" sz="2800" dirty="0">
                <a:solidFill>
                  <a:srgbClr val="1B263B"/>
                </a:solidFill>
                <a:latin typeface="Liter" pitchFamily="34" charset="0"/>
                <a:ea typeface="Liter" pitchFamily="34" charset="-122"/>
                <a:cs typeface="Liter" pitchFamily="34" charset="-120"/>
              </a:rPr>
              <a:t>WHAT WE'LL COVER</a:t>
            </a:r>
            <a:endParaRPr lang="en-US" sz="2800" dirty="0"/>
          </a:p>
        </p:txBody>
      </p:sp>
      <p:sp>
        <p:nvSpPr>
          <p:cNvPr id="3" name="Shape 1"/>
          <p:cNvSpPr/>
          <p:nvPr/>
        </p:nvSpPr>
        <p:spPr>
          <a:xfrm>
            <a:off x="762000" y="1206500"/>
            <a:ext cx="1016000" cy="38100"/>
          </a:xfrm>
          <a:prstGeom prst="rect">
            <a:avLst/>
          </a:prstGeom>
          <a:solidFill>
            <a:srgbClr val="E85D04"/>
          </a:solidFill>
          <a:ln/>
        </p:spPr>
      </p:sp>
      <p:sp>
        <p:nvSpPr>
          <p:cNvPr id="4" name="Shape 2"/>
          <p:cNvSpPr/>
          <p:nvPr/>
        </p:nvSpPr>
        <p:spPr>
          <a:xfrm>
            <a:off x="762000" y="1651000"/>
            <a:ext cx="3429000" cy="6731000"/>
          </a:xfrm>
          <a:prstGeom prst="roundRect">
            <a:avLst>
              <a:gd name="adj" fmla="val 8000"/>
            </a:avLst>
          </a:prstGeom>
          <a:solidFill>
            <a:srgbClr val="EDEAE4"/>
          </a:solidFill>
          <a:ln/>
        </p:spPr>
      </p:sp>
      <p:sp>
        <p:nvSpPr>
          <p:cNvPr id="5" name="Text 3"/>
          <p:cNvSpPr/>
          <p:nvPr/>
        </p:nvSpPr>
        <p:spPr>
          <a:xfrm>
            <a:off x="1079500" y="1968500"/>
            <a:ext cx="1270000" cy="762000"/>
          </a:xfrm>
          <a:prstGeom prst="rect">
            <a:avLst/>
          </a:prstGeom>
          <a:noFill/>
          <a:ln/>
        </p:spPr>
        <p:txBody>
          <a:bodyPr wrap="none" lIns="0" tIns="0" rIns="0" bIns="0" rtlCol="0" anchor="t"/>
          <a:lstStyle/>
          <a:p>
            <a:pPr>
              <a:lnSpc>
                <a:spcPct val="100000"/>
              </a:lnSpc>
            </a:pPr>
            <a:r>
              <a:rPr lang="en-US" sz="4800" dirty="0">
                <a:solidFill>
                  <a:srgbClr val="E85D04"/>
                </a:solidFill>
                <a:latin typeface="Liter" pitchFamily="34" charset="0"/>
                <a:ea typeface="Liter" pitchFamily="34" charset="-122"/>
                <a:cs typeface="Liter" pitchFamily="34" charset="-120"/>
              </a:rPr>
              <a:t>01</a:t>
            </a:r>
            <a:endParaRPr lang="en-US" sz="1600" dirty="0"/>
          </a:p>
        </p:txBody>
      </p:sp>
      <p:sp>
        <p:nvSpPr>
          <p:cNvPr id="6" name="Text 4"/>
          <p:cNvSpPr/>
          <p:nvPr/>
        </p:nvSpPr>
        <p:spPr>
          <a:xfrm>
            <a:off x="1079500" y="2857500"/>
            <a:ext cx="2794000" cy="889000"/>
          </a:xfrm>
          <a:prstGeom prst="rect">
            <a:avLst/>
          </a:prstGeom>
          <a:noFill/>
          <a:ln/>
        </p:spPr>
        <p:txBody>
          <a:bodyPr wrap="square" lIns="0" tIns="0" rIns="0" bIns="0" rtlCol="0" anchor="t"/>
          <a:lstStyle/>
          <a:p>
            <a:pPr>
              <a:lnSpc>
                <a:spcPct val="130000"/>
              </a:lnSpc>
            </a:pPr>
            <a:r>
              <a:rPr lang="en-US" sz="2800" dirty="0">
                <a:solidFill>
                  <a:srgbClr val="1B263B"/>
                </a:solidFill>
                <a:latin typeface="Liter" pitchFamily="34" charset="0"/>
                <a:ea typeface="Liter" pitchFamily="34" charset="-122"/>
                <a:cs typeface="Liter" pitchFamily="34" charset="-120"/>
              </a:rPr>
              <a:t>Understanding Phishing</a:t>
            </a:r>
            <a:endParaRPr lang="en-US" sz="2800" dirty="0"/>
          </a:p>
        </p:txBody>
      </p:sp>
      <p:sp>
        <p:nvSpPr>
          <p:cNvPr id="7" name="Text 5"/>
          <p:cNvSpPr/>
          <p:nvPr/>
        </p:nvSpPr>
        <p:spPr>
          <a:xfrm>
            <a:off x="1079500" y="4610100"/>
            <a:ext cx="2794000" cy="1270000"/>
          </a:xfrm>
          <a:prstGeom prst="rect">
            <a:avLst/>
          </a:prstGeom>
          <a:noFill/>
          <a:ln/>
        </p:spPr>
        <p:txBody>
          <a:bodyPr wrap="square" lIns="0" tIns="0" rIns="0" bIns="0" rtlCol="0" anchor="t"/>
          <a:lstStyle/>
          <a:p>
            <a:pPr>
              <a:lnSpc>
                <a:spcPct val="150000"/>
              </a:lnSpc>
            </a:pPr>
            <a:r>
              <a:rPr lang="en-US" sz="2000" dirty="0">
                <a:solidFill>
                  <a:srgbClr val="5C6B7A"/>
                </a:solidFill>
                <a:latin typeface="Quattrocento Sans" pitchFamily="34" charset="0"/>
                <a:ea typeface="Quattrocento Sans" pitchFamily="34" charset="-122"/>
                <a:cs typeface="Quattrocento Sans" pitchFamily="34" charset="-120"/>
              </a:rPr>
              <a:t>What phishing is, how it works, and the staggering scale of the threat</a:t>
            </a:r>
            <a:endParaRPr lang="en-US" sz="2000" dirty="0"/>
          </a:p>
        </p:txBody>
      </p:sp>
      <p:sp>
        <p:nvSpPr>
          <p:cNvPr id="8" name="Shape 6"/>
          <p:cNvSpPr/>
          <p:nvPr/>
        </p:nvSpPr>
        <p:spPr>
          <a:xfrm>
            <a:off x="1047750" y="7366000"/>
            <a:ext cx="571500" cy="508000"/>
          </a:xfrm>
          <a:custGeom>
            <a:avLst/>
            <a:gdLst/>
            <a:ahLst/>
            <a:cxnLst/>
            <a:rect l="l" t="t" r="r" b="b"/>
            <a:pathLst>
              <a:path w="571500" h="508000">
                <a:moveTo>
                  <a:pt x="179090" y="140395"/>
                </a:moveTo>
                <a:cubicBezTo>
                  <a:pt x="217984" y="107652"/>
                  <a:pt x="270470" y="79375"/>
                  <a:pt x="333375" y="79375"/>
                </a:cubicBezTo>
                <a:cubicBezTo>
                  <a:pt x="396280" y="79375"/>
                  <a:pt x="448766" y="107652"/>
                  <a:pt x="487660" y="140395"/>
                </a:cubicBezTo>
                <a:cubicBezTo>
                  <a:pt x="526455" y="173137"/>
                  <a:pt x="554038" y="212229"/>
                  <a:pt x="568027" y="239415"/>
                </a:cubicBezTo>
                <a:cubicBezTo>
                  <a:pt x="572691" y="248543"/>
                  <a:pt x="572691" y="259358"/>
                  <a:pt x="568027" y="268486"/>
                </a:cubicBezTo>
                <a:cubicBezTo>
                  <a:pt x="554038" y="295672"/>
                  <a:pt x="526455" y="334764"/>
                  <a:pt x="487660" y="367506"/>
                </a:cubicBezTo>
                <a:cubicBezTo>
                  <a:pt x="448766" y="400348"/>
                  <a:pt x="396379" y="428526"/>
                  <a:pt x="333375" y="428526"/>
                </a:cubicBezTo>
                <a:cubicBezTo>
                  <a:pt x="270371" y="428526"/>
                  <a:pt x="217984" y="400248"/>
                  <a:pt x="179090" y="367506"/>
                </a:cubicBezTo>
                <a:cubicBezTo>
                  <a:pt x="163016" y="353913"/>
                  <a:pt x="148828" y="339229"/>
                  <a:pt x="136723" y="324743"/>
                </a:cubicBezTo>
                <a:lnTo>
                  <a:pt x="47724" y="376634"/>
                </a:lnTo>
                <a:cubicBezTo>
                  <a:pt x="35322" y="383877"/>
                  <a:pt x="19546" y="381893"/>
                  <a:pt x="9327" y="371773"/>
                </a:cubicBezTo>
                <a:cubicBezTo>
                  <a:pt x="-893" y="361652"/>
                  <a:pt x="-2977" y="345976"/>
                  <a:pt x="4068" y="333474"/>
                </a:cubicBezTo>
                <a:lnTo>
                  <a:pt x="49609" y="254000"/>
                </a:lnTo>
                <a:lnTo>
                  <a:pt x="4167" y="174526"/>
                </a:lnTo>
                <a:cubicBezTo>
                  <a:pt x="-2977" y="162024"/>
                  <a:pt x="-794" y="146348"/>
                  <a:pt x="9426" y="136227"/>
                </a:cubicBezTo>
                <a:cubicBezTo>
                  <a:pt x="19645" y="126107"/>
                  <a:pt x="35322" y="124123"/>
                  <a:pt x="47823" y="131366"/>
                </a:cubicBezTo>
                <a:lnTo>
                  <a:pt x="136823" y="183257"/>
                </a:lnTo>
                <a:cubicBezTo>
                  <a:pt x="148927" y="168771"/>
                  <a:pt x="163116" y="154087"/>
                  <a:pt x="179189" y="140494"/>
                </a:cubicBezTo>
                <a:close/>
                <a:moveTo>
                  <a:pt x="444500" y="254000"/>
                </a:moveTo>
                <a:cubicBezTo>
                  <a:pt x="444500" y="236477"/>
                  <a:pt x="430273" y="222250"/>
                  <a:pt x="412750" y="222250"/>
                </a:cubicBezTo>
                <a:cubicBezTo>
                  <a:pt x="395227" y="222250"/>
                  <a:pt x="381000" y="236477"/>
                  <a:pt x="381000" y="254000"/>
                </a:cubicBezTo>
                <a:cubicBezTo>
                  <a:pt x="381000" y="271523"/>
                  <a:pt x="395227" y="285750"/>
                  <a:pt x="412750" y="285750"/>
                </a:cubicBezTo>
                <a:cubicBezTo>
                  <a:pt x="430273" y="285750"/>
                  <a:pt x="444500" y="271523"/>
                  <a:pt x="444500" y="254000"/>
                </a:cubicBezTo>
                <a:close/>
              </a:path>
            </a:pathLst>
          </a:custGeom>
          <a:solidFill>
            <a:srgbClr val="E85D04"/>
          </a:solidFill>
          <a:ln/>
        </p:spPr>
      </p:sp>
      <p:sp>
        <p:nvSpPr>
          <p:cNvPr id="9" name="Shape 7"/>
          <p:cNvSpPr/>
          <p:nvPr/>
        </p:nvSpPr>
        <p:spPr>
          <a:xfrm>
            <a:off x="4508500" y="1651000"/>
            <a:ext cx="3429000" cy="6731000"/>
          </a:xfrm>
          <a:prstGeom prst="roundRect">
            <a:avLst>
              <a:gd name="adj" fmla="val 8000"/>
            </a:avLst>
          </a:prstGeom>
          <a:solidFill>
            <a:srgbClr val="EDEAE4"/>
          </a:solidFill>
          <a:ln/>
        </p:spPr>
      </p:sp>
      <p:sp>
        <p:nvSpPr>
          <p:cNvPr id="10" name="Text 8"/>
          <p:cNvSpPr/>
          <p:nvPr/>
        </p:nvSpPr>
        <p:spPr>
          <a:xfrm>
            <a:off x="4826000" y="1968500"/>
            <a:ext cx="1270000" cy="762000"/>
          </a:xfrm>
          <a:prstGeom prst="rect">
            <a:avLst/>
          </a:prstGeom>
          <a:noFill/>
          <a:ln/>
        </p:spPr>
        <p:txBody>
          <a:bodyPr wrap="none" lIns="0" tIns="0" rIns="0" bIns="0" rtlCol="0" anchor="t"/>
          <a:lstStyle/>
          <a:p>
            <a:pPr>
              <a:lnSpc>
                <a:spcPct val="100000"/>
              </a:lnSpc>
            </a:pPr>
            <a:r>
              <a:rPr lang="en-US" sz="4800" dirty="0">
                <a:solidFill>
                  <a:srgbClr val="E85D04"/>
                </a:solidFill>
                <a:latin typeface="Liter" pitchFamily="34" charset="0"/>
                <a:ea typeface="Liter" pitchFamily="34" charset="-122"/>
                <a:cs typeface="Liter" pitchFamily="34" charset="-120"/>
              </a:rPr>
              <a:t>02</a:t>
            </a:r>
            <a:endParaRPr lang="en-US" sz="1600" dirty="0"/>
          </a:p>
        </p:txBody>
      </p:sp>
      <p:sp>
        <p:nvSpPr>
          <p:cNvPr id="11" name="Text 9"/>
          <p:cNvSpPr/>
          <p:nvPr/>
        </p:nvSpPr>
        <p:spPr>
          <a:xfrm>
            <a:off x="4826000" y="2857500"/>
            <a:ext cx="2794000" cy="889000"/>
          </a:xfrm>
          <a:prstGeom prst="rect">
            <a:avLst/>
          </a:prstGeom>
          <a:noFill/>
          <a:ln/>
        </p:spPr>
        <p:txBody>
          <a:bodyPr wrap="square" lIns="0" tIns="0" rIns="0" bIns="0" rtlCol="0" anchor="t"/>
          <a:lstStyle/>
          <a:p>
            <a:pPr>
              <a:lnSpc>
                <a:spcPct val="130000"/>
              </a:lnSpc>
            </a:pPr>
            <a:r>
              <a:rPr lang="en-US" sz="2800" dirty="0">
                <a:solidFill>
                  <a:srgbClr val="1B263B"/>
                </a:solidFill>
                <a:latin typeface="Liter" pitchFamily="34" charset="0"/>
                <a:ea typeface="Liter" pitchFamily="34" charset="-122"/>
                <a:cs typeface="Liter" pitchFamily="34" charset="-120"/>
              </a:rPr>
              <a:t>Recognizing the Threats</a:t>
            </a:r>
            <a:endParaRPr lang="en-US" sz="2800" dirty="0"/>
          </a:p>
        </p:txBody>
      </p:sp>
      <p:sp>
        <p:nvSpPr>
          <p:cNvPr id="12" name="Text 10"/>
          <p:cNvSpPr/>
          <p:nvPr/>
        </p:nvSpPr>
        <p:spPr>
          <a:xfrm>
            <a:off x="4826000" y="4610100"/>
            <a:ext cx="2794000" cy="1270000"/>
          </a:xfrm>
          <a:prstGeom prst="rect">
            <a:avLst/>
          </a:prstGeom>
          <a:noFill/>
          <a:ln/>
        </p:spPr>
        <p:txBody>
          <a:bodyPr wrap="square" lIns="0" tIns="0" rIns="0" bIns="0" rtlCol="0" anchor="t"/>
          <a:lstStyle/>
          <a:p>
            <a:pPr>
              <a:lnSpc>
                <a:spcPct val="150000"/>
              </a:lnSpc>
            </a:pPr>
            <a:r>
              <a:rPr lang="en-US" sz="2000" dirty="0">
                <a:solidFill>
                  <a:srgbClr val="5C6B7A"/>
                </a:solidFill>
                <a:latin typeface="Quattrocento Sans" pitchFamily="34" charset="0"/>
                <a:ea typeface="Quattrocento Sans" pitchFamily="34" charset="-122"/>
                <a:cs typeface="Quattrocento Sans" pitchFamily="34" charset="-120"/>
              </a:rPr>
              <a:t>Spot phishing emails and fake websites with proven red flags</a:t>
            </a:r>
            <a:endParaRPr lang="en-US" sz="2000" dirty="0"/>
          </a:p>
        </p:txBody>
      </p:sp>
      <p:sp>
        <p:nvSpPr>
          <p:cNvPr id="13" name="Shape 11"/>
          <p:cNvSpPr/>
          <p:nvPr/>
        </p:nvSpPr>
        <p:spPr>
          <a:xfrm>
            <a:off x="4794250" y="7366000"/>
            <a:ext cx="571500" cy="508000"/>
          </a:xfrm>
          <a:custGeom>
            <a:avLst/>
            <a:gdLst/>
            <a:ahLst/>
            <a:cxnLst/>
            <a:rect l="l" t="t" r="r" b="b"/>
            <a:pathLst>
              <a:path w="571500" h="508000">
                <a:moveTo>
                  <a:pt x="285750" y="31750"/>
                </a:moveTo>
                <a:cubicBezTo>
                  <a:pt x="205581" y="31750"/>
                  <a:pt x="141387" y="68263"/>
                  <a:pt x="94655" y="111720"/>
                </a:cubicBezTo>
                <a:cubicBezTo>
                  <a:pt x="48220" y="154880"/>
                  <a:pt x="17165" y="206375"/>
                  <a:pt x="2381" y="241796"/>
                </a:cubicBezTo>
                <a:cubicBezTo>
                  <a:pt x="-893" y="249634"/>
                  <a:pt x="-893" y="258366"/>
                  <a:pt x="2381" y="266204"/>
                </a:cubicBezTo>
                <a:cubicBezTo>
                  <a:pt x="17165" y="301625"/>
                  <a:pt x="48220" y="353219"/>
                  <a:pt x="94655" y="396280"/>
                </a:cubicBezTo>
                <a:cubicBezTo>
                  <a:pt x="141387" y="439638"/>
                  <a:pt x="205581" y="476250"/>
                  <a:pt x="285750" y="476250"/>
                </a:cubicBezTo>
                <a:cubicBezTo>
                  <a:pt x="365919" y="476250"/>
                  <a:pt x="430113" y="439737"/>
                  <a:pt x="476845" y="396280"/>
                </a:cubicBezTo>
                <a:cubicBezTo>
                  <a:pt x="523280" y="353120"/>
                  <a:pt x="554335" y="301625"/>
                  <a:pt x="569119" y="266204"/>
                </a:cubicBezTo>
                <a:cubicBezTo>
                  <a:pt x="572393" y="258366"/>
                  <a:pt x="572393" y="249634"/>
                  <a:pt x="569119" y="241796"/>
                </a:cubicBezTo>
                <a:cubicBezTo>
                  <a:pt x="554335" y="206375"/>
                  <a:pt x="523280" y="154781"/>
                  <a:pt x="476845" y="111720"/>
                </a:cubicBezTo>
                <a:cubicBezTo>
                  <a:pt x="430113" y="68362"/>
                  <a:pt x="365919" y="31750"/>
                  <a:pt x="285750" y="31750"/>
                </a:cubicBezTo>
                <a:close/>
                <a:moveTo>
                  <a:pt x="142875" y="254000"/>
                </a:moveTo>
                <a:cubicBezTo>
                  <a:pt x="142875" y="175145"/>
                  <a:pt x="206895" y="111125"/>
                  <a:pt x="285750" y="111125"/>
                </a:cubicBezTo>
                <a:cubicBezTo>
                  <a:pt x="364605" y="111125"/>
                  <a:pt x="428625" y="175145"/>
                  <a:pt x="428625" y="254000"/>
                </a:cubicBezTo>
                <a:cubicBezTo>
                  <a:pt x="428625" y="332855"/>
                  <a:pt x="364605" y="396875"/>
                  <a:pt x="285750" y="396875"/>
                </a:cubicBezTo>
                <a:cubicBezTo>
                  <a:pt x="206895" y="396875"/>
                  <a:pt x="142875" y="332855"/>
                  <a:pt x="142875" y="254000"/>
                </a:cubicBezTo>
                <a:close/>
                <a:moveTo>
                  <a:pt x="285750" y="190500"/>
                </a:moveTo>
                <a:cubicBezTo>
                  <a:pt x="285750" y="225524"/>
                  <a:pt x="257274" y="254000"/>
                  <a:pt x="222250" y="254000"/>
                </a:cubicBezTo>
                <a:cubicBezTo>
                  <a:pt x="210840" y="254000"/>
                  <a:pt x="200124" y="251023"/>
                  <a:pt x="190798" y="245666"/>
                </a:cubicBezTo>
                <a:cubicBezTo>
                  <a:pt x="189805" y="256480"/>
                  <a:pt x="190698" y="267593"/>
                  <a:pt x="193675" y="278606"/>
                </a:cubicBezTo>
                <a:cubicBezTo>
                  <a:pt x="207268" y="329406"/>
                  <a:pt x="259556" y="359569"/>
                  <a:pt x="310356" y="345976"/>
                </a:cubicBezTo>
                <a:cubicBezTo>
                  <a:pt x="361156" y="332383"/>
                  <a:pt x="391319" y="280095"/>
                  <a:pt x="377726" y="229295"/>
                </a:cubicBezTo>
                <a:cubicBezTo>
                  <a:pt x="365621" y="183952"/>
                  <a:pt x="322659" y="155079"/>
                  <a:pt x="277416" y="159048"/>
                </a:cubicBezTo>
                <a:cubicBezTo>
                  <a:pt x="282674" y="168275"/>
                  <a:pt x="285750" y="178991"/>
                  <a:pt x="285750" y="190500"/>
                </a:cubicBezTo>
                <a:close/>
              </a:path>
            </a:pathLst>
          </a:custGeom>
          <a:solidFill>
            <a:srgbClr val="E85D04"/>
          </a:solidFill>
          <a:ln/>
        </p:spPr>
      </p:sp>
      <p:sp>
        <p:nvSpPr>
          <p:cNvPr id="14" name="Shape 12"/>
          <p:cNvSpPr/>
          <p:nvPr/>
        </p:nvSpPr>
        <p:spPr>
          <a:xfrm>
            <a:off x="8255000" y="1651000"/>
            <a:ext cx="3429000" cy="6731000"/>
          </a:xfrm>
          <a:prstGeom prst="roundRect">
            <a:avLst>
              <a:gd name="adj" fmla="val 8000"/>
            </a:avLst>
          </a:prstGeom>
          <a:solidFill>
            <a:srgbClr val="EDEAE4"/>
          </a:solidFill>
          <a:ln/>
        </p:spPr>
      </p:sp>
      <p:sp>
        <p:nvSpPr>
          <p:cNvPr id="15" name="Text 13"/>
          <p:cNvSpPr/>
          <p:nvPr/>
        </p:nvSpPr>
        <p:spPr>
          <a:xfrm>
            <a:off x="8572500" y="1968500"/>
            <a:ext cx="1270000" cy="762000"/>
          </a:xfrm>
          <a:prstGeom prst="rect">
            <a:avLst/>
          </a:prstGeom>
          <a:noFill/>
          <a:ln/>
        </p:spPr>
        <p:txBody>
          <a:bodyPr wrap="none" lIns="0" tIns="0" rIns="0" bIns="0" rtlCol="0" anchor="t"/>
          <a:lstStyle/>
          <a:p>
            <a:pPr>
              <a:lnSpc>
                <a:spcPct val="100000"/>
              </a:lnSpc>
            </a:pPr>
            <a:r>
              <a:rPr lang="en-US" sz="4800" dirty="0">
                <a:solidFill>
                  <a:srgbClr val="E85D04"/>
                </a:solidFill>
                <a:latin typeface="Liter" pitchFamily="34" charset="0"/>
                <a:ea typeface="Liter" pitchFamily="34" charset="-122"/>
                <a:cs typeface="Liter" pitchFamily="34" charset="-120"/>
              </a:rPr>
              <a:t>03</a:t>
            </a:r>
            <a:endParaRPr lang="en-US" sz="1600" dirty="0"/>
          </a:p>
        </p:txBody>
      </p:sp>
      <p:sp>
        <p:nvSpPr>
          <p:cNvPr id="16" name="Text 14"/>
          <p:cNvSpPr/>
          <p:nvPr/>
        </p:nvSpPr>
        <p:spPr>
          <a:xfrm>
            <a:off x="8572500" y="2857500"/>
            <a:ext cx="2794000" cy="889000"/>
          </a:xfrm>
          <a:prstGeom prst="rect">
            <a:avLst/>
          </a:prstGeom>
          <a:noFill/>
          <a:ln/>
        </p:spPr>
        <p:txBody>
          <a:bodyPr wrap="square" lIns="0" tIns="0" rIns="0" bIns="0" rtlCol="0" anchor="t"/>
          <a:lstStyle/>
          <a:p>
            <a:pPr>
              <a:lnSpc>
                <a:spcPct val="130000"/>
              </a:lnSpc>
            </a:pPr>
            <a:r>
              <a:rPr lang="en-US" sz="2800" dirty="0">
                <a:solidFill>
                  <a:srgbClr val="1B263B"/>
                </a:solidFill>
                <a:latin typeface="Liter" pitchFamily="34" charset="0"/>
                <a:ea typeface="Liter" pitchFamily="34" charset="-122"/>
                <a:cs typeface="Liter" pitchFamily="34" charset="-120"/>
              </a:rPr>
              <a:t>Social Engineering Tactics</a:t>
            </a:r>
            <a:endParaRPr lang="en-US" sz="2800" dirty="0"/>
          </a:p>
        </p:txBody>
      </p:sp>
      <p:sp>
        <p:nvSpPr>
          <p:cNvPr id="17" name="Text 15"/>
          <p:cNvSpPr/>
          <p:nvPr/>
        </p:nvSpPr>
        <p:spPr>
          <a:xfrm>
            <a:off x="8572500" y="4610100"/>
            <a:ext cx="2794000" cy="1270000"/>
          </a:xfrm>
          <a:prstGeom prst="rect">
            <a:avLst/>
          </a:prstGeom>
          <a:noFill/>
          <a:ln/>
        </p:spPr>
        <p:txBody>
          <a:bodyPr wrap="square" lIns="0" tIns="0" rIns="0" bIns="0" rtlCol="0" anchor="t"/>
          <a:lstStyle/>
          <a:p>
            <a:pPr>
              <a:lnSpc>
                <a:spcPct val="150000"/>
              </a:lnSpc>
            </a:pPr>
            <a:r>
              <a:rPr lang="en-US" sz="2000" dirty="0">
                <a:solidFill>
                  <a:srgbClr val="5C6B7A"/>
                </a:solidFill>
                <a:latin typeface="Quattrocento Sans" pitchFamily="34" charset="0"/>
                <a:ea typeface="Quattrocento Sans" pitchFamily="34" charset="-122"/>
                <a:cs typeface="Quattrocento Sans" pitchFamily="34" charset="-120"/>
              </a:rPr>
              <a:t>How attackers manipulate psychology to breach defenses</a:t>
            </a:r>
            <a:endParaRPr lang="en-US" sz="2000" dirty="0"/>
          </a:p>
        </p:txBody>
      </p:sp>
      <p:sp>
        <p:nvSpPr>
          <p:cNvPr id="18" name="Shape 16"/>
          <p:cNvSpPr/>
          <p:nvPr/>
        </p:nvSpPr>
        <p:spPr>
          <a:xfrm>
            <a:off x="8572500" y="7366000"/>
            <a:ext cx="508000" cy="508000"/>
          </a:xfrm>
          <a:custGeom>
            <a:avLst/>
            <a:gdLst/>
            <a:ahLst/>
            <a:cxnLst/>
            <a:rect l="l" t="t" r="r" b="b"/>
            <a:pathLst>
              <a:path w="508000" h="508000">
                <a:moveTo>
                  <a:pt x="119063" y="55563"/>
                </a:moveTo>
                <a:cubicBezTo>
                  <a:pt x="119063" y="24904"/>
                  <a:pt x="143966" y="0"/>
                  <a:pt x="174625" y="0"/>
                </a:cubicBezTo>
                <a:lnTo>
                  <a:pt x="198438" y="0"/>
                </a:lnTo>
                <a:cubicBezTo>
                  <a:pt x="215999" y="0"/>
                  <a:pt x="230188" y="14188"/>
                  <a:pt x="230188" y="31750"/>
                </a:cubicBezTo>
                <a:lnTo>
                  <a:pt x="230188" y="476250"/>
                </a:lnTo>
                <a:cubicBezTo>
                  <a:pt x="230188" y="493812"/>
                  <a:pt x="215999" y="508000"/>
                  <a:pt x="198438" y="508000"/>
                </a:cubicBezTo>
                <a:lnTo>
                  <a:pt x="166688" y="508000"/>
                </a:lnTo>
                <a:cubicBezTo>
                  <a:pt x="137120" y="508000"/>
                  <a:pt x="112216" y="487759"/>
                  <a:pt x="105172" y="460375"/>
                </a:cubicBezTo>
                <a:cubicBezTo>
                  <a:pt x="104477" y="460375"/>
                  <a:pt x="103882" y="460375"/>
                  <a:pt x="103188" y="460375"/>
                </a:cubicBezTo>
                <a:cubicBezTo>
                  <a:pt x="59333" y="460375"/>
                  <a:pt x="23812" y="424855"/>
                  <a:pt x="23812" y="381000"/>
                </a:cubicBezTo>
                <a:cubicBezTo>
                  <a:pt x="23812" y="363141"/>
                  <a:pt x="29766" y="346670"/>
                  <a:pt x="39688" y="333375"/>
                </a:cubicBezTo>
                <a:cubicBezTo>
                  <a:pt x="20439" y="318889"/>
                  <a:pt x="7938" y="295870"/>
                  <a:pt x="7938" y="269875"/>
                </a:cubicBezTo>
                <a:cubicBezTo>
                  <a:pt x="7938" y="239216"/>
                  <a:pt x="25400" y="212527"/>
                  <a:pt x="50800" y="199330"/>
                </a:cubicBezTo>
                <a:cubicBezTo>
                  <a:pt x="43755" y="187424"/>
                  <a:pt x="39688" y="173534"/>
                  <a:pt x="39688" y="158750"/>
                </a:cubicBezTo>
                <a:cubicBezTo>
                  <a:pt x="39688" y="114895"/>
                  <a:pt x="75208" y="79375"/>
                  <a:pt x="119063" y="79375"/>
                </a:cubicBezTo>
                <a:lnTo>
                  <a:pt x="119063" y="55563"/>
                </a:lnTo>
                <a:close/>
                <a:moveTo>
                  <a:pt x="388938" y="55563"/>
                </a:moveTo>
                <a:lnTo>
                  <a:pt x="388938" y="79375"/>
                </a:lnTo>
                <a:cubicBezTo>
                  <a:pt x="432792" y="79375"/>
                  <a:pt x="468313" y="114895"/>
                  <a:pt x="468313" y="158750"/>
                </a:cubicBezTo>
                <a:cubicBezTo>
                  <a:pt x="468313" y="173633"/>
                  <a:pt x="464245" y="187523"/>
                  <a:pt x="457200" y="199330"/>
                </a:cubicBezTo>
                <a:cubicBezTo>
                  <a:pt x="482699" y="212527"/>
                  <a:pt x="500063" y="239117"/>
                  <a:pt x="500063" y="269875"/>
                </a:cubicBezTo>
                <a:cubicBezTo>
                  <a:pt x="500063" y="295870"/>
                  <a:pt x="487561" y="318889"/>
                  <a:pt x="468313" y="333375"/>
                </a:cubicBezTo>
                <a:cubicBezTo>
                  <a:pt x="478234" y="346670"/>
                  <a:pt x="484187" y="363141"/>
                  <a:pt x="484187" y="381000"/>
                </a:cubicBezTo>
                <a:cubicBezTo>
                  <a:pt x="484187" y="424855"/>
                  <a:pt x="448667" y="460375"/>
                  <a:pt x="404813" y="460375"/>
                </a:cubicBezTo>
                <a:cubicBezTo>
                  <a:pt x="404118" y="460375"/>
                  <a:pt x="403523" y="460375"/>
                  <a:pt x="402828" y="460375"/>
                </a:cubicBezTo>
                <a:cubicBezTo>
                  <a:pt x="395784" y="487759"/>
                  <a:pt x="370880" y="508000"/>
                  <a:pt x="341313" y="508000"/>
                </a:cubicBezTo>
                <a:lnTo>
                  <a:pt x="309562" y="508000"/>
                </a:lnTo>
                <a:cubicBezTo>
                  <a:pt x="292001" y="508000"/>
                  <a:pt x="277813" y="493812"/>
                  <a:pt x="277813" y="476250"/>
                </a:cubicBezTo>
                <a:lnTo>
                  <a:pt x="277813" y="31750"/>
                </a:lnTo>
                <a:cubicBezTo>
                  <a:pt x="277813" y="14188"/>
                  <a:pt x="292001" y="0"/>
                  <a:pt x="309562" y="0"/>
                </a:cubicBezTo>
                <a:lnTo>
                  <a:pt x="333375" y="0"/>
                </a:lnTo>
                <a:cubicBezTo>
                  <a:pt x="364034" y="0"/>
                  <a:pt x="388938" y="24904"/>
                  <a:pt x="388938" y="55563"/>
                </a:cubicBezTo>
                <a:close/>
              </a:path>
            </a:pathLst>
          </a:custGeom>
          <a:solidFill>
            <a:srgbClr val="E85D04"/>
          </a:solidFill>
          <a:ln/>
        </p:spPr>
      </p:sp>
      <p:sp>
        <p:nvSpPr>
          <p:cNvPr id="19" name="Shape 17"/>
          <p:cNvSpPr/>
          <p:nvPr/>
        </p:nvSpPr>
        <p:spPr>
          <a:xfrm>
            <a:off x="12001500" y="1651000"/>
            <a:ext cx="3429000" cy="6731000"/>
          </a:xfrm>
          <a:prstGeom prst="roundRect">
            <a:avLst>
              <a:gd name="adj" fmla="val 8000"/>
            </a:avLst>
          </a:prstGeom>
          <a:solidFill>
            <a:srgbClr val="EDEAE4"/>
          </a:solidFill>
          <a:ln/>
        </p:spPr>
      </p:sp>
      <p:sp>
        <p:nvSpPr>
          <p:cNvPr id="20" name="Text 18"/>
          <p:cNvSpPr/>
          <p:nvPr/>
        </p:nvSpPr>
        <p:spPr>
          <a:xfrm>
            <a:off x="12319000" y="1968500"/>
            <a:ext cx="1270000" cy="762000"/>
          </a:xfrm>
          <a:prstGeom prst="rect">
            <a:avLst/>
          </a:prstGeom>
          <a:noFill/>
          <a:ln/>
        </p:spPr>
        <p:txBody>
          <a:bodyPr wrap="none" lIns="0" tIns="0" rIns="0" bIns="0" rtlCol="0" anchor="t"/>
          <a:lstStyle/>
          <a:p>
            <a:pPr>
              <a:lnSpc>
                <a:spcPct val="100000"/>
              </a:lnSpc>
            </a:pPr>
            <a:r>
              <a:rPr lang="en-US" sz="4800" dirty="0">
                <a:solidFill>
                  <a:srgbClr val="E85D04"/>
                </a:solidFill>
                <a:latin typeface="Liter" pitchFamily="34" charset="0"/>
                <a:ea typeface="Liter" pitchFamily="34" charset="-122"/>
                <a:cs typeface="Liter" pitchFamily="34" charset="-120"/>
              </a:rPr>
              <a:t>04</a:t>
            </a:r>
            <a:endParaRPr lang="en-US" sz="1600" dirty="0"/>
          </a:p>
        </p:txBody>
      </p:sp>
      <p:sp>
        <p:nvSpPr>
          <p:cNvPr id="21" name="Text 19"/>
          <p:cNvSpPr/>
          <p:nvPr/>
        </p:nvSpPr>
        <p:spPr>
          <a:xfrm>
            <a:off x="12319000" y="2857500"/>
            <a:ext cx="2794000" cy="889000"/>
          </a:xfrm>
          <a:prstGeom prst="rect">
            <a:avLst/>
          </a:prstGeom>
          <a:noFill/>
          <a:ln/>
        </p:spPr>
        <p:txBody>
          <a:bodyPr wrap="square" lIns="0" tIns="0" rIns="0" bIns="0" rtlCol="0" anchor="t"/>
          <a:lstStyle/>
          <a:p>
            <a:pPr>
              <a:lnSpc>
                <a:spcPct val="130000"/>
              </a:lnSpc>
            </a:pPr>
            <a:r>
              <a:rPr lang="en-US" sz="2800" dirty="0">
                <a:solidFill>
                  <a:srgbClr val="1B263B"/>
                </a:solidFill>
                <a:latin typeface="Liter" pitchFamily="34" charset="0"/>
                <a:ea typeface="Liter" pitchFamily="34" charset="-122"/>
                <a:cs typeface="Liter" pitchFamily="34" charset="-120"/>
              </a:rPr>
              <a:t>Protection &amp; Best Practices</a:t>
            </a:r>
            <a:endParaRPr lang="en-US" sz="2800" dirty="0"/>
          </a:p>
        </p:txBody>
      </p:sp>
      <p:sp>
        <p:nvSpPr>
          <p:cNvPr id="22" name="Text 20"/>
          <p:cNvSpPr/>
          <p:nvPr/>
        </p:nvSpPr>
        <p:spPr>
          <a:xfrm>
            <a:off x="12319000" y="4610100"/>
            <a:ext cx="2794000" cy="1270000"/>
          </a:xfrm>
          <a:prstGeom prst="rect">
            <a:avLst/>
          </a:prstGeom>
          <a:noFill/>
          <a:ln/>
        </p:spPr>
        <p:txBody>
          <a:bodyPr wrap="square" lIns="0" tIns="0" rIns="0" bIns="0" rtlCol="0" anchor="t"/>
          <a:lstStyle/>
          <a:p>
            <a:pPr>
              <a:lnSpc>
                <a:spcPct val="150000"/>
              </a:lnSpc>
            </a:pPr>
            <a:r>
              <a:rPr lang="en-US" sz="2000" dirty="0">
                <a:solidFill>
                  <a:srgbClr val="5C6B7A"/>
                </a:solidFill>
                <a:latin typeface="Quattrocento Sans" pitchFamily="34" charset="0"/>
                <a:ea typeface="Quattrocento Sans" pitchFamily="34" charset="-122"/>
                <a:cs typeface="Quattrocento Sans" pitchFamily="34" charset="-120"/>
              </a:rPr>
              <a:t>Actionable defense strategies and an interactive knowledge check</a:t>
            </a:r>
            <a:endParaRPr lang="en-US" sz="2000" dirty="0"/>
          </a:p>
        </p:txBody>
      </p:sp>
      <p:sp>
        <p:nvSpPr>
          <p:cNvPr id="23" name="Shape 21"/>
          <p:cNvSpPr/>
          <p:nvPr/>
        </p:nvSpPr>
        <p:spPr>
          <a:xfrm>
            <a:off x="12319000" y="7366000"/>
            <a:ext cx="508000" cy="508000"/>
          </a:xfrm>
          <a:custGeom>
            <a:avLst/>
            <a:gdLst/>
            <a:ahLst/>
            <a:cxnLst/>
            <a:rect l="l" t="t" r="r" b="b"/>
            <a:pathLst>
              <a:path w="508000" h="508000">
                <a:moveTo>
                  <a:pt x="254000" y="0"/>
                </a:moveTo>
                <a:cubicBezTo>
                  <a:pt x="258564" y="0"/>
                  <a:pt x="263128" y="992"/>
                  <a:pt x="267295" y="2877"/>
                </a:cubicBezTo>
                <a:lnTo>
                  <a:pt x="454223" y="82153"/>
                </a:lnTo>
                <a:cubicBezTo>
                  <a:pt x="476052" y="91380"/>
                  <a:pt x="492323" y="112911"/>
                  <a:pt x="492224" y="138906"/>
                </a:cubicBezTo>
                <a:cubicBezTo>
                  <a:pt x="491728" y="237331"/>
                  <a:pt x="451247" y="417413"/>
                  <a:pt x="280293" y="499269"/>
                </a:cubicBezTo>
                <a:cubicBezTo>
                  <a:pt x="263723" y="507206"/>
                  <a:pt x="244475" y="507206"/>
                  <a:pt x="227905" y="499269"/>
                </a:cubicBezTo>
                <a:cubicBezTo>
                  <a:pt x="56852" y="417413"/>
                  <a:pt x="16470" y="237331"/>
                  <a:pt x="15974" y="138906"/>
                </a:cubicBezTo>
                <a:cubicBezTo>
                  <a:pt x="15875" y="112911"/>
                  <a:pt x="32147" y="91380"/>
                  <a:pt x="53975" y="82153"/>
                </a:cubicBezTo>
                <a:lnTo>
                  <a:pt x="240804" y="2877"/>
                </a:lnTo>
                <a:cubicBezTo>
                  <a:pt x="244971" y="992"/>
                  <a:pt x="249436" y="0"/>
                  <a:pt x="254000" y="0"/>
                </a:cubicBezTo>
                <a:close/>
                <a:moveTo>
                  <a:pt x="254000" y="66278"/>
                </a:moveTo>
                <a:lnTo>
                  <a:pt x="254000" y="441424"/>
                </a:lnTo>
                <a:cubicBezTo>
                  <a:pt x="390922" y="375146"/>
                  <a:pt x="427732" y="228302"/>
                  <a:pt x="428625" y="140395"/>
                </a:cubicBezTo>
                <a:lnTo>
                  <a:pt x="254000" y="66377"/>
                </a:lnTo>
                <a:lnTo>
                  <a:pt x="254000" y="66377"/>
                </a:lnTo>
                <a:close/>
              </a:path>
            </a:pathLst>
          </a:custGeom>
          <a:solidFill>
            <a:srgbClr val="E85D04"/>
          </a:solidFill>
          <a:ln/>
        </p:spPr>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gradFill flip="none" rotWithShape="1">
            <a:gsLst>
              <a:gs pos="0">
                <a:srgbClr val="1B263B">
                  <a:alpha val="93000"/>
                </a:srgbClr>
              </a:gs>
              <a:gs pos="60000">
                <a:srgbClr val="1B263B">
                  <a:alpha val="80000"/>
                </a:srgbClr>
              </a:gs>
              <a:gs pos="100000">
                <a:srgbClr val="1B263B">
                  <a:alpha val="40000"/>
                </a:srgbClr>
              </a:gs>
            </a:gsLst>
            <a:lin ang="0" scaled="1"/>
          </a:gradFill>
          <a:ln/>
        </p:spPr>
      </p:sp>
      <p:sp>
        <p:nvSpPr>
          <p:cNvPr id="3" name="Text 1"/>
          <p:cNvSpPr/>
          <p:nvPr/>
        </p:nvSpPr>
        <p:spPr>
          <a:xfrm>
            <a:off x="1016000" y="2540000"/>
            <a:ext cx="2540000" cy="1016000"/>
          </a:xfrm>
          <a:prstGeom prst="rect">
            <a:avLst/>
          </a:prstGeom>
          <a:noFill/>
          <a:ln/>
        </p:spPr>
        <p:txBody>
          <a:bodyPr wrap="none" lIns="0" tIns="0" rIns="0" bIns="0" rtlCol="0" anchor="ctr"/>
          <a:lstStyle/>
          <a:p>
            <a:pPr>
              <a:lnSpc>
                <a:spcPct val="100000"/>
              </a:lnSpc>
            </a:pPr>
            <a:r>
              <a:rPr lang="en-US" sz="7200" dirty="0">
                <a:solidFill>
                  <a:srgbClr val="E85D04"/>
                </a:solidFill>
                <a:latin typeface="Liter" pitchFamily="34" charset="0"/>
                <a:ea typeface="Liter" pitchFamily="34" charset="-122"/>
                <a:cs typeface="Liter" pitchFamily="34" charset="-120"/>
              </a:rPr>
              <a:t>01</a:t>
            </a:r>
            <a:endParaRPr lang="en-US" sz="1600" dirty="0"/>
          </a:p>
        </p:txBody>
      </p:sp>
      <p:sp>
        <p:nvSpPr>
          <p:cNvPr id="4" name="Shape 2"/>
          <p:cNvSpPr/>
          <p:nvPr/>
        </p:nvSpPr>
        <p:spPr>
          <a:xfrm>
            <a:off x="1016000" y="3683000"/>
            <a:ext cx="1270000" cy="38100"/>
          </a:xfrm>
          <a:prstGeom prst="rect">
            <a:avLst/>
          </a:prstGeom>
          <a:solidFill>
            <a:srgbClr val="E85D04"/>
          </a:solidFill>
          <a:ln/>
        </p:spPr>
      </p:sp>
      <p:sp>
        <p:nvSpPr>
          <p:cNvPr id="5" name="Text 3"/>
          <p:cNvSpPr/>
          <p:nvPr/>
        </p:nvSpPr>
        <p:spPr>
          <a:xfrm>
            <a:off x="1016000" y="3937000"/>
            <a:ext cx="8890000" cy="698500"/>
          </a:xfrm>
          <a:prstGeom prst="rect">
            <a:avLst/>
          </a:prstGeom>
          <a:noFill/>
          <a:ln/>
        </p:spPr>
        <p:txBody>
          <a:bodyPr wrap="none" lIns="0" tIns="0" rIns="0" bIns="0" rtlCol="0" anchor="ctr"/>
          <a:lstStyle/>
          <a:p>
            <a:pPr>
              <a:lnSpc>
                <a:spcPct val="120000"/>
              </a:lnSpc>
            </a:pPr>
            <a:r>
              <a:rPr lang="en-US" sz="3800" kern="0" spc="200" dirty="0">
                <a:solidFill>
                  <a:srgbClr val="FFFFFF"/>
                </a:solidFill>
                <a:latin typeface="Liter" pitchFamily="34" charset="0"/>
                <a:ea typeface="Liter" pitchFamily="34" charset="-122"/>
                <a:cs typeface="Liter" pitchFamily="34" charset="-120"/>
              </a:rPr>
              <a:t>UNDERSTANDING PHISHING</a:t>
            </a:r>
            <a:endParaRPr lang="en-US" sz="3800" dirty="0"/>
          </a:p>
        </p:txBody>
      </p:sp>
      <p:sp>
        <p:nvSpPr>
          <p:cNvPr id="6" name="Text 4"/>
          <p:cNvSpPr/>
          <p:nvPr/>
        </p:nvSpPr>
        <p:spPr>
          <a:xfrm>
            <a:off x="1016000" y="4826000"/>
            <a:ext cx="7620000" cy="444500"/>
          </a:xfrm>
          <a:prstGeom prst="rect">
            <a:avLst/>
          </a:prstGeom>
          <a:noFill/>
          <a:ln/>
        </p:spPr>
        <p:txBody>
          <a:bodyPr wrap="none" lIns="0" tIns="0" rIns="0" bIns="0" rtlCol="0" anchor="ctr"/>
          <a:lstStyle/>
          <a:p>
            <a:pPr>
              <a:lnSpc>
                <a:spcPct val="10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The anatomy of phishing attacks and why they matter</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599954" y="571500"/>
            <a:ext cx="8890000" cy="508000"/>
          </a:xfrm>
          <a:prstGeom prst="rect">
            <a:avLst/>
          </a:prstGeom>
          <a:noFill/>
          <a:ln/>
        </p:spPr>
        <p:txBody>
          <a:bodyPr wrap="none" lIns="0" tIns="0" rIns="0" bIns="0" rtlCol="0" anchor="ctr"/>
          <a:lstStyle/>
          <a:p>
            <a:pPr>
              <a:lnSpc>
                <a:spcPct val="130000"/>
              </a:lnSpc>
            </a:pPr>
            <a:r>
              <a:rPr lang="en-US" sz="3200" dirty="0">
                <a:solidFill>
                  <a:srgbClr val="1B263B"/>
                </a:solidFill>
                <a:latin typeface="Liter" pitchFamily="34" charset="0"/>
                <a:ea typeface="Liter" pitchFamily="34" charset="-122"/>
                <a:cs typeface="Liter" pitchFamily="34" charset="-120"/>
              </a:rPr>
              <a:t>What Is Phishing?</a:t>
            </a:r>
            <a:endParaRPr lang="en-US" sz="3200" dirty="0"/>
          </a:p>
        </p:txBody>
      </p:sp>
      <p:sp>
        <p:nvSpPr>
          <p:cNvPr id="3" name="Shape 1"/>
          <p:cNvSpPr/>
          <p:nvPr/>
        </p:nvSpPr>
        <p:spPr>
          <a:xfrm>
            <a:off x="762000" y="1143000"/>
            <a:ext cx="762000" cy="38100"/>
          </a:xfrm>
          <a:prstGeom prst="rect">
            <a:avLst/>
          </a:prstGeom>
          <a:solidFill>
            <a:srgbClr val="E85D04"/>
          </a:solidFill>
          <a:ln/>
        </p:spPr>
      </p:sp>
      <p:sp>
        <p:nvSpPr>
          <p:cNvPr id="4" name="Text 2"/>
          <p:cNvSpPr/>
          <p:nvPr/>
        </p:nvSpPr>
        <p:spPr>
          <a:xfrm>
            <a:off x="599954" y="1289050"/>
            <a:ext cx="8890000" cy="1397000"/>
          </a:xfrm>
          <a:prstGeom prst="rect">
            <a:avLst/>
          </a:prstGeom>
          <a:noFill/>
          <a:ln/>
        </p:spPr>
        <p:txBody>
          <a:bodyPr wrap="square" lIns="0" tIns="0" rIns="0" bIns="0" rtlCol="0" anchor="t"/>
          <a:lstStyle/>
          <a:p>
            <a:pPr>
              <a:lnSpc>
                <a:spcPct val="160000"/>
              </a:lnSpc>
            </a:pPr>
            <a:r>
              <a:rPr lang="en-US" sz="2000" dirty="0">
                <a:solidFill>
                  <a:srgbClr val="1A1A2E"/>
                </a:solidFill>
                <a:latin typeface="QuattrocentoSans" pitchFamily="34" charset="0"/>
                <a:ea typeface="QuattrocentoSans" pitchFamily="34" charset="-122"/>
                <a:cs typeface="QuattrocentoSans" pitchFamily="34" charset="-120"/>
              </a:rPr>
              <a:t>Phishing is a </a:t>
            </a:r>
            <a:r>
              <a:rPr lang="en-US" sz="2000" b="1" dirty="0">
                <a:solidFill>
                  <a:srgbClr val="1A1A2E"/>
                </a:solidFill>
                <a:latin typeface="QuattrocentoSans" pitchFamily="34" charset="0"/>
                <a:ea typeface="QuattrocentoSans" pitchFamily="34" charset="-122"/>
                <a:cs typeface="QuattrocentoSans" pitchFamily="34" charset="-120"/>
              </a:rPr>
              <a:t>cyberattack</a:t>
            </a:r>
            <a:r>
              <a:rPr lang="en-US" sz="2000" dirty="0">
                <a:solidFill>
                  <a:srgbClr val="1A1A2E"/>
                </a:solidFill>
                <a:latin typeface="QuattrocentoSans" pitchFamily="34" charset="0"/>
                <a:ea typeface="QuattrocentoSans" pitchFamily="34" charset="-122"/>
                <a:cs typeface="QuattrocentoSans" pitchFamily="34" charset="-120"/>
              </a:rPr>
              <a:t> where attackers impersonate trusted entities to steal sensitive information such as passwords, credit card numbers, or personal data.</a:t>
            </a:r>
            <a:endParaRPr lang="en-US" sz="2000" dirty="0"/>
          </a:p>
        </p:txBody>
      </p:sp>
      <p:sp>
        <p:nvSpPr>
          <p:cNvPr id="5" name="Text 3"/>
          <p:cNvSpPr/>
          <p:nvPr/>
        </p:nvSpPr>
        <p:spPr>
          <a:xfrm>
            <a:off x="762000" y="3048000"/>
            <a:ext cx="5080000" cy="406400"/>
          </a:xfrm>
          <a:prstGeom prst="rect">
            <a:avLst/>
          </a:prstGeom>
          <a:noFill/>
          <a:ln/>
        </p:spPr>
        <p:txBody>
          <a:bodyPr wrap="none" lIns="0" tIns="0" rIns="0" bIns="0" rtlCol="0" anchor="ctr"/>
          <a:lstStyle/>
          <a:p>
            <a:pPr>
              <a:lnSpc>
                <a:spcPct val="130000"/>
              </a:lnSpc>
            </a:pPr>
            <a:r>
              <a:rPr lang="en-US" sz="2000" dirty="0">
                <a:solidFill>
                  <a:srgbClr val="1B263B"/>
                </a:solidFill>
                <a:latin typeface="Liter" pitchFamily="34" charset="0"/>
                <a:ea typeface="Liter" pitchFamily="34" charset="-122"/>
                <a:cs typeface="Liter" pitchFamily="34" charset="-120"/>
              </a:rPr>
              <a:t>Common Attack Channels</a:t>
            </a:r>
            <a:endParaRPr lang="en-US" sz="2000" dirty="0"/>
          </a:p>
        </p:txBody>
      </p:sp>
      <p:sp>
        <p:nvSpPr>
          <p:cNvPr id="6" name="Shape 4"/>
          <p:cNvSpPr/>
          <p:nvPr/>
        </p:nvSpPr>
        <p:spPr>
          <a:xfrm>
            <a:off x="762000" y="3683000"/>
            <a:ext cx="355600" cy="355600"/>
          </a:xfrm>
          <a:custGeom>
            <a:avLst/>
            <a:gdLst/>
            <a:ahLst/>
            <a:cxnLst/>
            <a:rect l="l" t="t" r="r" b="b"/>
            <a:pathLst>
              <a:path w="355600" h="355600">
                <a:moveTo>
                  <a:pt x="33337" y="44450"/>
                </a:moveTo>
                <a:cubicBezTo>
                  <a:pt x="14932" y="44450"/>
                  <a:pt x="0" y="59382"/>
                  <a:pt x="0" y="77788"/>
                </a:cubicBezTo>
                <a:cubicBezTo>
                  <a:pt x="0" y="88275"/>
                  <a:pt x="4931" y="98137"/>
                  <a:pt x="13335" y="104458"/>
                </a:cubicBezTo>
                <a:lnTo>
                  <a:pt x="157798" y="212804"/>
                </a:lnTo>
                <a:cubicBezTo>
                  <a:pt x="169674" y="221694"/>
                  <a:pt x="185926" y="221694"/>
                  <a:pt x="197803" y="212804"/>
                </a:cubicBezTo>
                <a:lnTo>
                  <a:pt x="342265" y="104457"/>
                </a:lnTo>
                <a:cubicBezTo>
                  <a:pt x="350669" y="98137"/>
                  <a:pt x="355600" y="88275"/>
                  <a:pt x="355600" y="77787"/>
                </a:cubicBezTo>
                <a:cubicBezTo>
                  <a:pt x="355600" y="59382"/>
                  <a:pt x="340668" y="44450"/>
                  <a:pt x="322263" y="44450"/>
                </a:cubicBezTo>
                <a:lnTo>
                  <a:pt x="33337" y="44450"/>
                </a:lnTo>
                <a:close/>
                <a:moveTo>
                  <a:pt x="0" y="136128"/>
                </a:moveTo>
                <a:lnTo>
                  <a:pt x="0" y="266700"/>
                </a:lnTo>
                <a:cubicBezTo>
                  <a:pt x="0" y="291217"/>
                  <a:pt x="19933" y="311150"/>
                  <a:pt x="44450" y="311150"/>
                </a:cubicBezTo>
                <a:lnTo>
                  <a:pt x="311150" y="311150"/>
                </a:lnTo>
                <a:cubicBezTo>
                  <a:pt x="335667" y="311150"/>
                  <a:pt x="355600" y="291217"/>
                  <a:pt x="355600" y="266700"/>
                </a:cubicBezTo>
                <a:lnTo>
                  <a:pt x="355600" y="136128"/>
                </a:lnTo>
                <a:lnTo>
                  <a:pt x="217805" y="239474"/>
                </a:lnTo>
                <a:cubicBezTo>
                  <a:pt x="194121" y="257254"/>
                  <a:pt x="161479" y="257254"/>
                  <a:pt x="137795" y="239474"/>
                </a:cubicBezTo>
                <a:lnTo>
                  <a:pt x="0" y="136128"/>
                </a:lnTo>
                <a:close/>
              </a:path>
            </a:pathLst>
          </a:custGeom>
          <a:solidFill>
            <a:srgbClr val="E85D04"/>
          </a:solidFill>
          <a:ln/>
        </p:spPr>
      </p:sp>
      <p:sp>
        <p:nvSpPr>
          <p:cNvPr id="7" name="Text 5"/>
          <p:cNvSpPr/>
          <p:nvPr/>
        </p:nvSpPr>
        <p:spPr>
          <a:xfrm>
            <a:off x="1269999" y="3619500"/>
            <a:ext cx="5211823" cy="1079500"/>
          </a:xfrm>
          <a:prstGeom prst="rect">
            <a:avLst/>
          </a:prstGeom>
          <a:noFill/>
          <a:ln/>
        </p:spPr>
        <p:txBody>
          <a:bodyPr wrap="square" lIns="0" tIns="0" rIns="0" bIns="0" rtlCol="0" anchor="t"/>
          <a:lstStyle/>
          <a:p>
            <a:pPr>
              <a:lnSpc>
                <a:spcPct val="140000"/>
              </a:lnSpc>
            </a:pPr>
            <a:r>
              <a:rPr lang="en-US" sz="2000" b="1" dirty="0">
                <a:solidFill>
                  <a:srgbClr val="1A1A2E"/>
                </a:solidFill>
                <a:latin typeface="Quattrocento Sans" pitchFamily="34" charset="0"/>
                <a:ea typeface="Quattrocento Sans" pitchFamily="34" charset="-122"/>
                <a:cs typeface="Quattrocento Sans" pitchFamily="34" charset="-120"/>
              </a:rPr>
              <a:t>Email Phishing</a:t>
            </a:r>
            <a:endParaRPr lang="en-US" sz="2000" dirty="0"/>
          </a:p>
          <a:p>
            <a:pPr>
              <a:lnSpc>
                <a:spcPct val="140000"/>
              </a:lnSpc>
            </a:pPr>
            <a:r>
              <a:rPr lang="en-US" sz="2000" dirty="0">
                <a:solidFill>
                  <a:srgbClr val="1A1A2E"/>
                </a:solidFill>
                <a:latin typeface="Quattrocento Sans" pitchFamily="34" charset="0"/>
                <a:ea typeface="Quattrocento Sans" pitchFamily="34" charset="-122"/>
                <a:cs typeface="Quattrocento Sans" pitchFamily="34" charset="-120"/>
              </a:rPr>
              <a:t>Deceptive messages with malicious links</a:t>
            </a:r>
            <a:endParaRPr lang="en-US" sz="2000" dirty="0"/>
          </a:p>
        </p:txBody>
      </p:sp>
      <p:sp>
        <p:nvSpPr>
          <p:cNvPr id="8" name="Shape 6"/>
          <p:cNvSpPr/>
          <p:nvPr/>
        </p:nvSpPr>
        <p:spPr>
          <a:xfrm>
            <a:off x="762000" y="4889500"/>
            <a:ext cx="355600" cy="355600"/>
          </a:xfrm>
          <a:custGeom>
            <a:avLst/>
            <a:gdLst/>
            <a:ahLst/>
            <a:cxnLst/>
            <a:rect l="l" t="t" r="r" b="b"/>
            <a:pathLst>
              <a:path w="355600" h="355600">
                <a:moveTo>
                  <a:pt x="111264" y="17363"/>
                </a:moveTo>
                <a:cubicBezTo>
                  <a:pt x="105777" y="4237"/>
                  <a:pt x="91470" y="-2709"/>
                  <a:pt x="77857" y="972"/>
                </a:cubicBezTo>
                <a:lnTo>
                  <a:pt x="74037" y="2014"/>
                </a:lnTo>
                <a:cubicBezTo>
                  <a:pt x="29170" y="14238"/>
                  <a:pt x="-9168" y="57716"/>
                  <a:pt x="2014" y="110639"/>
                </a:cubicBezTo>
                <a:cubicBezTo>
                  <a:pt x="27781" y="232182"/>
                  <a:pt x="123418" y="327819"/>
                  <a:pt x="244961" y="353586"/>
                </a:cubicBezTo>
                <a:cubicBezTo>
                  <a:pt x="297954" y="364837"/>
                  <a:pt x="341362" y="326430"/>
                  <a:pt x="353586" y="281563"/>
                </a:cubicBezTo>
                <a:lnTo>
                  <a:pt x="354628" y="277743"/>
                </a:lnTo>
                <a:cubicBezTo>
                  <a:pt x="358378" y="264061"/>
                  <a:pt x="351363" y="249753"/>
                  <a:pt x="338306" y="244336"/>
                </a:cubicBezTo>
                <a:lnTo>
                  <a:pt x="270728" y="216208"/>
                </a:lnTo>
                <a:cubicBezTo>
                  <a:pt x="259269" y="211415"/>
                  <a:pt x="246003" y="214749"/>
                  <a:pt x="238085" y="224403"/>
                </a:cubicBezTo>
                <a:lnTo>
                  <a:pt x="211276" y="257185"/>
                </a:lnTo>
                <a:cubicBezTo>
                  <a:pt x="162451" y="232946"/>
                  <a:pt x="123140" y="192385"/>
                  <a:pt x="100568" y="142587"/>
                </a:cubicBezTo>
                <a:lnTo>
                  <a:pt x="131266" y="117584"/>
                </a:lnTo>
                <a:cubicBezTo>
                  <a:pt x="140920" y="109736"/>
                  <a:pt x="144185" y="96470"/>
                  <a:pt x="139462" y="84941"/>
                </a:cubicBezTo>
                <a:lnTo>
                  <a:pt x="111264" y="17363"/>
                </a:lnTo>
                <a:close/>
              </a:path>
            </a:pathLst>
          </a:custGeom>
          <a:solidFill>
            <a:srgbClr val="E85D04"/>
          </a:solidFill>
          <a:ln/>
        </p:spPr>
      </p:sp>
      <p:sp>
        <p:nvSpPr>
          <p:cNvPr id="9" name="Text 7"/>
          <p:cNvSpPr/>
          <p:nvPr/>
        </p:nvSpPr>
        <p:spPr>
          <a:xfrm>
            <a:off x="1270000" y="4826000"/>
            <a:ext cx="4927600" cy="952500"/>
          </a:xfrm>
          <a:prstGeom prst="rect">
            <a:avLst/>
          </a:prstGeom>
          <a:noFill/>
          <a:ln/>
        </p:spPr>
        <p:txBody>
          <a:bodyPr wrap="square" lIns="0" tIns="0" rIns="0" bIns="0" rtlCol="0" anchor="t"/>
          <a:lstStyle/>
          <a:p>
            <a:pPr>
              <a:lnSpc>
                <a:spcPct val="140000"/>
              </a:lnSpc>
            </a:pPr>
            <a:r>
              <a:rPr lang="en-US" sz="2000" b="1" dirty="0">
                <a:solidFill>
                  <a:srgbClr val="1A1A2E"/>
                </a:solidFill>
                <a:latin typeface="Quattrocento Sans" pitchFamily="34" charset="0"/>
                <a:ea typeface="Quattrocento Sans" pitchFamily="34" charset="-122"/>
                <a:cs typeface="Quattrocento Sans" pitchFamily="34" charset="-120"/>
              </a:rPr>
              <a:t>Vishing</a:t>
            </a:r>
            <a:endParaRPr lang="en-US" sz="2000" dirty="0"/>
          </a:p>
          <a:p>
            <a:pPr>
              <a:lnSpc>
                <a:spcPct val="140000"/>
              </a:lnSpc>
            </a:pPr>
            <a:r>
              <a:rPr lang="en-US" sz="2000" dirty="0">
                <a:solidFill>
                  <a:srgbClr val="1A1A2E"/>
                </a:solidFill>
                <a:latin typeface="Quattrocento Sans" pitchFamily="34" charset="0"/>
                <a:ea typeface="Quattrocento Sans" pitchFamily="34" charset="-122"/>
                <a:cs typeface="Quattrocento Sans" pitchFamily="34" charset="-120"/>
              </a:rPr>
              <a:t>Voice calls impersonating trusted callers</a:t>
            </a:r>
            <a:endParaRPr lang="en-US" sz="2000" dirty="0"/>
          </a:p>
        </p:txBody>
      </p:sp>
      <p:sp>
        <p:nvSpPr>
          <p:cNvPr id="10" name="Shape 8"/>
          <p:cNvSpPr/>
          <p:nvPr/>
        </p:nvSpPr>
        <p:spPr>
          <a:xfrm>
            <a:off x="762000" y="5969000"/>
            <a:ext cx="355600" cy="355600"/>
          </a:xfrm>
          <a:custGeom>
            <a:avLst/>
            <a:gdLst/>
            <a:ahLst/>
            <a:cxnLst/>
            <a:rect l="l" t="t" r="r" b="b"/>
            <a:pathLst>
              <a:path w="355600" h="355600">
                <a:moveTo>
                  <a:pt x="177800" y="333375"/>
                </a:moveTo>
                <a:cubicBezTo>
                  <a:pt x="276007" y="333375"/>
                  <a:pt x="355600" y="258713"/>
                  <a:pt x="355600" y="166688"/>
                </a:cubicBezTo>
                <a:cubicBezTo>
                  <a:pt x="355600" y="74662"/>
                  <a:pt x="276007" y="0"/>
                  <a:pt x="177800" y="0"/>
                </a:cubicBezTo>
                <a:cubicBezTo>
                  <a:pt x="79593" y="0"/>
                  <a:pt x="0" y="74662"/>
                  <a:pt x="0" y="166688"/>
                </a:cubicBezTo>
                <a:cubicBezTo>
                  <a:pt x="0" y="204401"/>
                  <a:pt x="13335" y="239127"/>
                  <a:pt x="35838" y="267047"/>
                </a:cubicBezTo>
                <a:lnTo>
                  <a:pt x="1945" y="331153"/>
                </a:lnTo>
                <a:cubicBezTo>
                  <a:pt x="-1389" y="337403"/>
                  <a:pt x="-347" y="345043"/>
                  <a:pt x="4445" y="350252"/>
                </a:cubicBezTo>
                <a:cubicBezTo>
                  <a:pt x="9237" y="355461"/>
                  <a:pt x="16808" y="357059"/>
                  <a:pt x="23267" y="354280"/>
                </a:cubicBezTo>
                <a:lnTo>
                  <a:pt x="105499" y="319068"/>
                </a:lnTo>
                <a:cubicBezTo>
                  <a:pt x="127585" y="328235"/>
                  <a:pt x="152033" y="333375"/>
                  <a:pt x="177800" y="333375"/>
                </a:cubicBezTo>
                <a:close/>
                <a:moveTo>
                  <a:pt x="97790" y="120015"/>
                </a:moveTo>
                <a:lnTo>
                  <a:pt x="111125" y="120015"/>
                </a:lnTo>
                <a:cubicBezTo>
                  <a:pt x="117237" y="120015"/>
                  <a:pt x="122238" y="125016"/>
                  <a:pt x="122238" y="131128"/>
                </a:cubicBezTo>
                <a:cubicBezTo>
                  <a:pt x="122238" y="137239"/>
                  <a:pt x="117237" y="142240"/>
                  <a:pt x="111125" y="142240"/>
                </a:cubicBezTo>
                <a:lnTo>
                  <a:pt x="97790" y="142240"/>
                </a:lnTo>
                <a:cubicBezTo>
                  <a:pt x="94109" y="142240"/>
                  <a:pt x="91123" y="145226"/>
                  <a:pt x="91123" y="148908"/>
                </a:cubicBezTo>
                <a:cubicBezTo>
                  <a:pt x="91123" y="152589"/>
                  <a:pt x="94109" y="155575"/>
                  <a:pt x="97790" y="155575"/>
                </a:cubicBezTo>
                <a:cubicBezTo>
                  <a:pt x="113764" y="155575"/>
                  <a:pt x="126683" y="168493"/>
                  <a:pt x="126683" y="184468"/>
                </a:cubicBezTo>
                <a:cubicBezTo>
                  <a:pt x="126683" y="200442"/>
                  <a:pt x="113764" y="213360"/>
                  <a:pt x="97790" y="213360"/>
                </a:cubicBezTo>
                <a:lnTo>
                  <a:pt x="80010" y="213360"/>
                </a:lnTo>
                <a:cubicBezTo>
                  <a:pt x="73898" y="213360"/>
                  <a:pt x="68898" y="208359"/>
                  <a:pt x="68898" y="202248"/>
                </a:cubicBezTo>
                <a:cubicBezTo>
                  <a:pt x="68898" y="196136"/>
                  <a:pt x="73898" y="191135"/>
                  <a:pt x="80010" y="191135"/>
                </a:cubicBezTo>
                <a:lnTo>
                  <a:pt x="97790" y="191135"/>
                </a:lnTo>
                <a:cubicBezTo>
                  <a:pt x="101471" y="191135"/>
                  <a:pt x="104458" y="188149"/>
                  <a:pt x="104458" y="184468"/>
                </a:cubicBezTo>
                <a:cubicBezTo>
                  <a:pt x="104458" y="180786"/>
                  <a:pt x="101471" y="177800"/>
                  <a:pt x="97790" y="177800"/>
                </a:cubicBezTo>
                <a:cubicBezTo>
                  <a:pt x="81816" y="177800"/>
                  <a:pt x="68898" y="164882"/>
                  <a:pt x="68898" y="148908"/>
                </a:cubicBezTo>
                <a:cubicBezTo>
                  <a:pt x="68898" y="132933"/>
                  <a:pt x="81816" y="120015"/>
                  <a:pt x="97790" y="120015"/>
                </a:cubicBezTo>
                <a:close/>
                <a:moveTo>
                  <a:pt x="228918" y="148908"/>
                </a:moveTo>
                <a:cubicBezTo>
                  <a:pt x="228918" y="132933"/>
                  <a:pt x="241836" y="120015"/>
                  <a:pt x="257810" y="120015"/>
                </a:cubicBezTo>
                <a:lnTo>
                  <a:pt x="271145" y="120015"/>
                </a:lnTo>
                <a:cubicBezTo>
                  <a:pt x="277257" y="120015"/>
                  <a:pt x="282258" y="125016"/>
                  <a:pt x="282258" y="131128"/>
                </a:cubicBezTo>
                <a:cubicBezTo>
                  <a:pt x="282258" y="137239"/>
                  <a:pt x="277257" y="142240"/>
                  <a:pt x="271145" y="142240"/>
                </a:cubicBezTo>
                <a:lnTo>
                  <a:pt x="257810" y="142240"/>
                </a:lnTo>
                <a:cubicBezTo>
                  <a:pt x="254129" y="142240"/>
                  <a:pt x="251142" y="145226"/>
                  <a:pt x="251142" y="148908"/>
                </a:cubicBezTo>
                <a:cubicBezTo>
                  <a:pt x="251142" y="152589"/>
                  <a:pt x="254129" y="155575"/>
                  <a:pt x="257810" y="155575"/>
                </a:cubicBezTo>
                <a:cubicBezTo>
                  <a:pt x="273784" y="155575"/>
                  <a:pt x="286703" y="168493"/>
                  <a:pt x="286703" y="184468"/>
                </a:cubicBezTo>
                <a:cubicBezTo>
                  <a:pt x="286703" y="200442"/>
                  <a:pt x="273784" y="213360"/>
                  <a:pt x="257810" y="213360"/>
                </a:cubicBezTo>
                <a:lnTo>
                  <a:pt x="240030" y="213360"/>
                </a:lnTo>
                <a:cubicBezTo>
                  <a:pt x="233918" y="213360"/>
                  <a:pt x="228918" y="208359"/>
                  <a:pt x="228918" y="202248"/>
                </a:cubicBezTo>
                <a:cubicBezTo>
                  <a:pt x="228918" y="196136"/>
                  <a:pt x="233918" y="191135"/>
                  <a:pt x="240030" y="191135"/>
                </a:cubicBezTo>
                <a:lnTo>
                  <a:pt x="257810" y="191135"/>
                </a:lnTo>
                <a:cubicBezTo>
                  <a:pt x="261491" y="191135"/>
                  <a:pt x="264478" y="188149"/>
                  <a:pt x="264478" y="184468"/>
                </a:cubicBezTo>
                <a:cubicBezTo>
                  <a:pt x="264478" y="180786"/>
                  <a:pt x="261491" y="177800"/>
                  <a:pt x="257810" y="177800"/>
                </a:cubicBezTo>
                <a:cubicBezTo>
                  <a:pt x="241836" y="177800"/>
                  <a:pt x="228918" y="164882"/>
                  <a:pt x="228918" y="148908"/>
                </a:cubicBezTo>
                <a:close/>
                <a:moveTo>
                  <a:pt x="160645" y="125432"/>
                </a:moveTo>
                <a:lnTo>
                  <a:pt x="177800" y="153978"/>
                </a:lnTo>
                <a:lnTo>
                  <a:pt x="194955" y="125432"/>
                </a:lnTo>
                <a:cubicBezTo>
                  <a:pt x="197525" y="121126"/>
                  <a:pt x="202664" y="119112"/>
                  <a:pt x="207456" y="120432"/>
                </a:cubicBezTo>
                <a:cubicBezTo>
                  <a:pt x="212249" y="121751"/>
                  <a:pt x="215583" y="126127"/>
                  <a:pt x="215583" y="131128"/>
                </a:cubicBezTo>
                <a:lnTo>
                  <a:pt x="215583" y="202248"/>
                </a:lnTo>
                <a:cubicBezTo>
                  <a:pt x="215583" y="208359"/>
                  <a:pt x="210582" y="213360"/>
                  <a:pt x="204470" y="213360"/>
                </a:cubicBezTo>
                <a:cubicBezTo>
                  <a:pt x="198358" y="213360"/>
                  <a:pt x="193357" y="208359"/>
                  <a:pt x="193357" y="202248"/>
                </a:cubicBezTo>
                <a:lnTo>
                  <a:pt x="193357" y="171271"/>
                </a:lnTo>
                <a:lnTo>
                  <a:pt x="187315" y="181342"/>
                </a:lnTo>
                <a:cubicBezTo>
                  <a:pt x="185301" y="184676"/>
                  <a:pt x="181689" y="186759"/>
                  <a:pt x="177800" y="186759"/>
                </a:cubicBezTo>
                <a:cubicBezTo>
                  <a:pt x="173911" y="186759"/>
                  <a:pt x="170299" y="184676"/>
                  <a:pt x="168285" y="181342"/>
                </a:cubicBezTo>
                <a:lnTo>
                  <a:pt x="162243" y="171271"/>
                </a:lnTo>
                <a:lnTo>
                  <a:pt x="162243" y="202248"/>
                </a:lnTo>
                <a:cubicBezTo>
                  <a:pt x="162243" y="208359"/>
                  <a:pt x="157242" y="213360"/>
                  <a:pt x="151130" y="213360"/>
                </a:cubicBezTo>
                <a:cubicBezTo>
                  <a:pt x="145018" y="213360"/>
                  <a:pt x="140018" y="208359"/>
                  <a:pt x="140018" y="202248"/>
                </a:cubicBezTo>
                <a:lnTo>
                  <a:pt x="140018" y="131128"/>
                </a:lnTo>
                <a:cubicBezTo>
                  <a:pt x="140018" y="126127"/>
                  <a:pt x="143351" y="121751"/>
                  <a:pt x="148144" y="120432"/>
                </a:cubicBezTo>
                <a:cubicBezTo>
                  <a:pt x="152936" y="119112"/>
                  <a:pt x="158075" y="121126"/>
                  <a:pt x="160645" y="125432"/>
                </a:cubicBezTo>
                <a:close/>
              </a:path>
            </a:pathLst>
          </a:custGeom>
          <a:solidFill>
            <a:srgbClr val="E85D04"/>
          </a:solidFill>
          <a:ln/>
        </p:spPr>
      </p:sp>
      <p:sp>
        <p:nvSpPr>
          <p:cNvPr id="11" name="Text 9"/>
          <p:cNvSpPr/>
          <p:nvPr/>
        </p:nvSpPr>
        <p:spPr>
          <a:xfrm>
            <a:off x="1269999" y="5905500"/>
            <a:ext cx="5333999" cy="1079500"/>
          </a:xfrm>
          <a:prstGeom prst="rect">
            <a:avLst/>
          </a:prstGeom>
          <a:noFill/>
          <a:ln/>
        </p:spPr>
        <p:txBody>
          <a:bodyPr wrap="square" lIns="0" tIns="0" rIns="0" bIns="0" rtlCol="0" anchor="t"/>
          <a:lstStyle/>
          <a:p>
            <a:pPr>
              <a:lnSpc>
                <a:spcPct val="140000"/>
              </a:lnSpc>
            </a:pPr>
            <a:r>
              <a:rPr lang="en-US" sz="2000" b="1" dirty="0">
                <a:solidFill>
                  <a:srgbClr val="1A1A2E"/>
                </a:solidFill>
                <a:latin typeface="Quattrocento Sans" pitchFamily="34" charset="0"/>
                <a:ea typeface="Quattrocento Sans" pitchFamily="34" charset="-122"/>
                <a:cs typeface="Quattrocento Sans" pitchFamily="34" charset="-120"/>
              </a:rPr>
              <a:t>Smishing</a:t>
            </a:r>
            <a:endParaRPr lang="en-US" sz="2000" dirty="0"/>
          </a:p>
          <a:p>
            <a:pPr>
              <a:lnSpc>
                <a:spcPct val="140000"/>
              </a:lnSpc>
            </a:pPr>
            <a:r>
              <a:rPr lang="en-US" sz="2000" dirty="0">
                <a:solidFill>
                  <a:srgbClr val="1A1A2E"/>
                </a:solidFill>
                <a:latin typeface="Quattrocento Sans" pitchFamily="34" charset="0"/>
                <a:ea typeface="Quattrocento Sans" pitchFamily="34" charset="-122"/>
                <a:cs typeface="Quattrocento Sans" pitchFamily="34" charset="-120"/>
              </a:rPr>
              <a:t>Fraudulent text messages with malicious links</a:t>
            </a:r>
            <a:endParaRPr lang="en-US" sz="2000" dirty="0"/>
          </a:p>
        </p:txBody>
      </p:sp>
      <p:sp>
        <p:nvSpPr>
          <p:cNvPr id="12" name="Shape 10"/>
          <p:cNvSpPr/>
          <p:nvPr/>
        </p:nvSpPr>
        <p:spPr>
          <a:xfrm>
            <a:off x="784225" y="7175500"/>
            <a:ext cx="311150" cy="355600"/>
          </a:xfrm>
          <a:custGeom>
            <a:avLst/>
            <a:gdLst/>
            <a:ahLst/>
            <a:cxnLst/>
            <a:rect l="l" t="t" r="r" b="b"/>
            <a:pathLst>
              <a:path w="311150" h="355600">
                <a:moveTo>
                  <a:pt x="44450" y="111125"/>
                </a:moveTo>
                <a:lnTo>
                  <a:pt x="88900" y="111125"/>
                </a:lnTo>
                <a:lnTo>
                  <a:pt x="88900" y="66675"/>
                </a:lnTo>
                <a:lnTo>
                  <a:pt x="44450" y="66675"/>
                </a:lnTo>
                <a:lnTo>
                  <a:pt x="44450" y="111125"/>
                </a:lnTo>
                <a:close/>
                <a:moveTo>
                  <a:pt x="0" y="55563"/>
                </a:moveTo>
                <a:cubicBezTo>
                  <a:pt x="0" y="37157"/>
                  <a:pt x="14932" y="22225"/>
                  <a:pt x="33337" y="22225"/>
                </a:cubicBezTo>
                <a:lnTo>
                  <a:pt x="100013" y="22225"/>
                </a:lnTo>
                <a:cubicBezTo>
                  <a:pt x="118418" y="22225"/>
                  <a:pt x="133350" y="37157"/>
                  <a:pt x="133350" y="55563"/>
                </a:cubicBezTo>
                <a:lnTo>
                  <a:pt x="133350" y="122238"/>
                </a:lnTo>
                <a:cubicBezTo>
                  <a:pt x="133350" y="140643"/>
                  <a:pt x="118418" y="155575"/>
                  <a:pt x="100013" y="155575"/>
                </a:cubicBezTo>
                <a:lnTo>
                  <a:pt x="33337" y="155575"/>
                </a:lnTo>
                <a:cubicBezTo>
                  <a:pt x="14932" y="155575"/>
                  <a:pt x="0" y="140643"/>
                  <a:pt x="0" y="122238"/>
                </a:cubicBezTo>
                <a:lnTo>
                  <a:pt x="0" y="55563"/>
                </a:lnTo>
                <a:close/>
                <a:moveTo>
                  <a:pt x="44450" y="288925"/>
                </a:moveTo>
                <a:lnTo>
                  <a:pt x="88900" y="288925"/>
                </a:lnTo>
                <a:lnTo>
                  <a:pt x="88900" y="244475"/>
                </a:lnTo>
                <a:lnTo>
                  <a:pt x="44450" y="244475"/>
                </a:lnTo>
                <a:lnTo>
                  <a:pt x="44450" y="288925"/>
                </a:lnTo>
                <a:close/>
                <a:moveTo>
                  <a:pt x="0" y="233363"/>
                </a:moveTo>
                <a:cubicBezTo>
                  <a:pt x="0" y="214957"/>
                  <a:pt x="14932" y="200025"/>
                  <a:pt x="33337" y="200025"/>
                </a:cubicBezTo>
                <a:lnTo>
                  <a:pt x="100013" y="200025"/>
                </a:lnTo>
                <a:cubicBezTo>
                  <a:pt x="118418" y="200025"/>
                  <a:pt x="133350" y="214957"/>
                  <a:pt x="133350" y="233363"/>
                </a:cubicBezTo>
                <a:lnTo>
                  <a:pt x="133350" y="300038"/>
                </a:lnTo>
                <a:cubicBezTo>
                  <a:pt x="133350" y="318443"/>
                  <a:pt x="118418" y="333375"/>
                  <a:pt x="100013" y="333375"/>
                </a:cubicBezTo>
                <a:lnTo>
                  <a:pt x="33337" y="333375"/>
                </a:lnTo>
                <a:cubicBezTo>
                  <a:pt x="14932" y="333375"/>
                  <a:pt x="0" y="318443"/>
                  <a:pt x="0" y="300038"/>
                </a:cubicBezTo>
                <a:lnTo>
                  <a:pt x="0" y="233363"/>
                </a:lnTo>
                <a:close/>
                <a:moveTo>
                  <a:pt x="222250" y="66675"/>
                </a:moveTo>
                <a:lnTo>
                  <a:pt x="222250" y="111125"/>
                </a:lnTo>
                <a:lnTo>
                  <a:pt x="266700" y="111125"/>
                </a:lnTo>
                <a:lnTo>
                  <a:pt x="266700" y="66675"/>
                </a:lnTo>
                <a:lnTo>
                  <a:pt x="222250" y="66675"/>
                </a:lnTo>
                <a:close/>
                <a:moveTo>
                  <a:pt x="211138" y="22225"/>
                </a:moveTo>
                <a:lnTo>
                  <a:pt x="277813" y="22225"/>
                </a:lnTo>
                <a:cubicBezTo>
                  <a:pt x="296218" y="22225"/>
                  <a:pt x="311150" y="37157"/>
                  <a:pt x="311150" y="55563"/>
                </a:cubicBezTo>
                <a:lnTo>
                  <a:pt x="311150" y="122238"/>
                </a:lnTo>
                <a:cubicBezTo>
                  <a:pt x="311150" y="140643"/>
                  <a:pt x="296218" y="155575"/>
                  <a:pt x="277813" y="155575"/>
                </a:cubicBezTo>
                <a:lnTo>
                  <a:pt x="211138" y="155575"/>
                </a:lnTo>
                <a:cubicBezTo>
                  <a:pt x="192732" y="155575"/>
                  <a:pt x="177800" y="140643"/>
                  <a:pt x="177800" y="122238"/>
                </a:cubicBezTo>
                <a:lnTo>
                  <a:pt x="177800" y="55563"/>
                </a:lnTo>
                <a:cubicBezTo>
                  <a:pt x="177800" y="37157"/>
                  <a:pt x="192732" y="22225"/>
                  <a:pt x="211138" y="22225"/>
                </a:cubicBezTo>
                <a:close/>
                <a:moveTo>
                  <a:pt x="200025" y="244475"/>
                </a:moveTo>
                <a:cubicBezTo>
                  <a:pt x="187759" y="244475"/>
                  <a:pt x="177800" y="234516"/>
                  <a:pt x="177800" y="222250"/>
                </a:cubicBezTo>
                <a:cubicBezTo>
                  <a:pt x="177800" y="209984"/>
                  <a:pt x="187759" y="200025"/>
                  <a:pt x="200025" y="200025"/>
                </a:cubicBezTo>
                <a:cubicBezTo>
                  <a:pt x="212291" y="200025"/>
                  <a:pt x="222250" y="209984"/>
                  <a:pt x="222250" y="222250"/>
                </a:cubicBezTo>
                <a:cubicBezTo>
                  <a:pt x="222250" y="234516"/>
                  <a:pt x="212291" y="244475"/>
                  <a:pt x="200025" y="244475"/>
                </a:cubicBezTo>
                <a:close/>
                <a:moveTo>
                  <a:pt x="200025" y="288925"/>
                </a:moveTo>
                <a:cubicBezTo>
                  <a:pt x="212318" y="288925"/>
                  <a:pt x="222250" y="298857"/>
                  <a:pt x="222250" y="311150"/>
                </a:cubicBezTo>
                <a:cubicBezTo>
                  <a:pt x="222250" y="323443"/>
                  <a:pt x="212318" y="333375"/>
                  <a:pt x="200025" y="333375"/>
                </a:cubicBezTo>
                <a:cubicBezTo>
                  <a:pt x="187732" y="333375"/>
                  <a:pt x="177800" y="323443"/>
                  <a:pt x="177800" y="311150"/>
                </a:cubicBezTo>
                <a:cubicBezTo>
                  <a:pt x="177800" y="298857"/>
                  <a:pt x="187732" y="288925"/>
                  <a:pt x="200025" y="288925"/>
                </a:cubicBezTo>
                <a:close/>
                <a:moveTo>
                  <a:pt x="266700" y="311150"/>
                </a:moveTo>
                <a:cubicBezTo>
                  <a:pt x="266700" y="298857"/>
                  <a:pt x="276632" y="288925"/>
                  <a:pt x="288925" y="288925"/>
                </a:cubicBezTo>
                <a:cubicBezTo>
                  <a:pt x="301218" y="288925"/>
                  <a:pt x="311150" y="298857"/>
                  <a:pt x="311150" y="311150"/>
                </a:cubicBezTo>
                <a:cubicBezTo>
                  <a:pt x="311150" y="323443"/>
                  <a:pt x="301218" y="333375"/>
                  <a:pt x="288925" y="333375"/>
                </a:cubicBezTo>
                <a:cubicBezTo>
                  <a:pt x="276632" y="333375"/>
                  <a:pt x="266700" y="323443"/>
                  <a:pt x="266700" y="311150"/>
                </a:cubicBezTo>
                <a:close/>
                <a:moveTo>
                  <a:pt x="288925" y="244475"/>
                </a:moveTo>
                <a:cubicBezTo>
                  <a:pt x="276659" y="244475"/>
                  <a:pt x="266700" y="234516"/>
                  <a:pt x="266700" y="222250"/>
                </a:cubicBezTo>
                <a:cubicBezTo>
                  <a:pt x="266700" y="209984"/>
                  <a:pt x="276659" y="200025"/>
                  <a:pt x="288925" y="200025"/>
                </a:cubicBezTo>
                <a:cubicBezTo>
                  <a:pt x="301191" y="200025"/>
                  <a:pt x="311150" y="209984"/>
                  <a:pt x="311150" y="222250"/>
                </a:cubicBezTo>
                <a:cubicBezTo>
                  <a:pt x="311150" y="234516"/>
                  <a:pt x="301191" y="244475"/>
                  <a:pt x="288925" y="244475"/>
                </a:cubicBezTo>
                <a:close/>
                <a:moveTo>
                  <a:pt x="266700" y="266700"/>
                </a:moveTo>
                <a:cubicBezTo>
                  <a:pt x="266700" y="278966"/>
                  <a:pt x="256741" y="288925"/>
                  <a:pt x="244475" y="288925"/>
                </a:cubicBezTo>
                <a:cubicBezTo>
                  <a:pt x="232209" y="288925"/>
                  <a:pt x="222250" y="278966"/>
                  <a:pt x="222250" y="266700"/>
                </a:cubicBezTo>
                <a:cubicBezTo>
                  <a:pt x="222250" y="254434"/>
                  <a:pt x="232209" y="244475"/>
                  <a:pt x="244475" y="244475"/>
                </a:cubicBezTo>
                <a:cubicBezTo>
                  <a:pt x="256741" y="244475"/>
                  <a:pt x="266700" y="254434"/>
                  <a:pt x="266700" y="266700"/>
                </a:cubicBezTo>
                <a:close/>
              </a:path>
            </a:pathLst>
          </a:custGeom>
          <a:solidFill>
            <a:srgbClr val="E85D04"/>
          </a:solidFill>
          <a:ln/>
        </p:spPr>
      </p:sp>
      <p:sp>
        <p:nvSpPr>
          <p:cNvPr id="13" name="Text 11"/>
          <p:cNvSpPr/>
          <p:nvPr/>
        </p:nvSpPr>
        <p:spPr>
          <a:xfrm>
            <a:off x="1270000" y="7112000"/>
            <a:ext cx="5333998" cy="1079500"/>
          </a:xfrm>
          <a:prstGeom prst="rect">
            <a:avLst/>
          </a:prstGeom>
          <a:noFill/>
          <a:ln/>
        </p:spPr>
        <p:txBody>
          <a:bodyPr wrap="square" lIns="0" tIns="0" rIns="0" bIns="0" rtlCol="0" anchor="t"/>
          <a:lstStyle/>
          <a:p>
            <a:pPr>
              <a:lnSpc>
                <a:spcPct val="140000"/>
              </a:lnSpc>
            </a:pPr>
            <a:r>
              <a:rPr lang="en-US" sz="2000" b="1" dirty="0">
                <a:solidFill>
                  <a:srgbClr val="1A1A2E"/>
                </a:solidFill>
                <a:latin typeface="Quattrocento Sans" pitchFamily="34" charset="0"/>
                <a:ea typeface="Quattrocento Sans" pitchFamily="34" charset="-122"/>
                <a:cs typeface="Quattrocento Sans" pitchFamily="34" charset="-120"/>
              </a:rPr>
              <a:t>QR Code Phishing</a:t>
            </a:r>
            <a:endParaRPr lang="en-US" sz="2000" dirty="0"/>
          </a:p>
          <a:p>
            <a:pPr>
              <a:lnSpc>
                <a:spcPct val="140000"/>
              </a:lnSpc>
            </a:pPr>
            <a:r>
              <a:rPr lang="en-US" sz="2000" dirty="0">
                <a:solidFill>
                  <a:srgbClr val="1A1A2E"/>
                </a:solidFill>
                <a:latin typeface="Quattrocento Sans" pitchFamily="34" charset="0"/>
                <a:ea typeface="Quattrocento Sans" pitchFamily="34" charset="-122"/>
                <a:cs typeface="Quattrocento Sans" pitchFamily="34" charset="-120"/>
              </a:rPr>
              <a:t>Malicious codes in emails and physical spaces</a:t>
            </a:r>
            <a:endParaRPr lang="en-US" sz="2000" dirty="0"/>
          </a:p>
        </p:txBody>
      </p:sp>
      <p:sp>
        <p:nvSpPr>
          <p:cNvPr id="14" name="Shape 12"/>
          <p:cNvSpPr/>
          <p:nvPr/>
        </p:nvSpPr>
        <p:spPr>
          <a:xfrm>
            <a:off x="10160000" y="1460500"/>
            <a:ext cx="5334000" cy="7048500"/>
          </a:xfrm>
          <a:prstGeom prst="roundRect">
            <a:avLst>
              <a:gd name="adj" fmla="val 8000"/>
            </a:avLst>
          </a:prstGeom>
          <a:solidFill>
            <a:srgbClr val="1B263B"/>
          </a:solidFill>
          <a:ln/>
        </p:spPr>
      </p:sp>
      <p:sp>
        <p:nvSpPr>
          <p:cNvPr id="15" name="Text 13"/>
          <p:cNvSpPr/>
          <p:nvPr/>
        </p:nvSpPr>
        <p:spPr>
          <a:xfrm>
            <a:off x="10541000" y="1714500"/>
            <a:ext cx="4572000" cy="406400"/>
          </a:xfrm>
          <a:prstGeom prst="rect">
            <a:avLst/>
          </a:prstGeom>
          <a:noFill/>
          <a:ln/>
        </p:spPr>
        <p:txBody>
          <a:bodyPr wrap="none" lIns="0" tIns="0" rIns="0" bIns="0" rtlCol="0" anchor="ctr"/>
          <a:lstStyle/>
          <a:p>
            <a:pPr>
              <a:lnSpc>
                <a:spcPct val="100000"/>
              </a:lnSpc>
            </a:pPr>
            <a:r>
              <a:rPr lang="en-US" sz="1800" dirty="0">
                <a:solidFill>
                  <a:srgbClr val="E85D04"/>
                </a:solidFill>
                <a:latin typeface="Liter" pitchFamily="34" charset="0"/>
                <a:ea typeface="Liter" pitchFamily="34" charset="-122"/>
                <a:cs typeface="Liter" pitchFamily="34" charset="-120"/>
              </a:rPr>
              <a:t>THE NUMBERS</a:t>
            </a:r>
            <a:endParaRPr lang="en-US" sz="1600" dirty="0"/>
          </a:p>
        </p:txBody>
      </p:sp>
      <p:sp>
        <p:nvSpPr>
          <p:cNvPr id="16" name="Text 14"/>
          <p:cNvSpPr/>
          <p:nvPr/>
        </p:nvSpPr>
        <p:spPr>
          <a:xfrm>
            <a:off x="10541000" y="2349500"/>
            <a:ext cx="4572000" cy="698500"/>
          </a:xfrm>
          <a:prstGeom prst="rect">
            <a:avLst/>
          </a:prstGeom>
          <a:noFill/>
          <a:ln/>
        </p:spPr>
        <p:txBody>
          <a:bodyPr wrap="none" lIns="0" tIns="0" rIns="0" bIns="0" rtlCol="0" anchor="ctr"/>
          <a:lstStyle/>
          <a:p>
            <a:pPr>
              <a:lnSpc>
                <a:spcPct val="100000"/>
              </a:lnSpc>
            </a:pPr>
            <a:r>
              <a:rPr lang="en-US" sz="4200" dirty="0">
                <a:solidFill>
                  <a:srgbClr val="FFFFFF"/>
                </a:solidFill>
                <a:latin typeface="Liter" pitchFamily="34" charset="0"/>
                <a:ea typeface="Liter" pitchFamily="34" charset="-122"/>
                <a:cs typeface="Liter" pitchFamily="34" charset="-120"/>
              </a:rPr>
              <a:t>3.4 Billion</a:t>
            </a:r>
            <a:endParaRPr lang="en-US" sz="1600" dirty="0"/>
          </a:p>
        </p:txBody>
      </p:sp>
      <p:sp>
        <p:nvSpPr>
          <p:cNvPr id="17" name="Text 15"/>
          <p:cNvSpPr/>
          <p:nvPr/>
        </p:nvSpPr>
        <p:spPr>
          <a:xfrm>
            <a:off x="10541000" y="3048000"/>
            <a:ext cx="4572000" cy="317500"/>
          </a:xfrm>
          <a:prstGeom prst="rect">
            <a:avLst/>
          </a:prstGeom>
          <a:noFill/>
          <a:ln/>
        </p:spPr>
        <p:txBody>
          <a:bodyPr wrap="none" lIns="0" tIns="0" rIns="0" bIns="0" rtlCol="0" anchor="ctr"/>
          <a:lstStyle/>
          <a:p>
            <a:pP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phishing emails sent daily</a:t>
            </a:r>
            <a:endParaRPr lang="en-US" sz="1600" dirty="0"/>
          </a:p>
        </p:txBody>
      </p:sp>
      <p:sp>
        <p:nvSpPr>
          <p:cNvPr id="18" name="Shape 16"/>
          <p:cNvSpPr/>
          <p:nvPr/>
        </p:nvSpPr>
        <p:spPr>
          <a:xfrm>
            <a:off x="10541000" y="3556000"/>
            <a:ext cx="4572000" cy="12700"/>
          </a:xfrm>
          <a:prstGeom prst="rect">
            <a:avLst/>
          </a:prstGeom>
          <a:solidFill>
            <a:srgbClr val="FFFFFF">
              <a:alpha val="20000"/>
            </a:srgbClr>
          </a:solidFill>
          <a:ln/>
        </p:spPr>
      </p:sp>
      <p:sp>
        <p:nvSpPr>
          <p:cNvPr id="19" name="Text 17"/>
          <p:cNvSpPr/>
          <p:nvPr/>
        </p:nvSpPr>
        <p:spPr>
          <a:xfrm>
            <a:off x="10541000" y="3810000"/>
            <a:ext cx="4572000" cy="698500"/>
          </a:xfrm>
          <a:prstGeom prst="rect">
            <a:avLst/>
          </a:prstGeom>
          <a:noFill/>
          <a:ln/>
        </p:spPr>
        <p:txBody>
          <a:bodyPr wrap="none" lIns="0" tIns="0" rIns="0" bIns="0" rtlCol="0" anchor="ctr"/>
          <a:lstStyle/>
          <a:p>
            <a:pPr>
              <a:lnSpc>
                <a:spcPct val="100000"/>
              </a:lnSpc>
            </a:pPr>
            <a:r>
              <a:rPr lang="en-US" sz="4200" dirty="0">
                <a:solidFill>
                  <a:srgbClr val="E85D04"/>
                </a:solidFill>
                <a:latin typeface="Liter" pitchFamily="34" charset="0"/>
                <a:ea typeface="Liter" pitchFamily="34" charset="-122"/>
                <a:cs typeface="Liter" pitchFamily="34" charset="-120"/>
              </a:rPr>
              <a:t>36%</a:t>
            </a:r>
            <a:endParaRPr lang="en-US" sz="1600" dirty="0"/>
          </a:p>
        </p:txBody>
      </p:sp>
      <p:sp>
        <p:nvSpPr>
          <p:cNvPr id="20" name="Text 18"/>
          <p:cNvSpPr/>
          <p:nvPr/>
        </p:nvSpPr>
        <p:spPr>
          <a:xfrm>
            <a:off x="10541000" y="4508500"/>
            <a:ext cx="4572000" cy="317500"/>
          </a:xfrm>
          <a:prstGeom prst="rect">
            <a:avLst/>
          </a:prstGeom>
          <a:noFill/>
          <a:ln/>
        </p:spPr>
        <p:txBody>
          <a:bodyPr wrap="none" lIns="0" tIns="0" rIns="0" bIns="0" rtlCol="0" anchor="ctr"/>
          <a:lstStyle/>
          <a:p>
            <a:pP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of data breaches involve phishing</a:t>
            </a:r>
            <a:endParaRPr lang="en-US" sz="1600" dirty="0"/>
          </a:p>
        </p:txBody>
      </p:sp>
      <p:sp>
        <p:nvSpPr>
          <p:cNvPr id="21" name="Shape 19"/>
          <p:cNvSpPr/>
          <p:nvPr/>
        </p:nvSpPr>
        <p:spPr>
          <a:xfrm>
            <a:off x="10541000" y="5016500"/>
            <a:ext cx="4572000" cy="12700"/>
          </a:xfrm>
          <a:prstGeom prst="rect">
            <a:avLst/>
          </a:prstGeom>
          <a:solidFill>
            <a:srgbClr val="FFFFFF">
              <a:alpha val="20000"/>
            </a:srgbClr>
          </a:solidFill>
          <a:ln/>
        </p:spPr>
      </p:sp>
      <p:sp>
        <p:nvSpPr>
          <p:cNvPr id="22" name="Text 20"/>
          <p:cNvSpPr/>
          <p:nvPr/>
        </p:nvSpPr>
        <p:spPr>
          <a:xfrm>
            <a:off x="10541000" y="5270500"/>
            <a:ext cx="4572000" cy="698500"/>
          </a:xfrm>
          <a:prstGeom prst="rect">
            <a:avLst/>
          </a:prstGeom>
          <a:noFill/>
          <a:ln/>
        </p:spPr>
        <p:txBody>
          <a:bodyPr wrap="none" lIns="0" tIns="0" rIns="0" bIns="0" rtlCol="0" anchor="ctr"/>
          <a:lstStyle/>
          <a:p>
            <a:pPr>
              <a:lnSpc>
                <a:spcPct val="100000"/>
              </a:lnSpc>
            </a:pPr>
            <a:r>
              <a:rPr lang="en-US" sz="4200" dirty="0">
                <a:solidFill>
                  <a:srgbClr val="FFFFFF"/>
                </a:solidFill>
                <a:latin typeface="Liter" pitchFamily="34" charset="0"/>
                <a:ea typeface="Liter" pitchFamily="34" charset="-122"/>
                <a:cs typeface="Liter" pitchFamily="34" charset="-120"/>
              </a:rPr>
              <a:t>$25 Billion</a:t>
            </a:r>
            <a:endParaRPr lang="en-US" sz="1600" dirty="0"/>
          </a:p>
        </p:txBody>
      </p:sp>
      <p:sp>
        <p:nvSpPr>
          <p:cNvPr id="23" name="Text 21"/>
          <p:cNvSpPr/>
          <p:nvPr/>
        </p:nvSpPr>
        <p:spPr>
          <a:xfrm>
            <a:off x="10541000" y="5969000"/>
            <a:ext cx="4572000" cy="317500"/>
          </a:xfrm>
          <a:prstGeom prst="rect">
            <a:avLst/>
          </a:prstGeom>
          <a:noFill/>
          <a:ln/>
        </p:spPr>
        <p:txBody>
          <a:bodyPr wrap="none" lIns="0" tIns="0" rIns="0" bIns="0" rtlCol="0" anchor="ctr"/>
          <a:lstStyle/>
          <a:p>
            <a:pP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annual global phishing losses</a:t>
            </a:r>
            <a:endParaRPr lang="en-US" sz="1600" dirty="0"/>
          </a:p>
        </p:txBody>
      </p:sp>
      <p:sp>
        <p:nvSpPr>
          <p:cNvPr id="24" name="Shape 22"/>
          <p:cNvSpPr/>
          <p:nvPr/>
        </p:nvSpPr>
        <p:spPr>
          <a:xfrm>
            <a:off x="10541000" y="6477000"/>
            <a:ext cx="4572000" cy="12700"/>
          </a:xfrm>
          <a:prstGeom prst="rect">
            <a:avLst/>
          </a:prstGeom>
          <a:solidFill>
            <a:srgbClr val="FFFFFF">
              <a:alpha val="20000"/>
            </a:srgbClr>
          </a:solidFill>
          <a:ln/>
        </p:spPr>
      </p:sp>
      <p:sp>
        <p:nvSpPr>
          <p:cNvPr id="25" name="Text 23"/>
          <p:cNvSpPr/>
          <p:nvPr/>
        </p:nvSpPr>
        <p:spPr>
          <a:xfrm>
            <a:off x="10541000" y="6731000"/>
            <a:ext cx="4572000" cy="698500"/>
          </a:xfrm>
          <a:prstGeom prst="rect">
            <a:avLst/>
          </a:prstGeom>
          <a:noFill/>
          <a:ln/>
        </p:spPr>
        <p:txBody>
          <a:bodyPr wrap="none" lIns="0" tIns="0" rIns="0" bIns="0" rtlCol="0" anchor="ctr"/>
          <a:lstStyle/>
          <a:p>
            <a:pPr>
              <a:lnSpc>
                <a:spcPct val="100000"/>
              </a:lnSpc>
            </a:pPr>
            <a:r>
              <a:rPr lang="en-US" sz="4200" dirty="0">
                <a:solidFill>
                  <a:srgbClr val="E85D04"/>
                </a:solidFill>
                <a:latin typeface="Liter" pitchFamily="34" charset="0"/>
                <a:ea typeface="Liter" pitchFamily="34" charset="-122"/>
                <a:cs typeface="Liter" pitchFamily="34" charset="-120"/>
              </a:rPr>
              <a:t>21 Seconds</a:t>
            </a:r>
            <a:endParaRPr lang="en-US" sz="1600" dirty="0"/>
          </a:p>
        </p:txBody>
      </p:sp>
      <p:sp>
        <p:nvSpPr>
          <p:cNvPr id="26" name="Text 24"/>
          <p:cNvSpPr/>
          <p:nvPr/>
        </p:nvSpPr>
        <p:spPr>
          <a:xfrm>
            <a:off x="10541000" y="7429500"/>
            <a:ext cx="4572000" cy="317500"/>
          </a:xfrm>
          <a:prstGeom prst="rect">
            <a:avLst/>
          </a:prstGeom>
          <a:noFill/>
          <a:ln/>
        </p:spPr>
        <p:txBody>
          <a:bodyPr wrap="none" lIns="0" tIns="0" rIns="0" bIns="0" rtlCol="0" anchor="ctr"/>
          <a:lstStyle/>
          <a:p>
            <a:pP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median time to click a phishing link</a:t>
            </a:r>
            <a:endParaRPr lang="en-US" sz="1600" dirty="0"/>
          </a:p>
        </p:txBody>
      </p:sp>
      <p:sp>
        <p:nvSpPr>
          <p:cNvPr id="27" name="Text 25"/>
          <p:cNvSpPr/>
          <p:nvPr/>
        </p:nvSpPr>
        <p:spPr>
          <a:xfrm>
            <a:off x="10541000" y="7937500"/>
            <a:ext cx="4572000" cy="317500"/>
          </a:xfrm>
          <a:prstGeom prst="rect">
            <a:avLst/>
          </a:prstGeom>
          <a:noFill/>
          <a:ln/>
        </p:spPr>
        <p:txBody>
          <a:bodyPr wrap="square" lIns="0" tIns="0" rIns="0" bIns="0" rtlCol="0" anchor="ctr"/>
          <a:lstStyle/>
          <a:p>
            <a:pPr>
              <a:lnSpc>
                <a:spcPct val="100000"/>
              </a:lnSpc>
            </a:pPr>
            <a:r>
              <a:rPr lang="en-US" sz="1100" dirty="0">
                <a:solidFill>
                  <a:srgbClr val="FFFFFF">
                    <a:alpha val="40000"/>
                  </a:srgbClr>
                </a:solidFill>
                <a:latin typeface="Quattrocento Sans" pitchFamily="34" charset="0"/>
                <a:ea typeface="Quattrocento Sans" pitchFamily="34" charset="-122"/>
                <a:cs typeface="Quattrocento Sans" pitchFamily="34" charset="-120"/>
              </a:rPr>
              <a:t>Sources: Verizon DBIR 2025, SentinelOne 2026</a:t>
            </a:r>
            <a:endParaRPr lang="en-US" sz="1600" dirty="0"/>
          </a:p>
        </p:txBody>
      </p:sp>
      <p:sp>
        <p:nvSpPr>
          <p:cNvPr id="28" name="Text 26"/>
          <p:cNvSpPr/>
          <p:nvPr/>
        </p:nvSpPr>
        <p:spPr>
          <a:xfrm>
            <a:off x="13462000" y="8699500"/>
            <a:ext cx="2032000" cy="254000"/>
          </a:xfrm>
          <a:prstGeom prst="rect">
            <a:avLst/>
          </a:prstGeom>
          <a:noFill/>
          <a:ln/>
        </p:spPr>
        <p:txBody>
          <a:bodyPr wrap="none" lIns="0" tIns="0" rIns="0" bIns="0" rtlCol="0" anchor="ctr"/>
          <a:lstStyle/>
          <a:p>
            <a:pPr algn="r">
              <a:lnSpc>
                <a:spcPct val="140000"/>
              </a:lnSpc>
            </a:pPr>
            <a:r>
              <a:rPr lang="en-US" sz="1400" dirty="0">
                <a:solidFill>
                  <a:srgbClr val="5C6B7A"/>
                </a:solidFill>
                <a:latin typeface="QuattrocentoSans" pitchFamily="34" charset="0"/>
                <a:ea typeface="QuattrocentoSans" pitchFamily="34" charset="-122"/>
                <a:cs typeface="QuattrocentoSans" pitchFamily="34" charset="-120"/>
              </a:rPr>
              <a:t>01 / Understanding</a:t>
            </a:r>
            <a:endParaRPr lang="en-US" sz="14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762000" y="571500"/>
            <a:ext cx="10160000" cy="508000"/>
          </a:xfrm>
          <a:prstGeom prst="rect">
            <a:avLst/>
          </a:prstGeom>
          <a:noFill/>
          <a:ln/>
        </p:spPr>
        <p:txBody>
          <a:bodyPr wrap="none" lIns="0" tIns="0" rIns="0" bIns="0" rtlCol="0" anchor="ctr"/>
          <a:lstStyle/>
          <a:p>
            <a:pPr>
              <a:lnSpc>
                <a:spcPct val="130000"/>
              </a:lnSpc>
            </a:pPr>
            <a:r>
              <a:rPr lang="en-US" sz="2800" dirty="0">
                <a:solidFill>
                  <a:srgbClr val="1B263B"/>
                </a:solidFill>
                <a:latin typeface="Liter" pitchFamily="34" charset="0"/>
                <a:ea typeface="Liter" pitchFamily="34" charset="-122"/>
                <a:cs typeface="Liter" pitchFamily="34" charset="-120"/>
              </a:rPr>
              <a:t>The Scale of the Phishing Threat</a:t>
            </a:r>
            <a:endParaRPr lang="en-US" sz="2800" dirty="0"/>
          </a:p>
        </p:txBody>
      </p:sp>
      <p:sp>
        <p:nvSpPr>
          <p:cNvPr id="3" name="Shape 1"/>
          <p:cNvSpPr/>
          <p:nvPr/>
        </p:nvSpPr>
        <p:spPr>
          <a:xfrm>
            <a:off x="762000" y="1143000"/>
            <a:ext cx="762000" cy="38100"/>
          </a:xfrm>
          <a:prstGeom prst="rect">
            <a:avLst/>
          </a:prstGeom>
          <a:solidFill>
            <a:srgbClr val="E85D04"/>
          </a:solidFill>
          <a:ln/>
        </p:spPr>
      </p:sp>
      <p:sp>
        <p:nvSpPr>
          <p:cNvPr id="4" name="Shape 2"/>
          <p:cNvSpPr/>
          <p:nvPr/>
        </p:nvSpPr>
        <p:spPr>
          <a:xfrm>
            <a:off x="762000" y="1524000"/>
            <a:ext cx="4699000" cy="2032000"/>
          </a:xfrm>
          <a:prstGeom prst="roundRect">
            <a:avLst>
              <a:gd name="adj" fmla="val 8000"/>
            </a:avLst>
          </a:prstGeom>
          <a:solidFill>
            <a:srgbClr val="EDEAE4"/>
          </a:solidFill>
          <a:ln/>
        </p:spPr>
      </p:sp>
      <p:sp>
        <p:nvSpPr>
          <p:cNvPr id="5" name="Shape 3"/>
          <p:cNvSpPr/>
          <p:nvPr/>
        </p:nvSpPr>
        <p:spPr>
          <a:xfrm>
            <a:off x="1028700" y="1778000"/>
            <a:ext cx="508000" cy="406400"/>
          </a:xfrm>
          <a:custGeom>
            <a:avLst/>
            <a:gdLst/>
            <a:ahLst/>
            <a:cxnLst/>
            <a:rect l="l" t="t" r="r" b="b"/>
            <a:pathLst>
              <a:path w="508000" h="406400">
                <a:moveTo>
                  <a:pt x="279400" y="0"/>
                </a:moveTo>
                <a:cubicBezTo>
                  <a:pt x="279400" y="-14049"/>
                  <a:pt x="268049" y="-25400"/>
                  <a:pt x="254000" y="-25400"/>
                </a:cubicBezTo>
                <a:cubicBezTo>
                  <a:pt x="239951" y="-25400"/>
                  <a:pt x="228600" y="-14049"/>
                  <a:pt x="228600" y="0"/>
                </a:cubicBezTo>
                <a:lnTo>
                  <a:pt x="228600" y="50800"/>
                </a:lnTo>
                <a:lnTo>
                  <a:pt x="152400" y="50800"/>
                </a:lnTo>
                <a:cubicBezTo>
                  <a:pt x="110331" y="50800"/>
                  <a:pt x="76200" y="84931"/>
                  <a:pt x="76200" y="127000"/>
                </a:cubicBezTo>
                <a:lnTo>
                  <a:pt x="76200" y="304800"/>
                </a:lnTo>
                <a:cubicBezTo>
                  <a:pt x="76200" y="346869"/>
                  <a:pt x="110331" y="381000"/>
                  <a:pt x="152400" y="381000"/>
                </a:cubicBezTo>
                <a:lnTo>
                  <a:pt x="355600" y="381000"/>
                </a:lnTo>
                <a:cubicBezTo>
                  <a:pt x="397669" y="381000"/>
                  <a:pt x="431800" y="346869"/>
                  <a:pt x="431800" y="304800"/>
                </a:cubicBezTo>
                <a:lnTo>
                  <a:pt x="431800" y="127000"/>
                </a:lnTo>
                <a:cubicBezTo>
                  <a:pt x="431800" y="84931"/>
                  <a:pt x="397669" y="50800"/>
                  <a:pt x="355600" y="50800"/>
                </a:cubicBezTo>
                <a:lnTo>
                  <a:pt x="279400" y="50800"/>
                </a:lnTo>
                <a:lnTo>
                  <a:pt x="279400" y="0"/>
                </a:lnTo>
                <a:close/>
                <a:moveTo>
                  <a:pt x="127000" y="292100"/>
                </a:moveTo>
                <a:cubicBezTo>
                  <a:pt x="127000" y="281543"/>
                  <a:pt x="135493" y="273050"/>
                  <a:pt x="146050" y="273050"/>
                </a:cubicBezTo>
                <a:lnTo>
                  <a:pt x="171450" y="273050"/>
                </a:lnTo>
                <a:cubicBezTo>
                  <a:pt x="182007" y="273050"/>
                  <a:pt x="190500" y="281543"/>
                  <a:pt x="190500" y="292100"/>
                </a:cubicBezTo>
                <a:cubicBezTo>
                  <a:pt x="190500" y="302657"/>
                  <a:pt x="182007" y="311150"/>
                  <a:pt x="171450" y="311150"/>
                </a:cubicBezTo>
                <a:lnTo>
                  <a:pt x="146050" y="311150"/>
                </a:lnTo>
                <a:cubicBezTo>
                  <a:pt x="135493" y="311150"/>
                  <a:pt x="127000" y="302657"/>
                  <a:pt x="127000" y="292100"/>
                </a:cubicBezTo>
                <a:close/>
                <a:moveTo>
                  <a:pt x="222250" y="292100"/>
                </a:moveTo>
                <a:cubicBezTo>
                  <a:pt x="222250" y="281543"/>
                  <a:pt x="230743" y="273050"/>
                  <a:pt x="241300" y="273050"/>
                </a:cubicBezTo>
                <a:lnTo>
                  <a:pt x="266700" y="273050"/>
                </a:lnTo>
                <a:cubicBezTo>
                  <a:pt x="277257" y="273050"/>
                  <a:pt x="285750" y="281543"/>
                  <a:pt x="285750" y="292100"/>
                </a:cubicBezTo>
                <a:cubicBezTo>
                  <a:pt x="285750" y="302657"/>
                  <a:pt x="277257" y="311150"/>
                  <a:pt x="266700" y="311150"/>
                </a:cubicBezTo>
                <a:lnTo>
                  <a:pt x="241300" y="311150"/>
                </a:lnTo>
                <a:cubicBezTo>
                  <a:pt x="230743" y="311150"/>
                  <a:pt x="222250" y="302657"/>
                  <a:pt x="222250" y="292100"/>
                </a:cubicBezTo>
                <a:close/>
                <a:moveTo>
                  <a:pt x="317500" y="292100"/>
                </a:moveTo>
                <a:cubicBezTo>
                  <a:pt x="317500" y="281543"/>
                  <a:pt x="325993" y="273050"/>
                  <a:pt x="336550" y="273050"/>
                </a:cubicBezTo>
                <a:lnTo>
                  <a:pt x="361950" y="273050"/>
                </a:lnTo>
                <a:cubicBezTo>
                  <a:pt x="372507" y="273050"/>
                  <a:pt x="381000" y="281543"/>
                  <a:pt x="381000" y="292100"/>
                </a:cubicBezTo>
                <a:cubicBezTo>
                  <a:pt x="381000" y="302657"/>
                  <a:pt x="372507" y="311150"/>
                  <a:pt x="361950" y="311150"/>
                </a:cubicBezTo>
                <a:lnTo>
                  <a:pt x="336550" y="311150"/>
                </a:lnTo>
                <a:cubicBezTo>
                  <a:pt x="325993" y="311150"/>
                  <a:pt x="317500" y="302657"/>
                  <a:pt x="317500" y="292100"/>
                </a:cubicBezTo>
                <a:close/>
                <a:moveTo>
                  <a:pt x="177800" y="139700"/>
                </a:moveTo>
                <a:cubicBezTo>
                  <a:pt x="198828" y="139700"/>
                  <a:pt x="215900" y="156772"/>
                  <a:pt x="215900" y="177800"/>
                </a:cubicBezTo>
                <a:cubicBezTo>
                  <a:pt x="215900" y="198828"/>
                  <a:pt x="198828" y="215900"/>
                  <a:pt x="177800" y="215900"/>
                </a:cubicBezTo>
                <a:cubicBezTo>
                  <a:pt x="156772" y="215900"/>
                  <a:pt x="139700" y="198828"/>
                  <a:pt x="139700" y="177800"/>
                </a:cubicBezTo>
                <a:cubicBezTo>
                  <a:pt x="139700" y="156772"/>
                  <a:pt x="156772" y="139700"/>
                  <a:pt x="177800" y="139700"/>
                </a:cubicBezTo>
                <a:close/>
                <a:moveTo>
                  <a:pt x="292100" y="177800"/>
                </a:moveTo>
                <a:cubicBezTo>
                  <a:pt x="292100" y="156772"/>
                  <a:pt x="309172" y="139700"/>
                  <a:pt x="330200" y="139700"/>
                </a:cubicBezTo>
                <a:cubicBezTo>
                  <a:pt x="351228" y="139700"/>
                  <a:pt x="368300" y="156772"/>
                  <a:pt x="368300" y="177800"/>
                </a:cubicBezTo>
                <a:cubicBezTo>
                  <a:pt x="368300" y="198828"/>
                  <a:pt x="351228" y="215900"/>
                  <a:pt x="330200" y="215900"/>
                </a:cubicBezTo>
                <a:cubicBezTo>
                  <a:pt x="309172" y="215900"/>
                  <a:pt x="292100" y="198828"/>
                  <a:pt x="292100" y="177800"/>
                </a:cubicBezTo>
                <a:close/>
                <a:moveTo>
                  <a:pt x="50800" y="177800"/>
                </a:moveTo>
                <a:cubicBezTo>
                  <a:pt x="50800" y="163751"/>
                  <a:pt x="39449" y="152400"/>
                  <a:pt x="25400" y="152400"/>
                </a:cubicBezTo>
                <a:cubicBezTo>
                  <a:pt x="11351" y="152400"/>
                  <a:pt x="0" y="163751"/>
                  <a:pt x="0" y="177800"/>
                </a:cubicBezTo>
                <a:lnTo>
                  <a:pt x="0" y="254000"/>
                </a:lnTo>
                <a:cubicBezTo>
                  <a:pt x="0" y="268049"/>
                  <a:pt x="11351" y="279400"/>
                  <a:pt x="25400" y="279400"/>
                </a:cubicBezTo>
                <a:cubicBezTo>
                  <a:pt x="39449" y="279400"/>
                  <a:pt x="50800" y="268049"/>
                  <a:pt x="50800" y="254000"/>
                </a:cubicBezTo>
                <a:lnTo>
                  <a:pt x="50800" y="177800"/>
                </a:lnTo>
                <a:close/>
                <a:moveTo>
                  <a:pt x="482600" y="152400"/>
                </a:moveTo>
                <a:cubicBezTo>
                  <a:pt x="468551" y="152400"/>
                  <a:pt x="457200" y="163751"/>
                  <a:pt x="457200" y="177800"/>
                </a:cubicBezTo>
                <a:lnTo>
                  <a:pt x="457200" y="254000"/>
                </a:lnTo>
                <a:cubicBezTo>
                  <a:pt x="457200" y="268049"/>
                  <a:pt x="468551" y="279400"/>
                  <a:pt x="482600" y="279400"/>
                </a:cubicBezTo>
                <a:cubicBezTo>
                  <a:pt x="496649" y="279400"/>
                  <a:pt x="508000" y="268049"/>
                  <a:pt x="508000" y="254000"/>
                </a:cubicBezTo>
                <a:lnTo>
                  <a:pt x="508000" y="177800"/>
                </a:lnTo>
                <a:cubicBezTo>
                  <a:pt x="508000" y="163751"/>
                  <a:pt x="496649" y="152400"/>
                  <a:pt x="482600" y="152400"/>
                </a:cubicBezTo>
                <a:close/>
              </a:path>
            </a:pathLst>
          </a:custGeom>
          <a:solidFill>
            <a:srgbClr val="E85D04"/>
          </a:solidFill>
          <a:ln/>
        </p:spPr>
      </p:sp>
      <p:sp>
        <p:nvSpPr>
          <p:cNvPr id="6" name="Text 4"/>
          <p:cNvSpPr/>
          <p:nvPr/>
        </p:nvSpPr>
        <p:spPr>
          <a:xfrm>
            <a:off x="1651000" y="1689100"/>
            <a:ext cx="3429000" cy="635000"/>
          </a:xfrm>
          <a:prstGeom prst="rect">
            <a:avLst/>
          </a:prstGeom>
          <a:noFill/>
          <a:ln/>
        </p:spPr>
        <p:txBody>
          <a:bodyPr wrap="none" lIns="0" tIns="0" rIns="0" bIns="0" rtlCol="0" anchor="ctr"/>
          <a:lstStyle/>
          <a:p>
            <a:pPr>
              <a:lnSpc>
                <a:spcPct val="110000"/>
              </a:lnSpc>
            </a:pPr>
            <a:r>
              <a:rPr lang="en-US" sz="4200" dirty="0">
                <a:solidFill>
                  <a:srgbClr val="E85D04"/>
                </a:solidFill>
                <a:latin typeface="Liter" pitchFamily="34" charset="0"/>
                <a:ea typeface="Liter" pitchFamily="34" charset="-122"/>
                <a:cs typeface="Liter" pitchFamily="34" charset="-120"/>
              </a:rPr>
              <a:t>82.6%</a:t>
            </a:r>
            <a:endParaRPr lang="en-US" sz="4200" dirty="0"/>
          </a:p>
        </p:txBody>
      </p:sp>
      <p:sp>
        <p:nvSpPr>
          <p:cNvPr id="7" name="Text 5"/>
          <p:cNvSpPr/>
          <p:nvPr/>
        </p:nvSpPr>
        <p:spPr>
          <a:xfrm>
            <a:off x="1079500" y="2413000"/>
            <a:ext cx="4064000" cy="889000"/>
          </a:xfrm>
          <a:prstGeom prst="rect">
            <a:avLst/>
          </a:prstGeom>
          <a:noFill/>
          <a:ln/>
        </p:spPr>
        <p:txBody>
          <a:bodyPr wrap="square" lIns="0" tIns="0" rIns="0" bIns="0" rtlCol="0" anchor="t"/>
          <a:lstStyle/>
          <a:p>
            <a:pPr>
              <a:lnSpc>
                <a:spcPct val="140000"/>
              </a:lnSpc>
            </a:pPr>
            <a:r>
              <a:rPr lang="en-US" sz="2000" dirty="0">
                <a:solidFill>
                  <a:srgbClr val="1A1A2E"/>
                </a:solidFill>
                <a:latin typeface="Quattrocento Sans" pitchFamily="34" charset="0"/>
                <a:ea typeface="Quattrocento Sans" pitchFamily="34" charset="-122"/>
                <a:cs typeface="Quattrocento Sans" pitchFamily="34" charset="-120"/>
              </a:rPr>
              <a:t>of phishing emails are now </a:t>
            </a:r>
            <a:r>
              <a:rPr lang="en-US" sz="2000" b="1" dirty="0">
                <a:solidFill>
                  <a:srgbClr val="1A1A2E"/>
                </a:solidFill>
                <a:latin typeface="Quattrocento Sans" pitchFamily="34" charset="0"/>
                <a:ea typeface="Quattrocento Sans" pitchFamily="34" charset="-122"/>
                <a:cs typeface="Quattrocento Sans" pitchFamily="34" charset="-120"/>
              </a:rPr>
              <a:t>AI-generated</a:t>
            </a:r>
            <a:endParaRPr lang="en-US" sz="2000" dirty="0"/>
          </a:p>
        </p:txBody>
      </p:sp>
      <p:sp>
        <p:nvSpPr>
          <p:cNvPr id="8" name="Shape 6"/>
          <p:cNvSpPr/>
          <p:nvPr/>
        </p:nvSpPr>
        <p:spPr>
          <a:xfrm>
            <a:off x="5778500" y="1524000"/>
            <a:ext cx="4699000" cy="2032000"/>
          </a:xfrm>
          <a:prstGeom prst="roundRect">
            <a:avLst>
              <a:gd name="adj" fmla="val 8000"/>
            </a:avLst>
          </a:prstGeom>
          <a:solidFill>
            <a:srgbClr val="EDEAE4"/>
          </a:solidFill>
          <a:ln/>
        </p:spPr>
      </p:sp>
      <p:sp>
        <p:nvSpPr>
          <p:cNvPr id="9" name="Shape 7"/>
          <p:cNvSpPr/>
          <p:nvPr/>
        </p:nvSpPr>
        <p:spPr>
          <a:xfrm>
            <a:off x="6070600" y="1778000"/>
            <a:ext cx="457200" cy="406400"/>
          </a:xfrm>
          <a:custGeom>
            <a:avLst/>
            <a:gdLst/>
            <a:ahLst/>
            <a:cxnLst/>
            <a:rect l="l" t="t" r="r" b="b"/>
            <a:pathLst>
              <a:path w="457200" h="406400">
                <a:moveTo>
                  <a:pt x="273050" y="-25400"/>
                </a:moveTo>
                <a:cubicBezTo>
                  <a:pt x="374729" y="-25400"/>
                  <a:pt x="457200" y="57071"/>
                  <a:pt x="457200" y="158750"/>
                </a:cubicBezTo>
                <a:cubicBezTo>
                  <a:pt x="457200" y="169307"/>
                  <a:pt x="448707" y="177800"/>
                  <a:pt x="438150" y="177800"/>
                </a:cubicBezTo>
                <a:cubicBezTo>
                  <a:pt x="427593" y="177800"/>
                  <a:pt x="419100" y="169307"/>
                  <a:pt x="419100" y="158750"/>
                </a:cubicBezTo>
                <a:cubicBezTo>
                  <a:pt x="419100" y="78105"/>
                  <a:pt x="353695" y="12700"/>
                  <a:pt x="273050" y="12700"/>
                </a:cubicBezTo>
                <a:cubicBezTo>
                  <a:pt x="262493" y="12700"/>
                  <a:pt x="254000" y="4207"/>
                  <a:pt x="254000" y="-6350"/>
                </a:cubicBezTo>
                <a:cubicBezTo>
                  <a:pt x="254000" y="-16907"/>
                  <a:pt x="262493" y="-25400"/>
                  <a:pt x="273050" y="-25400"/>
                </a:cubicBezTo>
                <a:close/>
                <a:moveTo>
                  <a:pt x="279400" y="127000"/>
                </a:moveTo>
                <a:cubicBezTo>
                  <a:pt x="293419" y="127000"/>
                  <a:pt x="304800" y="138381"/>
                  <a:pt x="304800" y="152400"/>
                </a:cubicBezTo>
                <a:cubicBezTo>
                  <a:pt x="304800" y="166419"/>
                  <a:pt x="293419" y="177800"/>
                  <a:pt x="279400" y="177800"/>
                </a:cubicBezTo>
                <a:cubicBezTo>
                  <a:pt x="265381" y="177800"/>
                  <a:pt x="254000" y="166419"/>
                  <a:pt x="254000" y="152400"/>
                </a:cubicBezTo>
                <a:cubicBezTo>
                  <a:pt x="254000" y="138381"/>
                  <a:pt x="265381" y="127000"/>
                  <a:pt x="279400" y="127000"/>
                </a:cubicBezTo>
                <a:close/>
                <a:moveTo>
                  <a:pt x="254000" y="69850"/>
                </a:moveTo>
                <a:cubicBezTo>
                  <a:pt x="254000" y="59293"/>
                  <a:pt x="262493" y="50800"/>
                  <a:pt x="273050" y="50800"/>
                </a:cubicBezTo>
                <a:cubicBezTo>
                  <a:pt x="332661" y="50800"/>
                  <a:pt x="381000" y="99139"/>
                  <a:pt x="381000" y="158750"/>
                </a:cubicBezTo>
                <a:cubicBezTo>
                  <a:pt x="381000" y="169307"/>
                  <a:pt x="372507" y="177800"/>
                  <a:pt x="361950" y="177800"/>
                </a:cubicBezTo>
                <a:cubicBezTo>
                  <a:pt x="351393" y="177800"/>
                  <a:pt x="342900" y="169307"/>
                  <a:pt x="342900" y="158750"/>
                </a:cubicBezTo>
                <a:cubicBezTo>
                  <a:pt x="342900" y="120174"/>
                  <a:pt x="311626" y="88900"/>
                  <a:pt x="273050" y="88900"/>
                </a:cubicBezTo>
                <a:cubicBezTo>
                  <a:pt x="262493" y="88900"/>
                  <a:pt x="254000" y="80407"/>
                  <a:pt x="254000" y="69850"/>
                </a:cubicBezTo>
                <a:close/>
                <a:moveTo>
                  <a:pt x="114379" y="1111"/>
                </a:moveTo>
                <a:cubicBezTo>
                  <a:pt x="130016" y="-3175"/>
                  <a:pt x="146368" y="4842"/>
                  <a:pt x="152559" y="19764"/>
                </a:cubicBezTo>
                <a:lnTo>
                  <a:pt x="184706" y="96996"/>
                </a:lnTo>
                <a:cubicBezTo>
                  <a:pt x="190182" y="110093"/>
                  <a:pt x="186373" y="125254"/>
                  <a:pt x="175339" y="134302"/>
                </a:cubicBezTo>
                <a:lnTo>
                  <a:pt x="140335" y="162957"/>
                </a:lnTo>
                <a:cubicBezTo>
                  <a:pt x="166132" y="219789"/>
                  <a:pt x="210979" y="266144"/>
                  <a:pt x="266779" y="293846"/>
                </a:cubicBezTo>
                <a:lnTo>
                  <a:pt x="297418" y="256381"/>
                </a:lnTo>
                <a:cubicBezTo>
                  <a:pt x="306388" y="245348"/>
                  <a:pt x="321548" y="241618"/>
                  <a:pt x="334724" y="247015"/>
                </a:cubicBezTo>
                <a:lnTo>
                  <a:pt x="411956" y="279241"/>
                </a:lnTo>
                <a:cubicBezTo>
                  <a:pt x="426879" y="285433"/>
                  <a:pt x="434896" y="301784"/>
                  <a:pt x="430609" y="317421"/>
                </a:cubicBezTo>
                <a:lnTo>
                  <a:pt x="429419" y="321786"/>
                </a:lnTo>
                <a:cubicBezTo>
                  <a:pt x="415449" y="373142"/>
                  <a:pt x="365839" y="416957"/>
                  <a:pt x="305276" y="404178"/>
                </a:cubicBezTo>
                <a:cubicBezTo>
                  <a:pt x="166370" y="374729"/>
                  <a:pt x="57071" y="265430"/>
                  <a:pt x="27622" y="126524"/>
                </a:cubicBezTo>
                <a:cubicBezTo>
                  <a:pt x="14843" y="65961"/>
                  <a:pt x="58658" y="16351"/>
                  <a:pt x="109934" y="2302"/>
                </a:cubicBezTo>
                <a:lnTo>
                  <a:pt x="114300" y="1111"/>
                </a:lnTo>
                <a:close/>
              </a:path>
            </a:pathLst>
          </a:custGeom>
          <a:solidFill>
            <a:srgbClr val="E85D04"/>
          </a:solidFill>
          <a:ln/>
        </p:spPr>
      </p:sp>
      <p:sp>
        <p:nvSpPr>
          <p:cNvPr id="10" name="Text 8"/>
          <p:cNvSpPr/>
          <p:nvPr/>
        </p:nvSpPr>
        <p:spPr>
          <a:xfrm>
            <a:off x="6667500" y="1689100"/>
            <a:ext cx="3429000" cy="635000"/>
          </a:xfrm>
          <a:prstGeom prst="rect">
            <a:avLst/>
          </a:prstGeom>
          <a:noFill/>
          <a:ln/>
        </p:spPr>
        <p:txBody>
          <a:bodyPr wrap="none" lIns="0" tIns="0" rIns="0" bIns="0" rtlCol="0" anchor="ctr"/>
          <a:lstStyle/>
          <a:p>
            <a:pPr>
              <a:lnSpc>
                <a:spcPct val="110000"/>
              </a:lnSpc>
            </a:pPr>
            <a:r>
              <a:rPr lang="en-US" sz="4200" dirty="0">
                <a:solidFill>
                  <a:srgbClr val="E85D04"/>
                </a:solidFill>
                <a:latin typeface="Liter" pitchFamily="34" charset="0"/>
                <a:ea typeface="Liter" pitchFamily="34" charset="-122"/>
                <a:cs typeface="Liter" pitchFamily="34" charset="-120"/>
              </a:rPr>
              <a:t>442%</a:t>
            </a:r>
            <a:endParaRPr lang="en-US" sz="4200" dirty="0"/>
          </a:p>
        </p:txBody>
      </p:sp>
      <p:sp>
        <p:nvSpPr>
          <p:cNvPr id="11" name="Text 9"/>
          <p:cNvSpPr/>
          <p:nvPr/>
        </p:nvSpPr>
        <p:spPr>
          <a:xfrm>
            <a:off x="6096000" y="2413000"/>
            <a:ext cx="4064000" cy="889000"/>
          </a:xfrm>
          <a:prstGeom prst="rect">
            <a:avLst/>
          </a:prstGeom>
          <a:noFill/>
          <a:ln/>
        </p:spPr>
        <p:txBody>
          <a:bodyPr wrap="square" lIns="0" tIns="0" rIns="0" bIns="0" rtlCol="0" anchor="t"/>
          <a:lstStyle/>
          <a:p>
            <a:pPr>
              <a:lnSpc>
                <a:spcPct val="140000"/>
              </a:lnSpc>
            </a:pPr>
            <a:r>
              <a:rPr lang="en-US" sz="2000" dirty="0">
                <a:solidFill>
                  <a:srgbClr val="1A1A2E"/>
                </a:solidFill>
                <a:latin typeface="Quattrocento Sans" pitchFamily="34" charset="0"/>
                <a:ea typeface="Quattrocento Sans" pitchFamily="34" charset="-122"/>
                <a:cs typeface="Quattrocento Sans" pitchFamily="34" charset="-120"/>
              </a:rPr>
              <a:t>surge in </a:t>
            </a:r>
            <a:r>
              <a:rPr lang="en-US" sz="2000" b="1" dirty="0">
                <a:solidFill>
                  <a:srgbClr val="1A1A2E"/>
                </a:solidFill>
                <a:latin typeface="Quattrocento Sans" pitchFamily="34" charset="0"/>
                <a:ea typeface="Quattrocento Sans" pitchFamily="34" charset="-122"/>
                <a:cs typeface="Quattrocento Sans" pitchFamily="34" charset="-120"/>
              </a:rPr>
              <a:t>vishing</a:t>
            </a:r>
            <a:r>
              <a:rPr lang="en-US" sz="2000" dirty="0">
                <a:solidFill>
                  <a:srgbClr val="1A1A2E"/>
                </a:solidFill>
                <a:latin typeface="Quattrocento Sans" pitchFamily="34" charset="0"/>
                <a:ea typeface="Quattrocento Sans" pitchFamily="34" charset="-122"/>
                <a:cs typeface="Quattrocento Sans" pitchFamily="34" charset="-120"/>
              </a:rPr>
              <a:t> attacks in H2 2024</a:t>
            </a:r>
            <a:endParaRPr lang="en-US" sz="2000" dirty="0"/>
          </a:p>
        </p:txBody>
      </p:sp>
      <p:sp>
        <p:nvSpPr>
          <p:cNvPr id="12" name="Shape 10"/>
          <p:cNvSpPr/>
          <p:nvPr/>
        </p:nvSpPr>
        <p:spPr>
          <a:xfrm>
            <a:off x="10795000" y="1524000"/>
            <a:ext cx="4699000" cy="2032000"/>
          </a:xfrm>
          <a:prstGeom prst="roundRect">
            <a:avLst>
              <a:gd name="adj" fmla="val 8000"/>
            </a:avLst>
          </a:prstGeom>
          <a:solidFill>
            <a:srgbClr val="EDEAE4"/>
          </a:solidFill>
          <a:ln/>
        </p:spPr>
      </p:sp>
      <p:sp>
        <p:nvSpPr>
          <p:cNvPr id="13" name="Shape 11"/>
          <p:cNvSpPr/>
          <p:nvPr/>
        </p:nvSpPr>
        <p:spPr>
          <a:xfrm>
            <a:off x="11163300" y="1778000"/>
            <a:ext cx="304800" cy="406400"/>
          </a:xfrm>
          <a:custGeom>
            <a:avLst/>
            <a:gdLst/>
            <a:ahLst/>
            <a:cxnLst/>
            <a:rect l="l" t="t" r="r" b="b"/>
            <a:pathLst>
              <a:path w="304800" h="406400">
                <a:moveTo>
                  <a:pt x="12700" y="50800"/>
                </a:moveTo>
                <a:cubicBezTo>
                  <a:pt x="12700" y="22781"/>
                  <a:pt x="35481" y="0"/>
                  <a:pt x="63500" y="0"/>
                </a:cubicBezTo>
                <a:lnTo>
                  <a:pt x="241300" y="0"/>
                </a:lnTo>
                <a:cubicBezTo>
                  <a:pt x="269319" y="0"/>
                  <a:pt x="292100" y="22781"/>
                  <a:pt x="292100" y="50800"/>
                </a:cubicBezTo>
                <a:lnTo>
                  <a:pt x="292100" y="355600"/>
                </a:lnTo>
                <a:cubicBezTo>
                  <a:pt x="292100" y="383619"/>
                  <a:pt x="269319" y="406400"/>
                  <a:pt x="241300" y="406400"/>
                </a:cubicBezTo>
                <a:lnTo>
                  <a:pt x="63500" y="406400"/>
                </a:lnTo>
                <a:cubicBezTo>
                  <a:pt x="35481" y="406400"/>
                  <a:pt x="12700" y="383619"/>
                  <a:pt x="12700" y="355600"/>
                </a:cubicBezTo>
                <a:lnTo>
                  <a:pt x="12700" y="50800"/>
                </a:lnTo>
                <a:close/>
                <a:moveTo>
                  <a:pt x="101600" y="349250"/>
                </a:moveTo>
                <a:cubicBezTo>
                  <a:pt x="101600" y="359807"/>
                  <a:pt x="110093" y="368300"/>
                  <a:pt x="120650" y="368300"/>
                </a:cubicBezTo>
                <a:lnTo>
                  <a:pt x="184150" y="368300"/>
                </a:lnTo>
                <a:cubicBezTo>
                  <a:pt x="194707" y="368300"/>
                  <a:pt x="203200" y="359807"/>
                  <a:pt x="203200" y="349250"/>
                </a:cubicBezTo>
                <a:cubicBezTo>
                  <a:pt x="203200" y="338693"/>
                  <a:pt x="194707" y="330200"/>
                  <a:pt x="184150" y="330200"/>
                </a:cubicBezTo>
                <a:lnTo>
                  <a:pt x="120650" y="330200"/>
                </a:lnTo>
                <a:cubicBezTo>
                  <a:pt x="110093" y="330200"/>
                  <a:pt x="101600" y="338693"/>
                  <a:pt x="101600" y="349250"/>
                </a:cubicBezTo>
                <a:close/>
                <a:moveTo>
                  <a:pt x="241300" y="50800"/>
                </a:moveTo>
                <a:lnTo>
                  <a:pt x="63500" y="50800"/>
                </a:lnTo>
                <a:lnTo>
                  <a:pt x="63500" y="292100"/>
                </a:lnTo>
                <a:lnTo>
                  <a:pt x="241300" y="292100"/>
                </a:lnTo>
                <a:lnTo>
                  <a:pt x="241300" y="50800"/>
                </a:lnTo>
                <a:close/>
              </a:path>
            </a:pathLst>
          </a:custGeom>
          <a:solidFill>
            <a:srgbClr val="E85D04"/>
          </a:solidFill>
          <a:ln/>
        </p:spPr>
      </p:sp>
      <p:sp>
        <p:nvSpPr>
          <p:cNvPr id="14" name="Text 12"/>
          <p:cNvSpPr/>
          <p:nvPr/>
        </p:nvSpPr>
        <p:spPr>
          <a:xfrm>
            <a:off x="11684000" y="1689100"/>
            <a:ext cx="3429000" cy="635000"/>
          </a:xfrm>
          <a:prstGeom prst="rect">
            <a:avLst/>
          </a:prstGeom>
          <a:noFill/>
          <a:ln/>
        </p:spPr>
        <p:txBody>
          <a:bodyPr wrap="none" lIns="0" tIns="0" rIns="0" bIns="0" rtlCol="0" anchor="ctr"/>
          <a:lstStyle/>
          <a:p>
            <a:pPr>
              <a:lnSpc>
                <a:spcPct val="110000"/>
              </a:lnSpc>
            </a:pPr>
            <a:r>
              <a:rPr lang="en-US" sz="4200" dirty="0">
                <a:solidFill>
                  <a:srgbClr val="E85D04"/>
                </a:solidFill>
                <a:latin typeface="Liter" pitchFamily="34" charset="0"/>
                <a:ea typeface="Liter" pitchFamily="34" charset="-122"/>
                <a:cs typeface="Liter" pitchFamily="34" charset="-120"/>
              </a:rPr>
              <a:t>35%</a:t>
            </a:r>
            <a:endParaRPr lang="en-US" sz="4200" dirty="0"/>
          </a:p>
        </p:txBody>
      </p:sp>
      <p:sp>
        <p:nvSpPr>
          <p:cNvPr id="15" name="Text 13"/>
          <p:cNvSpPr/>
          <p:nvPr/>
        </p:nvSpPr>
        <p:spPr>
          <a:xfrm>
            <a:off x="11112500" y="2413000"/>
            <a:ext cx="4064000" cy="889000"/>
          </a:xfrm>
          <a:prstGeom prst="rect">
            <a:avLst/>
          </a:prstGeom>
          <a:noFill/>
          <a:ln/>
        </p:spPr>
        <p:txBody>
          <a:bodyPr wrap="square" lIns="0" tIns="0" rIns="0" bIns="0" rtlCol="0" anchor="t"/>
          <a:lstStyle/>
          <a:p>
            <a:pPr>
              <a:lnSpc>
                <a:spcPct val="140000"/>
              </a:lnSpc>
            </a:pPr>
            <a:r>
              <a:rPr lang="en-US" sz="2000" dirty="0">
                <a:solidFill>
                  <a:srgbClr val="1A1A2E"/>
                </a:solidFill>
                <a:latin typeface="Quattrocento Sans" pitchFamily="34" charset="0"/>
                <a:ea typeface="Quattrocento Sans" pitchFamily="34" charset="-122"/>
                <a:cs typeface="Quattrocento Sans" pitchFamily="34" charset="-120"/>
              </a:rPr>
              <a:t>of phishing attacks are </a:t>
            </a:r>
            <a:r>
              <a:rPr lang="en-US" sz="2000" b="1" dirty="0">
                <a:solidFill>
                  <a:srgbClr val="1A1A2E"/>
                </a:solidFill>
                <a:latin typeface="Quattrocento Sans" pitchFamily="34" charset="0"/>
                <a:ea typeface="Quattrocento Sans" pitchFamily="34" charset="-122"/>
                <a:cs typeface="Quattrocento Sans" pitchFamily="34" charset="-120"/>
              </a:rPr>
              <a:t>smishing</a:t>
            </a:r>
            <a:r>
              <a:rPr lang="en-US" sz="2000" dirty="0">
                <a:solidFill>
                  <a:srgbClr val="1A1A2E"/>
                </a:solidFill>
                <a:latin typeface="Quattrocento Sans" pitchFamily="34" charset="0"/>
                <a:ea typeface="Quattrocento Sans" pitchFamily="34" charset="-122"/>
                <a:cs typeface="Quattrocento Sans" pitchFamily="34" charset="-120"/>
              </a:rPr>
              <a:t> (SMS)</a:t>
            </a:r>
            <a:endParaRPr lang="en-US" sz="2000" dirty="0"/>
          </a:p>
        </p:txBody>
      </p:sp>
      <p:sp>
        <p:nvSpPr>
          <p:cNvPr id="16" name="Shape 14"/>
          <p:cNvSpPr/>
          <p:nvPr/>
        </p:nvSpPr>
        <p:spPr>
          <a:xfrm>
            <a:off x="762000" y="3937000"/>
            <a:ext cx="4699000" cy="2032000"/>
          </a:xfrm>
          <a:prstGeom prst="roundRect">
            <a:avLst>
              <a:gd name="adj" fmla="val 8000"/>
            </a:avLst>
          </a:prstGeom>
          <a:solidFill>
            <a:srgbClr val="EDEAE4"/>
          </a:solidFill>
          <a:ln/>
        </p:spPr>
      </p:sp>
      <p:sp>
        <p:nvSpPr>
          <p:cNvPr id="17" name="Shape 15"/>
          <p:cNvSpPr/>
          <p:nvPr/>
        </p:nvSpPr>
        <p:spPr>
          <a:xfrm>
            <a:off x="1104900" y="4191000"/>
            <a:ext cx="355600" cy="406400"/>
          </a:xfrm>
          <a:custGeom>
            <a:avLst/>
            <a:gdLst/>
            <a:ahLst/>
            <a:cxnLst/>
            <a:rect l="l" t="t" r="r" b="b"/>
            <a:pathLst>
              <a:path w="355600" h="406400">
                <a:moveTo>
                  <a:pt x="50800" y="127000"/>
                </a:moveTo>
                <a:lnTo>
                  <a:pt x="101600" y="127000"/>
                </a:lnTo>
                <a:lnTo>
                  <a:pt x="101600" y="76200"/>
                </a:lnTo>
                <a:lnTo>
                  <a:pt x="50800" y="76200"/>
                </a:lnTo>
                <a:lnTo>
                  <a:pt x="50800" y="127000"/>
                </a:lnTo>
                <a:close/>
                <a:moveTo>
                  <a:pt x="0" y="63500"/>
                </a:moveTo>
                <a:cubicBezTo>
                  <a:pt x="0" y="42466"/>
                  <a:pt x="17066" y="25400"/>
                  <a:pt x="38100" y="25400"/>
                </a:cubicBezTo>
                <a:lnTo>
                  <a:pt x="114300" y="25400"/>
                </a:lnTo>
                <a:cubicBezTo>
                  <a:pt x="135334" y="25400"/>
                  <a:pt x="152400" y="42466"/>
                  <a:pt x="152400" y="63500"/>
                </a:cubicBezTo>
                <a:lnTo>
                  <a:pt x="152400" y="139700"/>
                </a:lnTo>
                <a:cubicBezTo>
                  <a:pt x="152400" y="160734"/>
                  <a:pt x="135334" y="177800"/>
                  <a:pt x="114300" y="177800"/>
                </a:cubicBezTo>
                <a:lnTo>
                  <a:pt x="38100" y="177800"/>
                </a:lnTo>
                <a:cubicBezTo>
                  <a:pt x="17066" y="177800"/>
                  <a:pt x="0" y="160734"/>
                  <a:pt x="0" y="139700"/>
                </a:cubicBezTo>
                <a:lnTo>
                  <a:pt x="0" y="63500"/>
                </a:lnTo>
                <a:close/>
                <a:moveTo>
                  <a:pt x="50800" y="330200"/>
                </a:moveTo>
                <a:lnTo>
                  <a:pt x="101600" y="330200"/>
                </a:lnTo>
                <a:lnTo>
                  <a:pt x="101600" y="279400"/>
                </a:lnTo>
                <a:lnTo>
                  <a:pt x="50800" y="279400"/>
                </a:lnTo>
                <a:lnTo>
                  <a:pt x="50800" y="330200"/>
                </a:lnTo>
                <a:close/>
                <a:moveTo>
                  <a:pt x="0" y="266700"/>
                </a:moveTo>
                <a:cubicBezTo>
                  <a:pt x="0" y="245666"/>
                  <a:pt x="17066" y="228600"/>
                  <a:pt x="38100" y="228600"/>
                </a:cubicBezTo>
                <a:lnTo>
                  <a:pt x="114300" y="228600"/>
                </a:lnTo>
                <a:cubicBezTo>
                  <a:pt x="135334" y="228600"/>
                  <a:pt x="152400" y="245666"/>
                  <a:pt x="152400" y="266700"/>
                </a:cubicBezTo>
                <a:lnTo>
                  <a:pt x="152400" y="342900"/>
                </a:lnTo>
                <a:cubicBezTo>
                  <a:pt x="152400" y="363934"/>
                  <a:pt x="135334" y="381000"/>
                  <a:pt x="114300" y="381000"/>
                </a:cubicBezTo>
                <a:lnTo>
                  <a:pt x="38100" y="381000"/>
                </a:lnTo>
                <a:cubicBezTo>
                  <a:pt x="17066" y="381000"/>
                  <a:pt x="0" y="363934"/>
                  <a:pt x="0" y="342900"/>
                </a:cubicBezTo>
                <a:lnTo>
                  <a:pt x="0" y="266700"/>
                </a:lnTo>
                <a:close/>
                <a:moveTo>
                  <a:pt x="254000" y="76200"/>
                </a:moveTo>
                <a:lnTo>
                  <a:pt x="254000" y="127000"/>
                </a:lnTo>
                <a:lnTo>
                  <a:pt x="304800" y="127000"/>
                </a:lnTo>
                <a:lnTo>
                  <a:pt x="304800" y="76200"/>
                </a:lnTo>
                <a:lnTo>
                  <a:pt x="254000" y="76200"/>
                </a:lnTo>
                <a:close/>
                <a:moveTo>
                  <a:pt x="241300" y="25400"/>
                </a:moveTo>
                <a:lnTo>
                  <a:pt x="317500" y="25400"/>
                </a:lnTo>
                <a:cubicBezTo>
                  <a:pt x="338534" y="25400"/>
                  <a:pt x="355600" y="42466"/>
                  <a:pt x="355600" y="63500"/>
                </a:cubicBezTo>
                <a:lnTo>
                  <a:pt x="355600" y="139700"/>
                </a:lnTo>
                <a:cubicBezTo>
                  <a:pt x="355600" y="160734"/>
                  <a:pt x="338534" y="177800"/>
                  <a:pt x="317500" y="177800"/>
                </a:cubicBezTo>
                <a:lnTo>
                  <a:pt x="241300" y="177800"/>
                </a:lnTo>
                <a:cubicBezTo>
                  <a:pt x="220266" y="177800"/>
                  <a:pt x="203200" y="160734"/>
                  <a:pt x="203200" y="139700"/>
                </a:cubicBezTo>
                <a:lnTo>
                  <a:pt x="203200" y="63500"/>
                </a:lnTo>
                <a:cubicBezTo>
                  <a:pt x="203200" y="42466"/>
                  <a:pt x="220266" y="25400"/>
                  <a:pt x="241300" y="25400"/>
                </a:cubicBezTo>
                <a:close/>
                <a:moveTo>
                  <a:pt x="228600" y="279400"/>
                </a:moveTo>
                <a:cubicBezTo>
                  <a:pt x="214581" y="279400"/>
                  <a:pt x="203200" y="268019"/>
                  <a:pt x="203200" y="254000"/>
                </a:cubicBezTo>
                <a:cubicBezTo>
                  <a:pt x="203200" y="239981"/>
                  <a:pt x="214581" y="228600"/>
                  <a:pt x="228600" y="228600"/>
                </a:cubicBezTo>
                <a:cubicBezTo>
                  <a:pt x="242619" y="228600"/>
                  <a:pt x="254000" y="239981"/>
                  <a:pt x="254000" y="254000"/>
                </a:cubicBezTo>
                <a:cubicBezTo>
                  <a:pt x="254000" y="268019"/>
                  <a:pt x="242619" y="279400"/>
                  <a:pt x="228600" y="279400"/>
                </a:cubicBezTo>
                <a:close/>
                <a:moveTo>
                  <a:pt x="228600" y="330200"/>
                </a:moveTo>
                <a:cubicBezTo>
                  <a:pt x="242649" y="330200"/>
                  <a:pt x="254000" y="341551"/>
                  <a:pt x="254000" y="355600"/>
                </a:cubicBezTo>
                <a:cubicBezTo>
                  <a:pt x="254000" y="369649"/>
                  <a:pt x="242649" y="381000"/>
                  <a:pt x="228600" y="381000"/>
                </a:cubicBezTo>
                <a:cubicBezTo>
                  <a:pt x="214551" y="381000"/>
                  <a:pt x="203200" y="369649"/>
                  <a:pt x="203200" y="355600"/>
                </a:cubicBezTo>
                <a:cubicBezTo>
                  <a:pt x="203200" y="341551"/>
                  <a:pt x="214551" y="330200"/>
                  <a:pt x="228600" y="330200"/>
                </a:cubicBezTo>
                <a:close/>
                <a:moveTo>
                  <a:pt x="304800" y="355600"/>
                </a:moveTo>
                <a:cubicBezTo>
                  <a:pt x="304800" y="341551"/>
                  <a:pt x="316151" y="330200"/>
                  <a:pt x="330200" y="330200"/>
                </a:cubicBezTo>
                <a:cubicBezTo>
                  <a:pt x="344249" y="330200"/>
                  <a:pt x="355600" y="341551"/>
                  <a:pt x="355600" y="355600"/>
                </a:cubicBezTo>
                <a:cubicBezTo>
                  <a:pt x="355600" y="369649"/>
                  <a:pt x="344249" y="381000"/>
                  <a:pt x="330200" y="381000"/>
                </a:cubicBezTo>
                <a:cubicBezTo>
                  <a:pt x="316151" y="381000"/>
                  <a:pt x="304800" y="369649"/>
                  <a:pt x="304800" y="355600"/>
                </a:cubicBezTo>
                <a:close/>
                <a:moveTo>
                  <a:pt x="330200" y="279400"/>
                </a:moveTo>
                <a:cubicBezTo>
                  <a:pt x="316181" y="279400"/>
                  <a:pt x="304800" y="268019"/>
                  <a:pt x="304800" y="254000"/>
                </a:cubicBezTo>
                <a:cubicBezTo>
                  <a:pt x="304800" y="239981"/>
                  <a:pt x="316181" y="228600"/>
                  <a:pt x="330200" y="228600"/>
                </a:cubicBezTo>
                <a:cubicBezTo>
                  <a:pt x="344219" y="228600"/>
                  <a:pt x="355600" y="239981"/>
                  <a:pt x="355600" y="254000"/>
                </a:cubicBezTo>
                <a:cubicBezTo>
                  <a:pt x="355600" y="268019"/>
                  <a:pt x="344219" y="279400"/>
                  <a:pt x="330200" y="279400"/>
                </a:cubicBezTo>
                <a:close/>
                <a:moveTo>
                  <a:pt x="304800" y="304800"/>
                </a:moveTo>
                <a:cubicBezTo>
                  <a:pt x="304800" y="318819"/>
                  <a:pt x="293419" y="330200"/>
                  <a:pt x="279400" y="330200"/>
                </a:cubicBezTo>
                <a:cubicBezTo>
                  <a:pt x="265381" y="330200"/>
                  <a:pt x="254000" y="318819"/>
                  <a:pt x="254000" y="304800"/>
                </a:cubicBezTo>
                <a:cubicBezTo>
                  <a:pt x="254000" y="290781"/>
                  <a:pt x="265381" y="279400"/>
                  <a:pt x="279400" y="279400"/>
                </a:cubicBezTo>
                <a:cubicBezTo>
                  <a:pt x="293419" y="279400"/>
                  <a:pt x="304800" y="290781"/>
                  <a:pt x="304800" y="304800"/>
                </a:cubicBezTo>
                <a:close/>
              </a:path>
            </a:pathLst>
          </a:custGeom>
          <a:solidFill>
            <a:srgbClr val="E85D04"/>
          </a:solidFill>
          <a:ln/>
        </p:spPr>
      </p:sp>
      <p:sp>
        <p:nvSpPr>
          <p:cNvPr id="18" name="Text 16"/>
          <p:cNvSpPr/>
          <p:nvPr/>
        </p:nvSpPr>
        <p:spPr>
          <a:xfrm>
            <a:off x="1651000" y="4102100"/>
            <a:ext cx="3429000" cy="635000"/>
          </a:xfrm>
          <a:prstGeom prst="rect">
            <a:avLst/>
          </a:prstGeom>
          <a:noFill/>
          <a:ln/>
        </p:spPr>
        <p:txBody>
          <a:bodyPr wrap="none" lIns="0" tIns="0" rIns="0" bIns="0" rtlCol="0" anchor="ctr"/>
          <a:lstStyle/>
          <a:p>
            <a:pPr>
              <a:lnSpc>
                <a:spcPct val="110000"/>
              </a:lnSpc>
            </a:pPr>
            <a:r>
              <a:rPr lang="en-US" sz="4200" dirty="0">
                <a:solidFill>
                  <a:srgbClr val="E85D04"/>
                </a:solidFill>
                <a:latin typeface="Liter" pitchFamily="34" charset="0"/>
                <a:ea typeface="Liter" pitchFamily="34" charset="-122"/>
                <a:cs typeface="Liter" pitchFamily="34" charset="-120"/>
              </a:rPr>
              <a:t>400%</a:t>
            </a:r>
            <a:endParaRPr lang="en-US" sz="4200" dirty="0"/>
          </a:p>
        </p:txBody>
      </p:sp>
      <p:sp>
        <p:nvSpPr>
          <p:cNvPr id="19" name="Text 17"/>
          <p:cNvSpPr/>
          <p:nvPr/>
        </p:nvSpPr>
        <p:spPr>
          <a:xfrm>
            <a:off x="1079500" y="4826000"/>
            <a:ext cx="4064000" cy="889000"/>
          </a:xfrm>
          <a:prstGeom prst="rect">
            <a:avLst/>
          </a:prstGeom>
          <a:noFill/>
          <a:ln/>
        </p:spPr>
        <p:txBody>
          <a:bodyPr wrap="square" lIns="0" tIns="0" rIns="0" bIns="0" rtlCol="0" anchor="t"/>
          <a:lstStyle/>
          <a:p>
            <a:pPr>
              <a:lnSpc>
                <a:spcPct val="140000"/>
              </a:lnSpc>
            </a:pPr>
            <a:r>
              <a:rPr lang="en-US" sz="2000" dirty="0">
                <a:solidFill>
                  <a:srgbClr val="1A1A2E"/>
                </a:solidFill>
                <a:latin typeface="Quattrocento Sans" pitchFamily="34" charset="0"/>
                <a:ea typeface="Quattrocento Sans" pitchFamily="34" charset="-122"/>
                <a:cs typeface="Quattrocento Sans" pitchFamily="34" charset="-120"/>
              </a:rPr>
              <a:t>increase in </a:t>
            </a:r>
            <a:r>
              <a:rPr lang="en-US" sz="2000" b="1" dirty="0">
                <a:solidFill>
                  <a:srgbClr val="1A1A2E"/>
                </a:solidFill>
                <a:latin typeface="Quattrocento Sans" pitchFamily="34" charset="0"/>
                <a:ea typeface="Quattrocento Sans" pitchFamily="34" charset="-122"/>
                <a:cs typeface="Quattrocento Sans" pitchFamily="34" charset="-120"/>
              </a:rPr>
              <a:t>QR code phishing</a:t>
            </a:r>
            <a:r>
              <a:rPr lang="en-US" sz="2000" dirty="0">
                <a:solidFill>
                  <a:srgbClr val="1A1A2E"/>
                </a:solidFill>
                <a:latin typeface="Quattrocento Sans" pitchFamily="34" charset="0"/>
                <a:ea typeface="Quattrocento Sans" pitchFamily="34" charset="-122"/>
                <a:cs typeface="Quattrocento Sans" pitchFamily="34" charset="-120"/>
              </a:rPr>
              <a:t> (2023-2025)</a:t>
            </a:r>
            <a:endParaRPr lang="en-US" sz="2000" dirty="0"/>
          </a:p>
        </p:txBody>
      </p:sp>
      <p:sp>
        <p:nvSpPr>
          <p:cNvPr id="20" name="Shape 18"/>
          <p:cNvSpPr/>
          <p:nvPr/>
        </p:nvSpPr>
        <p:spPr>
          <a:xfrm>
            <a:off x="5778500" y="3937000"/>
            <a:ext cx="4699000" cy="2032000"/>
          </a:xfrm>
          <a:prstGeom prst="roundRect">
            <a:avLst>
              <a:gd name="adj" fmla="val 8000"/>
            </a:avLst>
          </a:prstGeom>
          <a:solidFill>
            <a:srgbClr val="EDEAE4"/>
          </a:solidFill>
          <a:ln/>
        </p:spPr>
      </p:sp>
      <p:sp>
        <p:nvSpPr>
          <p:cNvPr id="21" name="Shape 19"/>
          <p:cNvSpPr/>
          <p:nvPr/>
        </p:nvSpPr>
        <p:spPr>
          <a:xfrm>
            <a:off x="6146800" y="4191000"/>
            <a:ext cx="304800" cy="406400"/>
          </a:xfrm>
          <a:custGeom>
            <a:avLst/>
            <a:gdLst/>
            <a:ahLst/>
            <a:cxnLst/>
            <a:rect l="l" t="t" r="r" b="b"/>
            <a:pathLst>
              <a:path w="304800" h="406400">
                <a:moveTo>
                  <a:pt x="63500" y="0"/>
                </a:moveTo>
                <a:cubicBezTo>
                  <a:pt x="35481" y="0"/>
                  <a:pt x="12700" y="22781"/>
                  <a:pt x="12700" y="50800"/>
                </a:cubicBezTo>
                <a:lnTo>
                  <a:pt x="12700" y="355600"/>
                </a:lnTo>
                <a:cubicBezTo>
                  <a:pt x="12700" y="383619"/>
                  <a:pt x="35481" y="406400"/>
                  <a:pt x="63500" y="406400"/>
                </a:cubicBezTo>
                <a:lnTo>
                  <a:pt x="241300" y="406400"/>
                </a:lnTo>
                <a:cubicBezTo>
                  <a:pt x="269319" y="406400"/>
                  <a:pt x="292100" y="383619"/>
                  <a:pt x="292100" y="355600"/>
                </a:cubicBezTo>
                <a:lnTo>
                  <a:pt x="292100" y="50800"/>
                </a:lnTo>
                <a:cubicBezTo>
                  <a:pt x="292100" y="22781"/>
                  <a:pt x="269319" y="0"/>
                  <a:pt x="241300" y="0"/>
                </a:cubicBezTo>
                <a:lnTo>
                  <a:pt x="63500" y="0"/>
                </a:lnTo>
                <a:close/>
                <a:moveTo>
                  <a:pt x="120650" y="330200"/>
                </a:moveTo>
                <a:lnTo>
                  <a:pt x="184150" y="330200"/>
                </a:lnTo>
                <a:cubicBezTo>
                  <a:pt x="194707" y="330200"/>
                  <a:pt x="203200" y="338693"/>
                  <a:pt x="203200" y="349250"/>
                </a:cubicBezTo>
                <a:cubicBezTo>
                  <a:pt x="203200" y="359807"/>
                  <a:pt x="194707" y="368300"/>
                  <a:pt x="184150" y="368300"/>
                </a:cubicBezTo>
                <a:lnTo>
                  <a:pt x="120650" y="368300"/>
                </a:lnTo>
                <a:cubicBezTo>
                  <a:pt x="110093" y="368300"/>
                  <a:pt x="101600" y="359807"/>
                  <a:pt x="101600" y="349250"/>
                </a:cubicBezTo>
                <a:cubicBezTo>
                  <a:pt x="101600" y="338693"/>
                  <a:pt x="110093" y="330200"/>
                  <a:pt x="120650" y="330200"/>
                </a:cubicBezTo>
                <a:close/>
              </a:path>
            </a:pathLst>
          </a:custGeom>
          <a:solidFill>
            <a:srgbClr val="E85D04"/>
          </a:solidFill>
          <a:ln/>
        </p:spPr>
      </p:sp>
      <p:sp>
        <p:nvSpPr>
          <p:cNvPr id="22" name="Text 20"/>
          <p:cNvSpPr/>
          <p:nvPr/>
        </p:nvSpPr>
        <p:spPr>
          <a:xfrm>
            <a:off x="6667500" y="4102100"/>
            <a:ext cx="3429000" cy="635000"/>
          </a:xfrm>
          <a:prstGeom prst="rect">
            <a:avLst/>
          </a:prstGeom>
          <a:noFill/>
          <a:ln/>
        </p:spPr>
        <p:txBody>
          <a:bodyPr wrap="none" lIns="0" tIns="0" rIns="0" bIns="0" rtlCol="0" anchor="ctr"/>
          <a:lstStyle/>
          <a:p>
            <a:pPr>
              <a:lnSpc>
                <a:spcPct val="110000"/>
              </a:lnSpc>
            </a:pPr>
            <a:r>
              <a:rPr lang="en-US" sz="4200" dirty="0">
                <a:solidFill>
                  <a:srgbClr val="E85D04"/>
                </a:solidFill>
                <a:latin typeface="Liter" pitchFamily="34" charset="0"/>
                <a:ea typeface="Liter" pitchFamily="34" charset="-122"/>
                <a:cs typeface="Liter" pitchFamily="34" charset="-120"/>
              </a:rPr>
              <a:t>83%</a:t>
            </a:r>
            <a:endParaRPr lang="en-US" sz="4200" dirty="0"/>
          </a:p>
        </p:txBody>
      </p:sp>
      <p:sp>
        <p:nvSpPr>
          <p:cNvPr id="23" name="Text 21"/>
          <p:cNvSpPr/>
          <p:nvPr/>
        </p:nvSpPr>
        <p:spPr>
          <a:xfrm>
            <a:off x="6096000" y="4826000"/>
            <a:ext cx="4064000" cy="889000"/>
          </a:xfrm>
          <a:prstGeom prst="rect">
            <a:avLst/>
          </a:prstGeom>
          <a:noFill/>
          <a:ln/>
        </p:spPr>
        <p:txBody>
          <a:bodyPr wrap="square" lIns="0" tIns="0" rIns="0" bIns="0" rtlCol="0" anchor="t"/>
          <a:lstStyle/>
          <a:p>
            <a:pPr>
              <a:lnSpc>
                <a:spcPct val="140000"/>
              </a:lnSpc>
            </a:pPr>
            <a:r>
              <a:rPr lang="en-US" sz="2000" dirty="0">
                <a:solidFill>
                  <a:srgbClr val="1A1A2E"/>
                </a:solidFill>
                <a:latin typeface="Quattrocento Sans" pitchFamily="34" charset="0"/>
                <a:ea typeface="Quattrocento Sans" pitchFamily="34" charset="-122"/>
                <a:cs typeface="Quattrocento Sans" pitchFamily="34" charset="-120"/>
              </a:rPr>
              <a:t>of phishing sites </a:t>
            </a:r>
            <a:r>
              <a:rPr lang="en-US" sz="2000" b="1" dirty="0">
                <a:solidFill>
                  <a:srgbClr val="1A1A2E"/>
                </a:solidFill>
                <a:latin typeface="Quattrocento Sans" pitchFamily="34" charset="0"/>
                <a:ea typeface="Quattrocento Sans" pitchFamily="34" charset="-122"/>
                <a:cs typeface="Quattrocento Sans" pitchFamily="34" charset="-120"/>
              </a:rPr>
              <a:t>target mobile</a:t>
            </a:r>
            <a:r>
              <a:rPr lang="en-US" sz="2000" dirty="0">
                <a:solidFill>
                  <a:srgbClr val="1A1A2E"/>
                </a:solidFill>
                <a:latin typeface="Quattrocento Sans" pitchFamily="34" charset="0"/>
                <a:ea typeface="Quattrocento Sans" pitchFamily="34" charset="-122"/>
                <a:cs typeface="Quattrocento Sans" pitchFamily="34" charset="-120"/>
              </a:rPr>
              <a:t> devices</a:t>
            </a:r>
            <a:endParaRPr lang="en-US" sz="2000" dirty="0"/>
          </a:p>
        </p:txBody>
      </p:sp>
      <p:sp>
        <p:nvSpPr>
          <p:cNvPr id="24" name="Shape 22"/>
          <p:cNvSpPr/>
          <p:nvPr/>
        </p:nvSpPr>
        <p:spPr>
          <a:xfrm>
            <a:off x="10795000" y="3937000"/>
            <a:ext cx="4699000" cy="2032000"/>
          </a:xfrm>
          <a:prstGeom prst="roundRect">
            <a:avLst>
              <a:gd name="adj" fmla="val 8000"/>
            </a:avLst>
          </a:prstGeom>
          <a:solidFill>
            <a:srgbClr val="EDEAE4"/>
          </a:solidFill>
          <a:ln/>
        </p:spPr>
      </p:sp>
      <p:sp>
        <p:nvSpPr>
          <p:cNvPr id="25" name="Shape 23"/>
          <p:cNvSpPr/>
          <p:nvPr/>
        </p:nvSpPr>
        <p:spPr>
          <a:xfrm>
            <a:off x="11087100" y="4191000"/>
            <a:ext cx="457200" cy="406400"/>
          </a:xfrm>
          <a:custGeom>
            <a:avLst/>
            <a:gdLst/>
            <a:ahLst/>
            <a:cxnLst/>
            <a:rect l="l" t="t" r="r" b="b"/>
            <a:pathLst>
              <a:path w="457200" h="406400">
                <a:moveTo>
                  <a:pt x="228600" y="-12700"/>
                </a:moveTo>
                <a:cubicBezTo>
                  <a:pt x="242649" y="-12700"/>
                  <a:pt x="254000" y="-1349"/>
                  <a:pt x="254000" y="12700"/>
                </a:cubicBezTo>
                <a:lnTo>
                  <a:pt x="254000" y="27226"/>
                </a:lnTo>
                <a:cubicBezTo>
                  <a:pt x="331867" y="38338"/>
                  <a:pt x="393462" y="99933"/>
                  <a:pt x="404574" y="177800"/>
                </a:cubicBezTo>
                <a:lnTo>
                  <a:pt x="419100" y="177800"/>
                </a:lnTo>
                <a:cubicBezTo>
                  <a:pt x="433149" y="177800"/>
                  <a:pt x="444500" y="189151"/>
                  <a:pt x="444500" y="203200"/>
                </a:cubicBezTo>
                <a:cubicBezTo>
                  <a:pt x="444500" y="217249"/>
                  <a:pt x="433149" y="228600"/>
                  <a:pt x="419100" y="228600"/>
                </a:cubicBezTo>
                <a:lnTo>
                  <a:pt x="404574" y="228600"/>
                </a:lnTo>
                <a:cubicBezTo>
                  <a:pt x="393462" y="306467"/>
                  <a:pt x="331867" y="368062"/>
                  <a:pt x="254000" y="379174"/>
                </a:cubicBezTo>
                <a:lnTo>
                  <a:pt x="254000" y="393700"/>
                </a:lnTo>
                <a:cubicBezTo>
                  <a:pt x="254000" y="407749"/>
                  <a:pt x="242649" y="419100"/>
                  <a:pt x="228600" y="419100"/>
                </a:cubicBezTo>
                <a:cubicBezTo>
                  <a:pt x="214551" y="419100"/>
                  <a:pt x="203200" y="407749"/>
                  <a:pt x="203200" y="393700"/>
                </a:cubicBezTo>
                <a:lnTo>
                  <a:pt x="203200" y="379174"/>
                </a:lnTo>
                <a:cubicBezTo>
                  <a:pt x="125333" y="368062"/>
                  <a:pt x="63738" y="306467"/>
                  <a:pt x="52626" y="228600"/>
                </a:cubicBezTo>
                <a:lnTo>
                  <a:pt x="38100" y="228600"/>
                </a:lnTo>
                <a:cubicBezTo>
                  <a:pt x="24051" y="228600"/>
                  <a:pt x="12700" y="217249"/>
                  <a:pt x="12700" y="203200"/>
                </a:cubicBezTo>
                <a:cubicBezTo>
                  <a:pt x="12700" y="189151"/>
                  <a:pt x="24051" y="177800"/>
                  <a:pt x="38100" y="177800"/>
                </a:cubicBezTo>
                <a:lnTo>
                  <a:pt x="52626" y="177800"/>
                </a:lnTo>
                <a:cubicBezTo>
                  <a:pt x="63738" y="99933"/>
                  <a:pt x="125333" y="38338"/>
                  <a:pt x="203200" y="27226"/>
                </a:cubicBezTo>
                <a:lnTo>
                  <a:pt x="203200" y="12700"/>
                </a:lnTo>
                <a:cubicBezTo>
                  <a:pt x="203200" y="-1349"/>
                  <a:pt x="214551" y="-12700"/>
                  <a:pt x="228600" y="-12700"/>
                </a:cubicBezTo>
                <a:close/>
                <a:moveTo>
                  <a:pt x="104140" y="228600"/>
                </a:moveTo>
                <a:cubicBezTo>
                  <a:pt x="114221" y="278368"/>
                  <a:pt x="153432" y="317579"/>
                  <a:pt x="203200" y="327660"/>
                </a:cubicBezTo>
                <a:lnTo>
                  <a:pt x="203200" y="317500"/>
                </a:lnTo>
                <a:cubicBezTo>
                  <a:pt x="203200" y="303451"/>
                  <a:pt x="214551" y="292100"/>
                  <a:pt x="228600" y="292100"/>
                </a:cubicBezTo>
                <a:cubicBezTo>
                  <a:pt x="242649" y="292100"/>
                  <a:pt x="254000" y="303451"/>
                  <a:pt x="254000" y="317500"/>
                </a:cubicBezTo>
                <a:lnTo>
                  <a:pt x="254000" y="327660"/>
                </a:lnTo>
                <a:cubicBezTo>
                  <a:pt x="303768" y="317579"/>
                  <a:pt x="342979" y="278368"/>
                  <a:pt x="353060" y="228600"/>
                </a:cubicBezTo>
                <a:lnTo>
                  <a:pt x="342900" y="228600"/>
                </a:lnTo>
                <a:cubicBezTo>
                  <a:pt x="328851" y="228600"/>
                  <a:pt x="317500" y="217249"/>
                  <a:pt x="317500" y="203200"/>
                </a:cubicBezTo>
                <a:cubicBezTo>
                  <a:pt x="317500" y="189151"/>
                  <a:pt x="328851" y="177800"/>
                  <a:pt x="342900" y="177800"/>
                </a:cubicBezTo>
                <a:lnTo>
                  <a:pt x="353060" y="177800"/>
                </a:lnTo>
                <a:cubicBezTo>
                  <a:pt x="342979" y="128032"/>
                  <a:pt x="303768" y="88821"/>
                  <a:pt x="254000" y="78740"/>
                </a:cubicBezTo>
                <a:lnTo>
                  <a:pt x="254000" y="88900"/>
                </a:lnTo>
                <a:cubicBezTo>
                  <a:pt x="254000" y="102949"/>
                  <a:pt x="242649" y="114300"/>
                  <a:pt x="228600" y="114300"/>
                </a:cubicBezTo>
                <a:cubicBezTo>
                  <a:pt x="214551" y="114300"/>
                  <a:pt x="203200" y="102949"/>
                  <a:pt x="203200" y="88900"/>
                </a:cubicBezTo>
                <a:lnTo>
                  <a:pt x="203200" y="78740"/>
                </a:lnTo>
                <a:cubicBezTo>
                  <a:pt x="153432" y="88821"/>
                  <a:pt x="114221" y="128032"/>
                  <a:pt x="104140" y="177800"/>
                </a:cubicBezTo>
                <a:lnTo>
                  <a:pt x="114300" y="177800"/>
                </a:lnTo>
                <a:cubicBezTo>
                  <a:pt x="128349" y="177800"/>
                  <a:pt x="139700" y="189151"/>
                  <a:pt x="139700" y="203200"/>
                </a:cubicBezTo>
                <a:cubicBezTo>
                  <a:pt x="139700" y="217249"/>
                  <a:pt x="128349" y="228600"/>
                  <a:pt x="114300" y="228600"/>
                </a:cubicBezTo>
                <a:lnTo>
                  <a:pt x="104140" y="228600"/>
                </a:lnTo>
                <a:close/>
                <a:moveTo>
                  <a:pt x="228600" y="165100"/>
                </a:moveTo>
                <a:cubicBezTo>
                  <a:pt x="249628" y="165100"/>
                  <a:pt x="266700" y="182172"/>
                  <a:pt x="266700" y="203200"/>
                </a:cubicBezTo>
                <a:cubicBezTo>
                  <a:pt x="266700" y="224228"/>
                  <a:pt x="249628" y="241300"/>
                  <a:pt x="228600" y="241300"/>
                </a:cubicBezTo>
                <a:cubicBezTo>
                  <a:pt x="207572" y="241300"/>
                  <a:pt x="190500" y="224228"/>
                  <a:pt x="190500" y="203200"/>
                </a:cubicBezTo>
                <a:cubicBezTo>
                  <a:pt x="190500" y="182172"/>
                  <a:pt x="207572" y="165100"/>
                  <a:pt x="228600" y="165100"/>
                </a:cubicBezTo>
                <a:close/>
              </a:path>
            </a:pathLst>
          </a:custGeom>
          <a:solidFill>
            <a:srgbClr val="E85D04"/>
          </a:solidFill>
          <a:ln/>
        </p:spPr>
      </p:sp>
      <p:sp>
        <p:nvSpPr>
          <p:cNvPr id="26" name="Text 24"/>
          <p:cNvSpPr/>
          <p:nvPr/>
        </p:nvSpPr>
        <p:spPr>
          <a:xfrm>
            <a:off x="11684000" y="4102100"/>
            <a:ext cx="3429000" cy="635000"/>
          </a:xfrm>
          <a:prstGeom prst="rect">
            <a:avLst/>
          </a:prstGeom>
          <a:noFill/>
          <a:ln/>
        </p:spPr>
        <p:txBody>
          <a:bodyPr wrap="none" lIns="0" tIns="0" rIns="0" bIns="0" rtlCol="0" anchor="ctr"/>
          <a:lstStyle/>
          <a:p>
            <a:pPr>
              <a:lnSpc>
                <a:spcPct val="110000"/>
              </a:lnSpc>
            </a:pPr>
            <a:r>
              <a:rPr lang="en-US" sz="4200" dirty="0">
                <a:solidFill>
                  <a:srgbClr val="E85D04"/>
                </a:solidFill>
                <a:latin typeface="Liter" pitchFamily="34" charset="0"/>
                <a:ea typeface="Liter" pitchFamily="34" charset="-122"/>
                <a:cs typeface="Liter" pitchFamily="34" charset="-120"/>
              </a:rPr>
              <a:t>54%</a:t>
            </a:r>
            <a:endParaRPr lang="en-US" sz="4200" dirty="0"/>
          </a:p>
        </p:txBody>
      </p:sp>
      <p:sp>
        <p:nvSpPr>
          <p:cNvPr id="27" name="Text 25"/>
          <p:cNvSpPr/>
          <p:nvPr/>
        </p:nvSpPr>
        <p:spPr>
          <a:xfrm>
            <a:off x="11112500" y="4826000"/>
            <a:ext cx="4064000" cy="889000"/>
          </a:xfrm>
          <a:prstGeom prst="rect">
            <a:avLst/>
          </a:prstGeom>
          <a:noFill/>
          <a:ln/>
        </p:spPr>
        <p:txBody>
          <a:bodyPr wrap="square" lIns="0" tIns="0" rIns="0" bIns="0" rtlCol="0" anchor="t"/>
          <a:lstStyle/>
          <a:p>
            <a:pPr>
              <a:lnSpc>
                <a:spcPct val="140000"/>
              </a:lnSpc>
            </a:pPr>
            <a:r>
              <a:rPr lang="en-US" sz="2000" dirty="0">
                <a:solidFill>
                  <a:srgbClr val="1A1A2E"/>
                </a:solidFill>
                <a:latin typeface="Quattrocento Sans" pitchFamily="34" charset="0"/>
                <a:ea typeface="Quattrocento Sans" pitchFamily="34" charset="-122"/>
                <a:cs typeface="Quattrocento Sans" pitchFamily="34" charset="-120"/>
              </a:rPr>
              <a:t>click rate for </a:t>
            </a:r>
            <a:r>
              <a:rPr lang="en-US" sz="2000" b="1" dirty="0">
                <a:solidFill>
                  <a:srgbClr val="1A1A2E"/>
                </a:solidFill>
                <a:latin typeface="Quattrocento Sans" pitchFamily="34" charset="0"/>
                <a:ea typeface="Quattrocento Sans" pitchFamily="34" charset="-122"/>
                <a:cs typeface="Quattrocento Sans" pitchFamily="34" charset="-120"/>
              </a:rPr>
              <a:t>AI spear phishing</a:t>
            </a:r>
            <a:endParaRPr lang="en-US" sz="2000" dirty="0"/>
          </a:p>
        </p:txBody>
      </p:sp>
      <p:sp>
        <p:nvSpPr>
          <p:cNvPr id="28" name="Shape 26"/>
          <p:cNvSpPr/>
          <p:nvPr/>
        </p:nvSpPr>
        <p:spPr>
          <a:xfrm>
            <a:off x="762000" y="6350000"/>
            <a:ext cx="14732000" cy="2032000"/>
          </a:xfrm>
          <a:prstGeom prst="roundRect">
            <a:avLst>
              <a:gd name="adj" fmla="val 6000"/>
            </a:avLst>
          </a:prstGeom>
          <a:solidFill>
            <a:srgbClr val="FDECE4"/>
          </a:solidFill>
          <a:ln/>
        </p:spPr>
      </p:sp>
      <p:sp>
        <p:nvSpPr>
          <p:cNvPr id="29" name="Shape 27"/>
          <p:cNvSpPr/>
          <p:nvPr/>
        </p:nvSpPr>
        <p:spPr>
          <a:xfrm>
            <a:off x="1143000" y="6858000"/>
            <a:ext cx="457200" cy="457200"/>
          </a:xfrm>
          <a:custGeom>
            <a:avLst/>
            <a:gdLst/>
            <a:ahLst/>
            <a:cxnLst/>
            <a:rect l="l" t="t" r="r" b="b"/>
            <a:pathLst>
              <a:path w="457200" h="457200">
                <a:moveTo>
                  <a:pt x="228600" y="0"/>
                </a:moveTo>
                <a:cubicBezTo>
                  <a:pt x="241727" y="0"/>
                  <a:pt x="253782" y="7233"/>
                  <a:pt x="260033" y="18752"/>
                </a:cubicBezTo>
                <a:lnTo>
                  <a:pt x="452914" y="375940"/>
                </a:lnTo>
                <a:cubicBezTo>
                  <a:pt x="458897" y="387013"/>
                  <a:pt x="458629" y="400407"/>
                  <a:pt x="452199" y="411212"/>
                </a:cubicBezTo>
                <a:cubicBezTo>
                  <a:pt x="445770" y="422017"/>
                  <a:pt x="434072" y="428625"/>
                  <a:pt x="421481" y="428625"/>
                </a:cubicBezTo>
                <a:lnTo>
                  <a:pt x="35719" y="428625"/>
                </a:lnTo>
                <a:cubicBezTo>
                  <a:pt x="23128" y="428625"/>
                  <a:pt x="11519" y="422017"/>
                  <a:pt x="5001" y="411212"/>
                </a:cubicBezTo>
                <a:cubicBezTo>
                  <a:pt x="-1518" y="400407"/>
                  <a:pt x="-1697" y="387013"/>
                  <a:pt x="4286" y="375940"/>
                </a:cubicBezTo>
                <a:lnTo>
                  <a:pt x="197168" y="18752"/>
                </a:lnTo>
                <a:cubicBezTo>
                  <a:pt x="203418" y="7233"/>
                  <a:pt x="215473" y="0"/>
                  <a:pt x="228600" y="0"/>
                </a:cubicBezTo>
                <a:close/>
                <a:moveTo>
                  <a:pt x="228600" y="150019"/>
                </a:moveTo>
                <a:cubicBezTo>
                  <a:pt x="216724" y="150019"/>
                  <a:pt x="207169" y="159574"/>
                  <a:pt x="207169" y="171450"/>
                </a:cubicBezTo>
                <a:lnTo>
                  <a:pt x="207169" y="271463"/>
                </a:lnTo>
                <a:cubicBezTo>
                  <a:pt x="207169" y="283339"/>
                  <a:pt x="216724" y="292894"/>
                  <a:pt x="228600" y="292894"/>
                </a:cubicBezTo>
                <a:cubicBezTo>
                  <a:pt x="240476" y="292894"/>
                  <a:pt x="250031" y="283339"/>
                  <a:pt x="250031" y="271463"/>
                </a:cubicBezTo>
                <a:lnTo>
                  <a:pt x="250031" y="171450"/>
                </a:lnTo>
                <a:cubicBezTo>
                  <a:pt x="250031" y="159574"/>
                  <a:pt x="240476" y="150019"/>
                  <a:pt x="228600" y="150019"/>
                </a:cubicBezTo>
                <a:close/>
                <a:moveTo>
                  <a:pt x="252442" y="342900"/>
                </a:moveTo>
                <a:cubicBezTo>
                  <a:pt x="252985" y="334050"/>
                  <a:pt x="248571" y="325630"/>
                  <a:pt x="240985" y="321041"/>
                </a:cubicBezTo>
                <a:cubicBezTo>
                  <a:pt x="233398" y="316452"/>
                  <a:pt x="223891" y="316452"/>
                  <a:pt x="216305" y="321041"/>
                </a:cubicBezTo>
                <a:cubicBezTo>
                  <a:pt x="208718" y="325630"/>
                  <a:pt x="204305" y="334050"/>
                  <a:pt x="204847" y="342900"/>
                </a:cubicBezTo>
                <a:cubicBezTo>
                  <a:pt x="204305" y="351750"/>
                  <a:pt x="208718" y="360170"/>
                  <a:pt x="216305" y="364759"/>
                </a:cubicBezTo>
                <a:cubicBezTo>
                  <a:pt x="223891" y="369348"/>
                  <a:pt x="233398" y="369348"/>
                  <a:pt x="240985" y="364759"/>
                </a:cubicBezTo>
                <a:cubicBezTo>
                  <a:pt x="248571" y="360170"/>
                  <a:pt x="252985" y="351750"/>
                  <a:pt x="252442" y="342900"/>
                </a:cubicBezTo>
                <a:close/>
              </a:path>
            </a:pathLst>
          </a:custGeom>
          <a:solidFill>
            <a:srgbClr val="E85D04"/>
          </a:solidFill>
          <a:ln/>
        </p:spPr>
      </p:sp>
      <p:sp>
        <p:nvSpPr>
          <p:cNvPr id="30" name="Text 28"/>
          <p:cNvSpPr/>
          <p:nvPr/>
        </p:nvSpPr>
        <p:spPr>
          <a:xfrm>
            <a:off x="1778000" y="6604000"/>
            <a:ext cx="5080000" cy="406400"/>
          </a:xfrm>
          <a:prstGeom prst="rect">
            <a:avLst/>
          </a:prstGeom>
          <a:noFill/>
          <a:ln/>
        </p:spPr>
        <p:txBody>
          <a:bodyPr wrap="none" lIns="0" tIns="0" rIns="0" bIns="0" rtlCol="0" anchor="ctr"/>
          <a:lstStyle/>
          <a:p>
            <a:pPr>
              <a:lnSpc>
                <a:spcPct val="140000"/>
              </a:lnSpc>
            </a:pPr>
            <a:r>
              <a:rPr lang="en-US" sz="2000" b="1" dirty="0">
                <a:solidFill>
                  <a:srgbClr val="E85D04"/>
                </a:solidFill>
                <a:latin typeface="QuattrocentoSans" pitchFamily="34" charset="0"/>
                <a:ea typeface="QuattrocentoSans" pitchFamily="34" charset="-122"/>
                <a:cs typeface="QuattrocentoSans" pitchFamily="34" charset="-120"/>
              </a:rPr>
              <a:t>AI Has Changed the Economics</a:t>
            </a:r>
            <a:endParaRPr lang="en-US" sz="2000" dirty="0"/>
          </a:p>
        </p:txBody>
      </p:sp>
      <p:sp>
        <p:nvSpPr>
          <p:cNvPr id="31" name="Text 29"/>
          <p:cNvSpPr/>
          <p:nvPr/>
        </p:nvSpPr>
        <p:spPr>
          <a:xfrm>
            <a:off x="1778000" y="7086600"/>
            <a:ext cx="13335000" cy="1016000"/>
          </a:xfrm>
          <a:prstGeom prst="rect">
            <a:avLst/>
          </a:prstGeom>
          <a:noFill/>
          <a:ln/>
        </p:spPr>
        <p:txBody>
          <a:bodyPr wrap="square" lIns="0" tIns="0" rIns="0" bIns="0" rtlCol="0" anchor="t"/>
          <a:lstStyle/>
          <a:p>
            <a:pPr>
              <a:lnSpc>
                <a:spcPct val="150000"/>
              </a:lnSpc>
            </a:pPr>
            <a:r>
              <a:rPr lang="en-US" sz="2000" dirty="0">
                <a:solidFill>
                  <a:srgbClr val="1A1A2E"/>
                </a:solidFill>
                <a:latin typeface="Quattrocento Sans" pitchFamily="34" charset="0"/>
                <a:ea typeface="Quattrocento Sans" pitchFamily="34" charset="-122"/>
                <a:cs typeface="Quattrocento Sans" pitchFamily="34" charset="-120"/>
              </a:rPr>
              <a:t>AI-automated spear phishing matches human-expert click rates at </a:t>
            </a:r>
            <a:r>
              <a:rPr lang="en-US" sz="2000" b="1" dirty="0">
                <a:solidFill>
                  <a:srgbClr val="1A1A2E"/>
                </a:solidFill>
                <a:latin typeface="Quattrocento Sans" pitchFamily="34" charset="0"/>
                <a:ea typeface="Quattrocento Sans" pitchFamily="34" charset="-122"/>
                <a:cs typeface="Quattrocento Sans" pitchFamily="34" charset="-120"/>
              </a:rPr>
              <a:t>95% lower cost</a:t>
            </a:r>
            <a:r>
              <a:rPr lang="en-US" sz="2000" dirty="0">
                <a:solidFill>
                  <a:srgbClr val="1A1A2E"/>
                </a:solidFill>
                <a:latin typeface="Quattrocento Sans" pitchFamily="34" charset="0"/>
                <a:ea typeface="Quattrocento Sans" pitchFamily="34" charset="-122"/>
                <a:cs typeface="Quattrocento Sans" pitchFamily="34" charset="-120"/>
              </a:rPr>
              <a:t>. The barrier to sophisticated attacks has dropped to near zero — what once required dedicated criminal teams now costs under $5 per campaign.</a:t>
            </a:r>
            <a:endParaRPr lang="en-US" sz="2000" dirty="0"/>
          </a:p>
        </p:txBody>
      </p:sp>
      <p:sp>
        <p:nvSpPr>
          <p:cNvPr id="32" name="Text 30"/>
          <p:cNvSpPr/>
          <p:nvPr/>
        </p:nvSpPr>
        <p:spPr>
          <a:xfrm>
            <a:off x="762000" y="8509000"/>
            <a:ext cx="7620000" cy="381000"/>
          </a:xfrm>
          <a:prstGeom prst="rect">
            <a:avLst/>
          </a:prstGeom>
          <a:noFill/>
          <a:ln/>
        </p:spPr>
        <p:txBody>
          <a:bodyPr wrap="square" lIns="0" tIns="0" rIns="0" bIns="0" rtlCol="0" anchor="ctr"/>
          <a:lstStyle/>
          <a:p>
            <a:pPr>
              <a:lnSpc>
                <a:spcPct val="140000"/>
              </a:lnSpc>
            </a:pPr>
            <a:r>
              <a:rPr lang="en-US" sz="1400" dirty="0">
                <a:solidFill>
                  <a:srgbClr val="5C6B7A"/>
                </a:solidFill>
                <a:latin typeface="QuattrocentoSans" pitchFamily="34" charset="0"/>
                <a:ea typeface="QuattrocentoSans" pitchFamily="34" charset="-122"/>
                <a:cs typeface="QuattrocentoSans" pitchFamily="34" charset="-120"/>
              </a:rPr>
              <a:t>Sources: Keepnet/VIPRE 2025, CrowdStrike 2025, SentinelOne 2026</a:t>
            </a:r>
            <a:endParaRPr lang="en-US" sz="1400" dirty="0"/>
          </a:p>
        </p:txBody>
      </p:sp>
      <p:sp>
        <p:nvSpPr>
          <p:cNvPr id="33" name="Text 31"/>
          <p:cNvSpPr/>
          <p:nvPr/>
        </p:nvSpPr>
        <p:spPr>
          <a:xfrm>
            <a:off x="13462000" y="8699500"/>
            <a:ext cx="2032000" cy="254000"/>
          </a:xfrm>
          <a:prstGeom prst="rect">
            <a:avLst/>
          </a:prstGeom>
          <a:noFill/>
          <a:ln/>
        </p:spPr>
        <p:txBody>
          <a:bodyPr wrap="none" lIns="0" tIns="0" rIns="0" bIns="0" rtlCol="0" anchor="ctr"/>
          <a:lstStyle/>
          <a:p>
            <a:pPr algn="r">
              <a:lnSpc>
                <a:spcPct val="140000"/>
              </a:lnSpc>
            </a:pPr>
            <a:r>
              <a:rPr lang="en-US" sz="1400" dirty="0">
                <a:solidFill>
                  <a:srgbClr val="5C6B7A"/>
                </a:solidFill>
                <a:latin typeface="QuattrocentoSans" pitchFamily="34" charset="0"/>
                <a:ea typeface="QuattrocentoSans" pitchFamily="34" charset="-122"/>
                <a:cs typeface="QuattrocentoSans" pitchFamily="34" charset="-120"/>
              </a:rPr>
              <a:t>01 / Understanding</a:t>
            </a:r>
            <a:endParaRPr lang="en-US" sz="14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gradFill flip="none" rotWithShape="1">
            <a:gsLst>
              <a:gs pos="0">
                <a:srgbClr val="1B263B">
                  <a:alpha val="93000"/>
                </a:srgbClr>
              </a:gs>
              <a:gs pos="60000">
                <a:srgbClr val="1B263B">
                  <a:alpha val="80000"/>
                </a:srgbClr>
              </a:gs>
              <a:gs pos="100000">
                <a:srgbClr val="1B263B">
                  <a:alpha val="40000"/>
                </a:srgbClr>
              </a:gs>
            </a:gsLst>
            <a:lin ang="0" scaled="1"/>
          </a:gradFill>
          <a:ln/>
        </p:spPr>
      </p:sp>
      <p:sp>
        <p:nvSpPr>
          <p:cNvPr id="3" name="Text 1"/>
          <p:cNvSpPr/>
          <p:nvPr/>
        </p:nvSpPr>
        <p:spPr>
          <a:xfrm>
            <a:off x="1016000" y="2540000"/>
            <a:ext cx="2540000" cy="1016000"/>
          </a:xfrm>
          <a:prstGeom prst="rect">
            <a:avLst/>
          </a:prstGeom>
          <a:noFill/>
          <a:ln/>
        </p:spPr>
        <p:txBody>
          <a:bodyPr wrap="none" lIns="0" tIns="0" rIns="0" bIns="0" rtlCol="0" anchor="ctr"/>
          <a:lstStyle/>
          <a:p>
            <a:pPr>
              <a:lnSpc>
                <a:spcPct val="100000"/>
              </a:lnSpc>
            </a:pPr>
            <a:r>
              <a:rPr lang="en-US" sz="7200" dirty="0">
                <a:solidFill>
                  <a:srgbClr val="E85D04"/>
                </a:solidFill>
                <a:latin typeface="Liter" pitchFamily="34" charset="0"/>
                <a:ea typeface="Liter" pitchFamily="34" charset="-122"/>
                <a:cs typeface="Liter" pitchFamily="34" charset="-120"/>
              </a:rPr>
              <a:t>02</a:t>
            </a:r>
            <a:endParaRPr lang="en-US" sz="1600" dirty="0"/>
          </a:p>
        </p:txBody>
      </p:sp>
      <p:sp>
        <p:nvSpPr>
          <p:cNvPr id="4" name="Shape 2"/>
          <p:cNvSpPr/>
          <p:nvPr/>
        </p:nvSpPr>
        <p:spPr>
          <a:xfrm>
            <a:off x="1016000" y="3683000"/>
            <a:ext cx="1270000" cy="38100"/>
          </a:xfrm>
          <a:prstGeom prst="rect">
            <a:avLst/>
          </a:prstGeom>
          <a:solidFill>
            <a:srgbClr val="E85D04"/>
          </a:solidFill>
          <a:ln/>
        </p:spPr>
      </p:sp>
      <p:sp>
        <p:nvSpPr>
          <p:cNvPr id="5" name="Text 3"/>
          <p:cNvSpPr/>
          <p:nvPr/>
        </p:nvSpPr>
        <p:spPr>
          <a:xfrm>
            <a:off x="1016000" y="3937000"/>
            <a:ext cx="8890000" cy="698500"/>
          </a:xfrm>
          <a:prstGeom prst="rect">
            <a:avLst/>
          </a:prstGeom>
          <a:noFill/>
          <a:ln/>
        </p:spPr>
        <p:txBody>
          <a:bodyPr wrap="none" lIns="0" tIns="0" rIns="0" bIns="0" rtlCol="0" anchor="ctr"/>
          <a:lstStyle/>
          <a:p>
            <a:pPr>
              <a:lnSpc>
                <a:spcPct val="120000"/>
              </a:lnSpc>
            </a:pPr>
            <a:r>
              <a:rPr lang="en-US" sz="3800" kern="0" spc="200" dirty="0">
                <a:solidFill>
                  <a:srgbClr val="FFFFFF"/>
                </a:solidFill>
                <a:latin typeface="Liter" pitchFamily="34" charset="0"/>
                <a:ea typeface="Liter" pitchFamily="34" charset="-122"/>
                <a:cs typeface="Liter" pitchFamily="34" charset="-120"/>
              </a:rPr>
              <a:t>RECOGNIZING THE THREATS</a:t>
            </a:r>
            <a:endParaRPr lang="en-US" sz="3800" dirty="0"/>
          </a:p>
        </p:txBody>
      </p:sp>
      <p:sp>
        <p:nvSpPr>
          <p:cNvPr id="6" name="Text 4"/>
          <p:cNvSpPr/>
          <p:nvPr/>
        </p:nvSpPr>
        <p:spPr>
          <a:xfrm>
            <a:off x="1016000" y="4826000"/>
            <a:ext cx="8890000" cy="444500"/>
          </a:xfrm>
          <a:prstGeom prst="rect">
            <a:avLst/>
          </a:prstGeom>
          <a:noFill/>
          <a:ln/>
        </p:spPr>
        <p:txBody>
          <a:bodyPr wrap="none" lIns="0" tIns="0" rIns="0" bIns="0" rtlCol="0" anchor="ctr"/>
          <a:lstStyle/>
          <a:p>
            <a:pPr>
              <a:lnSpc>
                <a:spcPct val="10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Learn to spot phishing emails and fake websites before it's too late</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762000" y="571500"/>
            <a:ext cx="11430000" cy="508000"/>
          </a:xfrm>
          <a:prstGeom prst="rect">
            <a:avLst/>
          </a:prstGeom>
          <a:noFill/>
          <a:ln/>
        </p:spPr>
        <p:txBody>
          <a:bodyPr wrap="none" lIns="0" tIns="0" rIns="0" bIns="0" rtlCol="0" anchor="ctr"/>
          <a:lstStyle/>
          <a:p>
            <a:pPr>
              <a:lnSpc>
                <a:spcPct val="130000"/>
              </a:lnSpc>
            </a:pPr>
            <a:r>
              <a:rPr lang="en-US" sz="2800" dirty="0">
                <a:solidFill>
                  <a:srgbClr val="1B263B"/>
                </a:solidFill>
                <a:latin typeface="Liter" pitchFamily="34" charset="0"/>
                <a:ea typeface="Liter" pitchFamily="34" charset="-122"/>
                <a:cs typeface="Liter" pitchFamily="34" charset="-120"/>
              </a:rPr>
              <a:t>Red Flags: How to Spot a Phishing Email</a:t>
            </a:r>
            <a:endParaRPr lang="en-US" sz="2800" dirty="0"/>
          </a:p>
        </p:txBody>
      </p:sp>
      <p:sp>
        <p:nvSpPr>
          <p:cNvPr id="3" name="Shape 1"/>
          <p:cNvSpPr/>
          <p:nvPr/>
        </p:nvSpPr>
        <p:spPr>
          <a:xfrm>
            <a:off x="762000" y="1143000"/>
            <a:ext cx="762000" cy="38100"/>
          </a:xfrm>
          <a:prstGeom prst="rect">
            <a:avLst/>
          </a:prstGeom>
          <a:solidFill>
            <a:srgbClr val="E85D04"/>
          </a:solidFill>
          <a:ln/>
        </p:spPr>
      </p:sp>
      <p:sp>
        <p:nvSpPr>
          <p:cNvPr id="4" name="Shape 2"/>
          <p:cNvSpPr/>
          <p:nvPr/>
        </p:nvSpPr>
        <p:spPr>
          <a:xfrm>
            <a:off x="762000" y="1460500"/>
            <a:ext cx="4699000" cy="2222500"/>
          </a:xfrm>
          <a:prstGeom prst="roundRect">
            <a:avLst>
              <a:gd name="adj" fmla="val 6000"/>
            </a:avLst>
          </a:prstGeom>
          <a:solidFill>
            <a:srgbClr val="EDEAE4"/>
          </a:solidFill>
          <a:ln/>
        </p:spPr>
      </p:sp>
      <p:sp>
        <p:nvSpPr>
          <p:cNvPr id="5" name="Text 3"/>
          <p:cNvSpPr/>
          <p:nvPr/>
        </p:nvSpPr>
        <p:spPr>
          <a:xfrm>
            <a:off x="1016000" y="1587500"/>
            <a:ext cx="508000" cy="406400"/>
          </a:xfrm>
          <a:prstGeom prst="rect">
            <a:avLst/>
          </a:prstGeom>
          <a:noFill/>
          <a:ln/>
        </p:spPr>
        <p:txBody>
          <a:bodyPr wrap="none" lIns="0" tIns="0" rIns="0" bIns="0" rtlCol="0" anchor="ctr"/>
          <a:lstStyle/>
          <a:p>
            <a:pPr algn="ctr">
              <a:lnSpc>
                <a:spcPct val="100000"/>
              </a:lnSpc>
            </a:pPr>
            <a:r>
              <a:rPr lang="en-US" sz="2000" dirty="0">
                <a:solidFill>
                  <a:srgbClr val="E85D04"/>
                </a:solidFill>
                <a:latin typeface="Liter" pitchFamily="34" charset="0"/>
                <a:ea typeface="Liter" pitchFamily="34" charset="-122"/>
                <a:cs typeface="Liter" pitchFamily="34" charset="-120"/>
              </a:rPr>
              <a:t>1</a:t>
            </a:r>
            <a:endParaRPr lang="en-US" sz="2000" dirty="0"/>
          </a:p>
        </p:txBody>
      </p:sp>
      <p:sp>
        <p:nvSpPr>
          <p:cNvPr id="6" name="Text 4"/>
          <p:cNvSpPr/>
          <p:nvPr/>
        </p:nvSpPr>
        <p:spPr>
          <a:xfrm>
            <a:off x="1587500" y="1587500"/>
            <a:ext cx="3619500" cy="406400"/>
          </a:xfrm>
          <a:prstGeom prst="rect">
            <a:avLst/>
          </a:prstGeom>
          <a:noFill/>
          <a:ln/>
        </p:spPr>
        <p:txBody>
          <a:bodyPr wrap="none" lIns="0" tIns="0" rIns="0" bIns="0" rtlCol="0" anchor="ctr"/>
          <a:lstStyle/>
          <a:p>
            <a:pPr>
              <a:lnSpc>
                <a:spcPct val="100000"/>
              </a:lnSpc>
            </a:pPr>
            <a:r>
              <a:rPr lang="en-US" sz="2000" dirty="0">
                <a:solidFill>
                  <a:srgbClr val="1B263B"/>
                </a:solidFill>
                <a:latin typeface="Liter" pitchFamily="34" charset="0"/>
                <a:ea typeface="Liter" pitchFamily="34" charset="-122"/>
                <a:cs typeface="Liter" pitchFamily="34" charset="-120"/>
              </a:rPr>
              <a:t>Generic Greetings</a:t>
            </a:r>
            <a:endParaRPr lang="en-US" sz="2000" dirty="0"/>
          </a:p>
        </p:txBody>
      </p:sp>
      <p:sp>
        <p:nvSpPr>
          <p:cNvPr id="7" name="Text 5"/>
          <p:cNvSpPr/>
          <p:nvPr/>
        </p:nvSpPr>
        <p:spPr>
          <a:xfrm>
            <a:off x="1015999" y="2095500"/>
            <a:ext cx="4354653" cy="1397000"/>
          </a:xfrm>
          <a:prstGeom prst="rect">
            <a:avLst/>
          </a:prstGeom>
          <a:noFill/>
          <a:ln/>
        </p:spPr>
        <p:txBody>
          <a:bodyPr wrap="square" lIns="0" tIns="0" rIns="0" bIns="0" rtlCol="0" anchor="t"/>
          <a:lstStyle/>
          <a:p>
            <a:pPr>
              <a:lnSpc>
                <a:spcPct val="145000"/>
              </a:lnSpc>
            </a:pPr>
            <a:r>
              <a:rPr lang="en-US" sz="2000" dirty="0">
                <a:solidFill>
                  <a:srgbClr val="1A1A2E"/>
                </a:solidFill>
                <a:latin typeface="Quattrocento Sans" pitchFamily="34" charset="0"/>
                <a:ea typeface="Quattrocento Sans" pitchFamily="34" charset="-122"/>
                <a:cs typeface="Quattrocento Sans" pitchFamily="34" charset="-120"/>
              </a:rPr>
              <a:t>"Dear Customer" or "Hello User" instead of your actual name. Legitimate organizations address you personally.</a:t>
            </a:r>
            <a:endParaRPr lang="en-US" sz="2000" dirty="0"/>
          </a:p>
        </p:txBody>
      </p:sp>
      <p:sp>
        <p:nvSpPr>
          <p:cNvPr id="8" name="Shape 6"/>
          <p:cNvSpPr/>
          <p:nvPr/>
        </p:nvSpPr>
        <p:spPr>
          <a:xfrm>
            <a:off x="5778500" y="1460500"/>
            <a:ext cx="4699000" cy="2222500"/>
          </a:xfrm>
          <a:prstGeom prst="roundRect">
            <a:avLst>
              <a:gd name="adj" fmla="val 6000"/>
            </a:avLst>
          </a:prstGeom>
          <a:solidFill>
            <a:srgbClr val="EDEAE4"/>
          </a:solidFill>
          <a:ln/>
        </p:spPr>
      </p:sp>
      <p:sp>
        <p:nvSpPr>
          <p:cNvPr id="9" name="Text 7"/>
          <p:cNvSpPr/>
          <p:nvPr/>
        </p:nvSpPr>
        <p:spPr>
          <a:xfrm>
            <a:off x="6032500" y="1587500"/>
            <a:ext cx="508000" cy="406400"/>
          </a:xfrm>
          <a:prstGeom prst="rect">
            <a:avLst/>
          </a:prstGeom>
          <a:noFill/>
          <a:ln/>
        </p:spPr>
        <p:txBody>
          <a:bodyPr wrap="none" lIns="0" tIns="0" rIns="0" bIns="0" rtlCol="0" anchor="ctr"/>
          <a:lstStyle/>
          <a:p>
            <a:pPr algn="ctr">
              <a:lnSpc>
                <a:spcPct val="100000"/>
              </a:lnSpc>
            </a:pPr>
            <a:r>
              <a:rPr lang="en-US" sz="2000" dirty="0">
                <a:solidFill>
                  <a:srgbClr val="E85D04"/>
                </a:solidFill>
                <a:latin typeface="Liter" pitchFamily="34" charset="0"/>
                <a:ea typeface="Liter" pitchFamily="34" charset="-122"/>
                <a:cs typeface="Liter" pitchFamily="34" charset="-120"/>
              </a:rPr>
              <a:t>2</a:t>
            </a:r>
            <a:endParaRPr lang="en-US" sz="2000" dirty="0"/>
          </a:p>
        </p:txBody>
      </p:sp>
      <p:sp>
        <p:nvSpPr>
          <p:cNvPr id="10" name="Text 8"/>
          <p:cNvSpPr/>
          <p:nvPr/>
        </p:nvSpPr>
        <p:spPr>
          <a:xfrm>
            <a:off x="6604000" y="1587500"/>
            <a:ext cx="3619500" cy="406400"/>
          </a:xfrm>
          <a:prstGeom prst="rect">
            <a:avLst/>
          </a:prstGeom>
          <a:noFill/>
          <a:ln/>
        </p:spPr>
        <p:txBody>
          <a:bodyPr wrap="none" lIns="0" tIns="0" rIns="0" bIns="0" rtlCol="0" anchor="ctr"/>
          <a:lstStyle/>
          <a:p>
            <a:pPr>
              <a:lnSpc>
                <a:spcPct val="100000"/>
              </a:lnSpc>
            </a:pPr>
            <a:r>
              <a:rPr lang="en-US" sz="2000" dirty="0">
                <a:solidFill>
                  <a:srgbClr val="1B263B"/>
                </a:solidFill>
                <a:latin typeface="Liter" pitchFamily="34" charset="0"/>
                <a:ea typeface="Liter" pitchFamily="34" charset="-122"/>
                <a:cs typeface="Liter" pitchFamily="34" charset="-120"/>
              </a:rPr>
              <a:t>Suspicious Sender</a:t>
            </a:r>
            <a:endParaRPr lang="en-US" sz="2000" dirty="0"/>
          </a:p>
        </p:txBody>
      </p:sp>
      <p:sp>
        <p:nvSpPr>
          <p:cNvPr id="11" name="Text 9"/>
          <p:cNvSpPr/>
          <p:nvPr/>
        </p:nvSpPr>
        <p:spPr>
          <a:xfrm>
            <a:off x="6032500" y="2095500"/>
            <a:ext cx="4191000" cy="1397000"/>
          </a:xfrm>
          <a:prstGeom prst="rect">
            <a:avLst/>
          </a:prstGeom>
          <a:noFill/>
          <a:ln/>
        </p:spPr>
        <p:txBody>
          <a:bodyPr wrap="square" lIns="0" tIns="0" rIns="0" bIns="0" rtlCol="0" anchor="t"/>
          <a:lstStyle/>
          <a:p>
            <a:pPr>
              <a:lnSpc>
                <a:spcPct val="145000"/>
              </a:lnSpc>
            </a:pPr>
            <a:r>
              <a:rPr lang="en-US" sz="2000" dirty="0">
                <a:solidFill>
                  <a:srgbClr val="1A1A2E"/>
                </a:solidFill>
                <a:latin typeface="Quattrocento Sans" pitchFamily="34" charset="0"/>
                <a:ea typeface="Quattrocento Sans" pitchFamily="34" charset="-122"/>
                <a:cs typeface="Quattrocento Sans" pitchFamily="34" charset="-120"/>
              </a:rPr>
              <a:t>Check email addresses carefully. Look for misspellings, extra characters, or wrong domains.</a:t>
            </a:r>
            <a:endParaRPr lang="en-US" sz="2000" dirty="0"/>
          </a:p>
        </p:txBody>
      </p:sp>
      <p:sp>
        <p:nvSpPr>
          <p:cNvPr id="12" name="Shape 10"/>
          <p:cNvSpPr/>
          <p:nvPr/>
        </p:nvSpPr>
        <p:spPr>
          <a:xfrm>
            <a:off x="10795000" y="1460500"/>
            <a:ext cx="4699000" cy="2222500"/>
          </a:xfrm>
          <a:prstGeom prst="roundRect">
            <a:avLst>
              <a:gd name="adj" fmla="val 6000"/>
            </a:avLst>
          </a:prstGeom>
          <a:solidFill>
            <a:srgbClr val="EDEAE4"/>
          </a:solidFill>
          <a:ln/>
        </p:spPr>
      </p:sp>
      <p:sp>
        <p:nvSpPr>
          <p:cNvPr id="13" name="Text 11"/>
          <p:cNvSpPr/>
          <p:nvPr/>
        </p:nvSpPr>
        <p:spPr>
          <a:xfrm>
            <a:off x="11049000" y="1587500"/>
            <a:ext cx="508000" cy="406400"/>
          </a:xfrm>
          <a:prstGeom prst="rect">
            <a:avLst/>
          </a:prstGeom>
          <a:noFill/>
          <a:ln/>
        </p:spPr>
        <p:txBody>
          <a:bodyPr wrap="none" lIns="0" tIns="0" rIns="0" bIns="0" rtlCol="0" anchor="ctr"/>
          <a:lstStyle/>
          <a:p>
            <a:pPr algn="ctr">
              <a:lnSpc>
                <a:spcPct val="100000"/>
              </a:lnSpc>
            </a:pPr>
            <a:r>
              <a:rPr lang="en-US" sz="2000" dirty="0">
                <a:solidFill>
                  <a:srgbClr val="E85D04"/>
                </a:solidFill>
                <a:latin typeface="Liter" pitchFamily="34" charset="0"/>
                <a:ea typeface="Liter" pitchFamily="34" charset="-122"/>
                <a:cs typeface="Liter" pitchFamily="34" charset="-120"/>
              </a:rPr>
              <a:t>3</a:t>
            </a:r>
            <a:endParaRPr lang="en-US" sz="2000" dirty="0"/>
          </a:p>
        </p:txBody>
      </p:sp>
      <p:sp>
        <p:nvSpPr>
          <p:cNvPr id="14" name="Text 12"/>
          <p:cNvSpPr/>
          <p:nvPr/>
        </p:nvSpPr>
        <p:spPr>
          <a:xfrm>
            <a:off x="11620500" y="1587500"/>
            <a:ext cx="3619500" cy="406400"/>
          </a:xfrm>
          <a:prstGeom prst="rect">
            <a:avLst/>
          </a:prstGeom>
          <a:noFill/>
          <a:ln/>
        </p:spPr>
        <p:txBody>
          <a:bodyPr wrap="none" lIns="0" tIns="0" rIns="0" bIns="0" rtlCol="0" anchor="ctr"/>
          <a:lstStyle/>
          <a:p>
            <a:pPr>
              <a:lnSpc>
                <a:spcPct val="100000"/>
              </a:lnSpc>
            </a:pPr>
            <a:r>
              <a:rPr lang="en-US" sz="2000" dirty="0">
                <a:solidFill>
                  <a:srgbClr val="1B263B"/>
                </a:solidFill>
                <a:latin typeface="Liter" pitchFamily="34" charset="0"/>
                <a:ea typeface="Liter" pitchFamily="34" charset="-122"/>
                <a:cs typeface="Liter" pitchFamily="34" charset="-120"/>
              </a:rPr>
              <a:t>Urgency &amp; Pressure</a:t>
            </a:r>
            <a:endParaRPr lang="en-US" sz="2000" dirty="0"/>
          </a:p>
        </p:txBody>
      </p:sp>
      <p:sp>
        <p:nvSpPr>
          <p:cNvPr id="15" name="Text 13"/>
          <p:cNvSpPr/>
          <p:nvPr/>
        </p:nvSpPr>
        <p:spPr>
          <a:xfrm>
            <a:off x="11049000" y="2095500"/>
            <a:ext cx="4191000" cy="1397000"/>
          </a:xfrm>
          <a:prstGeom prst="rect">
            <a:avLst/>
          </a:prstGeom>
          <a:noFill/>
          <a:ln/>
        </p:spPr>
        <p:txBody>
          <a:bodyPr wrap="square" lIns="0" tIns="0" rIns="0" bIns="0" rtlCol="0" anchor="t"/>
          <a:lstStyle/>
          <a:p>
            <a:pPr>
              <a:lnSpc>
                <a:spcPct val="145000"/>
              </a:lnSpc>
            </a:pPr>
            <a:r>
              <a:rPr lang="en-US" sz="2000" dirty="0">
                <a:solidFill>
                  <a:srgbClr val="1A1A2E"/>
                </a:solidFill>
                <a:latin typeface="Quattrocento Sans" pitchFamily="34" charset="0"/>
                <a:ea typeface="Quattrocento Sans" pitchFamily="34" charset="-122"/>
                <a:cs typeface="Quattrocento Sans" pitchFamily="34" charset="-120"/>
              </a:rPr>
              <a:t>"Account will be suspended!" or "Act within 24 hours!" — pressure to act without thinking.</a:t>
            </a:r>
            <a:endParaRPr lang="en-US" sz="2000" dirty="0"/>
          </a:p>
        </p:txBody>
      </p:sp>
      <p:sp>
        <p:nvSpPr>
          <p:cNvPr id="16" name="Shape 14"/>
          <p:cNvSpPr/>
          <p:nvPr/>
        </p:nvSpPr>
        <p:spPr>
          <a:xfrm>
            <a:off x="762000" y="4000500"/>
            <a:ext cx="4699000" cy="2222500"/>
          </a:xfrm>
          <a:prstGeom prst="roundRect">
            <a:avLst>
              <a:gd name="adj" fmla="val 6000"/>
            </a:avLst>
          </a:prstGeom>
          <a:solidFill>
            <a:srgbClr val="EDEAE4"/>
          </a:solidFill>
          <a:ln/>
        </p:spPr>
      </p:sp>
      <p:sp>
        <p:nvSpPr>
          <p:cNvPr id="17" name="Text 15"/>
          <p:cNvSpPr/>
          <p:nvPr/>
        </p:nvSpPr>
        <p:spPr>
          <a:xfrm>
            <a:off x="1016000" y="4127500"/>
            <a:ext cx="508000" cy="406400"/>
          </a:xfrm>
          <a:prstGeom prst="rect">
            <a:avLst/>
          </a:prstGeom>
          <a:noFill/>
          <a:ln/>
        </p:spPr>
        <p:txBody>
          <a:bodyPr wrap="none" lIns="0" tIns="0" rIns="0" bIns="0" rtlCol="0" anchor="ctr"/>
          <a:lstStyle/>
          <a:p>
            <a:pPr algn="ctr">
              <a:lnSpc>
                <a:spcPct val="100000"/>
              </a:lnSpc>
            </a:pPr>
            <a:r>
              <a:rPr lang="en-US" sz="2000" dirty="0">
                <a:solidFill>
                  <a:srgbClr val="E85D04"/>
                </a:solidFill>
                <a:latin typeface="Liter" pitchFamily="34" charset="0"/>
                <a:ea typeface="Liter" pitchFamily="34" charset="-122"/>
                <a:cs typeface="Liter" pitchFamily="34" charset="-120"/>
              </a:rPr>
              <a:t>4</a:t>
            </a:r>
            <a:endParaRPr lang="en-US" sz="2000" dirty="0"/>
          </a:p>
        </p:txBody>
      </p:sp>
      <p:sp>
        <p:nvSpPr>
          <p:cNvPr id="18" name="Text 16"/>
          <p:cNvSpPr/>
          <p:nvPr/>
        </p:nvSpPr>
        <p:spPr>
          <a:xfrm>
            <a:off x="1587500" y="4127500"/>
            <a:ext cx="3619500" cy="406400"/>
          </a:xfrm>
          <a:prstGeom prst="rect">
            <a:avLst/>
          </a:prstGeom>
          <a:noFill/>
          <a:ln/>
        </p:spPr>
        <p:txBody>
          <a:bodyPr wrap="none" lIns="0" tIns="0" rIns="0" bIns="0" rtlCol="0" anchor="ctr"/>
          <a:lstStyle/>
          <a:p>
            <a:pPr>
              <a:lnSpc>
                <a:spcPct val="100000"/>
              </a:lnSpc>
            </a:pPr>
            <a:r>
              <a:rPr lang="en-US" sz="2000" dirty="0">
                <a:solidFill>
                  <a:srgbClr val="1B263B"/>
                </a:solidFill>
                <a:latin typeface="Liter" pitchFamily="34" charset="0"/>
                <a:ea typeface="Liter" pitchFamily="34" charset="-122"/>
                <a:cs typeface="Liter" pitchFamily="34" charset="-120"/>
              </a:rPr>
              <a:t>Requests for Info</a:t>
            </a:r>
            <a:endParaRPr lang="en-US" sz="2000" dirty="0"/>
          </a:p>
        </p:txBody>
      </p:sp>
      <p:sp>
        <p:nvSpPr>
          <p:cNvPr id="19" name="Text 17"/>
          <p:cNvSpPr/>
          <p:nvPr/>
        </p:nvSpPr>
        <p:spPr>
          <a:xfrm>
            <a:off x="1016000" y="4635500"/>
            <a:ext cx="4191000" cy="1397000"/>
          </a:xfrm>
          <a:prstGeom prst="rect">
            <a:avLst/>
          </a:prstGeom>
          <a:noFill/>
          <a:ln/>
        </p:spPr>
        <p:txBody>
          <a:bodyPr wrap="square" lIns="0" tIns="0" rIns="0" bIns="0" rtlCol="0" anchor="t"/>
          <a:lstStyle/>
          <a:p>
            <a:pPr>
              <a:lnSpc>
                <a:spcPct val="145000"/>
              </a:lnSpc>
            </a:pPr>
            <a:r>
              <a:rPr lang="en-US" sz="2000" dirty="0">
                <a:solidFill>
                  <a:srgbClr val="1A1A2E"/>
                </a:solidFill>
                <a:latin typeface="Quattrocento Sans" pitchFamily="34" charset="0"/>
                <a:ea typeface="Quattrocento Sans" pitchFamily="34" charset="-122"/>
                <a:cs typeface="Quattrocento Sans" pitchFamily="34" charset="-120"/>
              </a:rPr>
              <a:t>Legitimate entities </a:t>
            </a:r>
            <a:r>
              <a:rPr lang="en-US" sz="2000" b="1" dirty="0">
                <a:solidFill>
                  <a:srgbClr val="1A1A2E"/>
                </a:solidFill>
                <a:latin typeface="Quattrocento Sans" pitchFamily="34" charset="0"/>
                <a:ea typeface="Quattrocento Sans" pitchFamily="34" charset="-122"/>
                <a:cs typeface="Quattrocento Sans" pitchFamily="34" charset="-120"/>
              </a:rPr>
              <a:t>never</a:t>
            </a:r>
            <a:r>
              <a:rPr lang="en-US" sz="2000" dirty="0">
                <a:solidFill>
                  <a:srgbClr val="1A1A2E"/>
                </a:solidFill>
                <a:latin typeface="Quattrocento Sans" pitchFamily="34" charset="0"/>
                <a:ea typeface="Quattrocento Sans" pitchFamily="34" charset="-122"/>
                <a:cs typeface="Quattrocento Sans" pitchFamily="34" charset="-120"/>
              </a:rPr>
              <a:t> request passwords, SSNs, or credit card details via email.</a:t>
            </a:r>
            <a:endParaRPr lang="en-US" sz="2000" dirty="0"/>
          </a:p>
        </p:txBody>
      </p:sp>
      <p:sp>
        <p:nvSpPr>
          <p:cNvPr id="20" name="Shape 18"/>
          <p:cNvSpPr/>
          <p:nvPr/>
        </p:nvSpPr>
        <p:spPr>
          <a:xfrm>
            <a:off x="5778500" y="4000500"/>
            <a:ext cx="4699000" cy="2222500"/>
          </a:xfrm>
          <a:prstGeom prst="roundRect">
            <a:avLst>
              <a:gd name="adj" fmla="val 6000"/>
            </a:avLst>
          </a:prstGeom>
          <a:solidFill>
            <a:srgbClr val="EDEAE4"/>
          </a:solidFill>
          <a:ln/>
        </p:spPr>
      </p:sp>
      <p:sp>
        <p:nvSpPr>
          <p:cNvPr id="21" name="Text 19"/>
          <p:cNvSpPr/>
          <p:nvPr/>
        </p:nvSpPr>
        <p:spPr>
          <a:xfrm>
            <a:off x="6032500" y="4127500"/>
            <a:ext cx="508000" cy="406400"/>
          </a:xfrm>
          <a:prstGeom prst="rect">
            <a:avLst/>
          </a:prstGeom>
          <a:noFill/>
          <a:ln/>
        </p:spPr>
        <p:txBody>
          <a:bodyPr wrap="none" lIns="0" tIns="0" rIns="0" bIns="0" rtlCol="0" anchor="ctr"/>
          <a:lstStyle/>
          <a:p>
            <a:pPr algn="ctr">
              <a:lnSpc>
                <a:spcPct val="100000"/>
              </a:lnSpc>
            </a:pPr>
            <a:r>
              <a:rPr lang="en-US" sz="2000" dirty="0">
                <a:solidFill>
                  <a:srgbClr val="E85D04"/>
                </a:solidFill>
                <a:latin typeface="Liter" pitchFamily="34" charset="0"/>
                <a:ea typeface="Liter" pitchFamily="34" charset="-122"/>
                <a:cs typeface="Liter" pitchFamily="34" charset="-120"/>
              </a:rPr>
              <a:t>5</a:t>
            </a:r>
            <a:endParaRPr lang="en-US" sz="2000" dirty="0"/>
          </a:p>
        </p:txBody>
      </p:sp>
      <p:sp>
        <p:nvSpPr>
          <p:cNvPr id="22" name="Text 20"/>
          <p:cNvSpPr/>
          <p:nvPr/>
        </p:nvSpPr>
        <p:spPr>
          <a:xfrm>
            <a:off x="6604000" y="4127500"/>
            <a:ext cx="3619500" cy="406400"/>
          </a:xfrm>
          <a:prstGeom prst="rect">
            <a:avLst/>
          </a:prstGeom>
          <a:noFill/>
          <a:ln/>
        </p:spPr>
        <p:txBody>
          <a:bodyPr wrap="none" lIns="0" tIns="0" rIns="0" bIns="0" rtlCol="0" anchor="ctr"/>
          <a:lstStyle/>
          <a:p>
            <a:pPr>
              <a:lnSpc>
                <a:spcPct val="100000"/>
              </a:lnSpc>
            </a:pPr>
            <a:r>
              <a:rPr lang="en-US" sz="2000" dirty="0">
                <a:solidFill>
                  <a:srgbClr val="1B263B"/>
                </a:solidFill>
                <a:latin typeface="Liter" pitchFamily="34" charset="0"/>
                <a:ea typeface="Liter" pitchFamily="34" charset="-122"/>
                <a:cs typeface="Liter" pitchFamily="34" charset="-120"/>
              </a:rPr>
              <a:t>Suspicious Links</a:t>
            </a:r>
            <a:endParaRPr lang="en-US" sz="2000" dirty="0"/>
          </a:p>
        </p:txBody>
      </p:sp>
      <p:sp>
        <p:nvSpPr>
          <p:cNvPr id="23" name="Text 21"/>
          <p:cNvSpPr/>
          <p:nvPr/>
        </p:nvSpPr>
        <p:spPr>
          <a:xfrm>
            <a:off x="6032500" y="4635500"/>
            <a:ext cx="4191000" cy="1397000"/>
          </a:xfrm>
          <a:prstGeom prst="rect">
            <a:avLst/>
          </a:prstGeom>
          <a:noFill/>
          <a:ln/>
        </p:spPr>
        <p:txBody>
          <a:bodyPr wrap="square" lIns="0" tIns="0" rIns="0" bIns="0" rtlCol="0" anchor="t"/>
          <a:lstStyle/>
          <a:p>
            <a:pPr>
              <a:lnSpc>
                <a:spcPct val="145000"/>
              </a:lnSpc>
            </a:pPr>
            <a:r>
              <a:rPr lang="en-US" sz="2000" dirty="0">
                <a:solidFill>
                  <a:srgbClr val="1A1A2E"/>
                </a:solidFill>
                <a:latin typeface="Quattrocento Sans" pitchFamily="34" charset="0"/>
                <a:ea typeface="Quattrocento Sans" pitchFamily="34" charset="-122"/>
                <a:cs typeface="Quattrocento Sans" pitchFamily="34" charset="-120"/>
              </a:rPr>
              <a:t>Hover over links before clicking. Unexpected attachments can contain malware or ransomware.</a:t>
            </a:r>
            <a:endParaRPr lang="en-US" sz="2000" dirty="0"/>
          </a:p>
        </p:txBody>
      </p:sp>
      <p:sp>
        <p:nvSpPr>
          <p:cNvPr id="24" name="Shape 22"/>
          <p:cNvSpPr/>
          <p:nvPr/>
        </p:nvSpPr>
        <p:spPr>
          <a:xfrm>
            <a:off x="10795000" y="4000500"/>
            <a:ext cx="4699000" cy="2222500"/>
          </a:xfrm>
          <a:prstGeom prst="roundRect">
            <a:avLst>
              <a:gd name="adj" fmla="val 6000"/>
            </a:avLst>
          </a:prstGeom>
          <a:solidFill>
            <a:srgbClr val="EDEAE4"/>
          </a:solidFill>
          <a:ln/>
        </p:spPr>
      </p:sp>
      <p:sp>
        <p:nvSpPr>
          <p:cNvPr id="25" name="Text 23"/>
          <p:cNvSpPr/>
          <p:nvPr/>
        </p:nvSpPr>
        <p:spPr>
          <a:xfrm>
            <a:off x="11049000" y="4127500"/>
            <a:ext cx="508000" cy="406400"/>
          </a:xfrm>
          <a:prstGeom prst="rect">
            <a:avLst/>
          </a:prstGeom>
          <a:noFill/>
          <a:ln/>
        </p:spPr>
        <p:txBody>
          <a:bodyPr wrap="none" lIns="0" tIns="0" rIns="0" bIns="0" rtlCol="0" anchor="ctr"/>
          <a:lstStyle/>
          <a:p>
            <a:pPr algn="ctr">
              <a:lnSpc>
                <a:spcPct val="100000"/>
              </a:lnSpc>
            </a:pPr>
            <a:r>
              <a:rPr lang="en-US" sz="2000" dirty="0">
                <a:solidFill>
                  <a:srgbClr val="E85D04"/>
                </a:solidFill>
                <a:latin typeface="Liter" pitchFamily="34" charset="0"/>
                <a:ea typeface="Liter" pitchFamily="34" charset="-122"/>
                <a:cs typeface="Liter" pitchFamily="34" charset="-120"/>
              </a:rPr>
              <a:t>6</a:t>
            </a:r>
            <a:endParaRPr lang="en-US" sz="2000" dirty="0"/>
          </a:p>
        </p:txBody>
      </p:sp>
      <p:sp>
        <p:nvSpPr>
          <p:cNvPr id="26" name="Text 24"/>
          <p:cNvSpPr/>
          <p:nvPr/>
        </p:nvSpPr>
        <p:spPr>
          <a:xfrm>
            <a:off x="11620500" y="4127500"/>
            <a:ext cx="3619500" cy="406400"/>
          </a:xfrm>
          <a:prstGeom prst="rect">
            <a:avLst/>
          </a:prstGeom>
          <a:noFill/>
          <a:ln/>
        </p:spPr>
        <p:txBody>
          <a:bodyPr wrap="none" lIns="0" tIns="0" rIns="0" bIns="0" rtlCol="0" anchor="ctr"/>
          <a:lstStyle/>
          <a:p>
            <a:pPr>
              <a:lnSpc>
                <a:spcPct val="100000"/>
              </a:lnSpc>
            </a:pPr>
            <a:r>
              <a:rPr lang="en-US" sz="2000" dirty="0">
                <a:solidFill>
                  <a:srgbClr val="1B263B"/>
                </a:solidFill>
                <a:latin typeface="Liter" pitchFamily="34" charset="0"/>
                <a:ea typeface="Liter" pitchFamily="34" charset="-122"/>
                <a:cs typeface="Liter" pitchFamily="34" charset="-120"/>
              </a:rPr>
              <a:t>Poor Grammar</a:t>
            </a:r>
            <a:endParaRPr lang="en-US" sz="2000" dirty="0"/>
          </a:p>
        </p:txBody>
      </p:sp>
      <p:sp>
        <p:nvSpPr>
          <p:cNvPr id="27" name="Text 25"/>
          <p:cNvSpPr/>
          <p:nvPr/>
        </p:nvSpPr>
        <p:spPr>
          <a:xfrm>
            <a:off x="11049000" y="4635500"/>
            <a:ext cx="4191000" cy="1397000"/>
          </a:xfrm>
          <a:prstGeom prst="rect">
            <a:avLst/>
          </a:prstGeom>
          <a:noFill/>
          <a:ln/>
        </p:spPr>
        <p:txBody>
          <a:bodyPr wrap="square" lIns="0" tIns="0" rIns="0" bIns="0" rtlCol="0" anchor="t"/>
          <a:lstStyle/>
          <a:p>
            <a:pPr>
              <a:lnSpc>
                <a:spcPct val="145000"/>
              </a:lnSpc>
            </a:pPr>
            <a:r>
              <a:rPr lang="en-US" sz="2000" dirty="0">
                <a:solidFill>
                  <a:srgbClr val="1A1A2E"/>
                </a:solidFill>
                <a:latin typeface="Quattrocento Sans" pitchFamily="34" charset="0"/>
                <a:ea typeface="Quattrocento Sans" pitchFamily="34" charset="-122"/>
                <a:cs typeface="Quattrocento Sans" pitchFamily="34" charset="-120"/>
              </a:rPr>
              <a:t>Spelling errors, awkward phrasing, and formatting mistakes are common in phishing emails.</a:t>
            </a:r>
            <a:endParaRPr lang="en-US" sz="2000" dirty="0"/>
          </a:p>
        </p:txBody>
      </p:sp>
      <p:sp>
        <p:nvSpPr>
          <p:cNvPr id="28" name="Shape 26"/>
          <p:cNvSpPr/>
          <p:nvPr/>
        </p:nvSpPr>
        <p:spPr>
          <a:xfrm>
            <a:off x="762000" y="6540500"/>
            <a:ext cx="14732000" cy="1841500"/>
          </a:xfrm>
          <a:prstGeom prst="roundRect">
            <a:avLst>
              <a:gd name="adj" fmla="val 6000"/>
            </a:avLst>
          </a:prstGeom>
          <a:solidFill>
            <a:srgbClr val="1B263B"/>
          </a:solidFill>
          <a:ln/>
        </p:spPr>
      </p:sp>
      <p:sp>
        <p:nvSpPr>
          <p:cNvPr id="29" name="Shape 27"/>
          <p:cNvSpPr/>
          <p:nvPr/>
        </p:nvSpPr>
        <p:spPr>
          <a:xfrm>
            <a:off x="1193800" y="7048500"/>
            <a:ext cx="304800" cy="406400"/>
          </a:xfrm>
          <a:custGeom>
            <a:avLst/>
            <a:gdLst/>
            <a:ahLst/>
            <a:cxnLst/>
            <a:rect l="l" t="t" r="r" b="b"/>
            <a:pathLst>
              <a:path w="304800" h="406400">
                <a:moveTo>
                  <a:pt x="232489" y="304800"/>
                </a:moveTo>
                <a:cubicBezTo>
                  <a:pt x="238284" y="287099"/>
                  <a:pt x="249872" y="271066"/>
                  <a:pt x="262969" y="257254"/>
                </a:cubicBezTo>
                <a:cubicBezTo>
                  <a:pt x="288925" y="229949"/>
                  <a:pt x="304800" y="193040"/>
                  <a:pt x="304800" y="152400"/>
                </a:cubicBezTo>
                <a:cubicBezTo>
                  <a:pt x="304800" y="68263"/>
                  <a:pt x="236537" y="0"/>
                  <a:pt x="152400" y="0"/>
                </a:cubicBezTo>
                <a:cubicBezTo>
                  <a:pt x="68262" y="0"/>
                  <a:pt x="0" y="68263"/>
                  <a:pt x="0" y="152400"/>
                </a:cubicBezTo>
                <a:cubicBezTo>
                  <a:pt x="0" y="193040"/>
                  <a:pt x="15875" y="229949"/>
                  <a:pt x="41831" y="257254"/>
                </a:cubicBezTo>
                <a:cubicBezTo>
                  <a:pt x="54928" y="271066"/>
                  <a:pt x="66596" y="287099"/>
                  <a:pt x="72311" y="304800"/>
                </a:cubicBezTo>
                <a:lnTo>
                  <a:pt x="232410" y="304800"/>
                </a:lnTo>
                <a:close/>
                <a:moveTo>
                  <a:pt x="228600" y="342900"/>
                </a:moveTo>
                <a:lnTo>
                  <a:pt x="76200" y="342900"/>
                </a:lnTo>
                <a:lnTo>
                  <a:pt x="76200" y="355600"/>
                </a:lnTo>
                <a:cubicBezTo>
                  <a:pt x="76200" y="390684"/>
                  <a:pt x="104616" y="419100"/>
                  <a:pt x="139700" y="419100"/>
                </a:cubicBezTo>
                <a:lnTo>
                  <a:pt x="165100" y="419100"/>
                </a:lnTo>
                <a:cubicBezTo>
                  <a:pt x="200184" y="419100"/>
                  <a:pt x="228600" y="390684"/>
                  <a:pt x="228600" y="355600"/>
                </a:cubicBezTo>
                <a:lnTo>
                  <a:pt x="228600" y="342900"/>
                </a:lnTo>
                <a:close/>
                <a:moveTo>
                  <a:pt x="146050" y="88900"/>
                </a:moveTo>
                <a:cubicBezTo>
                  <a:pt x="114459" y="88900"/>
                  <a:pt x="88900" y="114459"/>
                  <a:pt x="88900" y="146050"/>
                </a:cubicBezTo>
                <a:cubicBezTo>
                  <a:pt x="88900" y="156607"/>
                  <a:pt x="80407" y="165100"/>
                  <a:pt x="69850" y="165100"/>
                </a:cubicBezTo>
                <a:cubicBezTo>
                  <a:pt x="59293" y="165100"/>
                  <a:pt x="50800" y="156607"/>
                  <a:pt x="50800" y="146050"/>
                </a:cubicBezTo>
                <a:cubicBezTo>
                  <a:pt x="50800" y="93424"/>
                  <a:pt x="93424" y="50800"/>
                  <a:pt x="146050" y="50800"/>
                </a:cubicBezTo>
                <a:cubicBezTo>
                  <a:pt x="156607" y="50800"/>
                  <a:pt x="165100" y="59293"/>
                  <a:pt x="165100" y="69850"/>
                </a:cubicBezTo>
                <a:cubicBezTo>
                  <a:pt x="165100" y="80407"/>
                  <a:pt x="156607" y="88900"/>
                  <a:pt x="146050" y="88900"/>
                </a:cubicBezTo>
                <a:close/>
              </a:path>
            </a:pathLst>
          </a:custGeom>
          <a:solidFill>
            <a:srgbClr val="E85D04"/>
          </a:solidFill>
          <a:ln/>
        </p:spPr>
      </p:sp>
      <p:sp>
        <p:nvSpPr>
          <p:cNvPr id="30" name="Text 28"/>
          <p:cNvSpPr/>
          <p:nvPr/>
        </p:nvSpPr>
        <p:spPr>
          <a:xfrm>
            <a:off x="1714500" y="6794500"/>
            <a:ext cx="3810000" cy="381000"/>
          </a:xfrm>
          <a:prstGeom prst="rect">
            <a:avLst/>
          </a:prstGeom>
          <a:noFill/>
          <a:ln/>
        </p:spPr>
        <p:txBody>
          <a:bodyPr wrap="none" lIns="0" tIns="0" rIns="0" bIns="0" rtlCol="0" anchor="ctr"/>
          <a:lstStyle/>
          <a:p>
            <a:pPr>
              <a:lnSpc>
                <a:spcPct val="100000"/>
              </a:lnSpc>
            </a:pPr>
            <a:r>
              <a:rPr lang="en-US" dirty="0">
                <a:solidFill>
                  <a:srgbClr val="E85D04"/>
                </a:solidFill>
                <a:latin typeface="Liter" pitchFamily="34" charset="0"/>
                <a:ea typeface="Liter" pitchFamily="34" charset="-122"/>
                <a:cs typeface="Liter" pitchFamily="34" charset="-120"/>
              </a:rPr>
              <a:t>REMEMBER</a:t>
            </a:r>
            <a:endParaRPr lang="en-US" dirty="0"/>
          </a:p>
        </p:txBody>
      </p:sp>
      <p:sp>
        <p:nvSpPr>
          <p:cNvPr id="31" name="Text 29"/>
          <p:cNvSpPr/>
          <p:nvPr/>
        </p:nvSpPr>
        <p:spPr>
          <a:xfrm>
            <a:off x="1714500" y="7112000"/>
            <a:ext cx="13462000" cy="952500"/>
          </a:xfrm>
          <a:prstGeom prst="rect">
            <a:avLst/>
          </a:prstGeom>
          <a:noFill/>
          <a:ln/>
        </p:spPr>
        <p:txBody>
          <a:bodyPr wrap="square" lIns="0" tIns="0" rIns="0" bIns="0" rtlCol="0" anchor="t"/>
          <a:lstStyle/>
          <a:p>
            <a:pPr>
              <a:lnSpc>
                <a:spcPct val="150000"/>
              </a:lnSpc>
            </a:pPr>
            <a:r>
              <a:rPr lang="en-US" dirty="0">
                <a:solidFill>
                  <a:srgbClr val="FFFFFF"/>
                </a:solidFill>
                <a:latin typeface="Quattrocento Sans" pitchFamily="34" charset="0"/>
                <a:ea typeface="Quattrocento Sans" pitchFamily="34" charset="-122"/>
                <a:cs typeface="Quattrocento Sans" pitchFamily="34" charset="-120"/>
              </a:rPr>
              <a:t>When in doubt, </a:t>
            </a:r>
            <a:r>
              <a:rPr lang="en-US" b="1" dirty="0">
                <a:solidFill>
                  <a:srgbClr val="FFFFFF"/>
                </a:solidFill>
                <a:latin typeface="Quattrocento Sans" pitchFamily="34" charset="0"/>
                <a:ea typeface="Quattrocento Sans" pitchFamily="34" charset="-122"/>
                <a:cs typeface="Quattrocento Sans" pitchFamily="34" charset="-120"/>
              </a:rPr>
              <a:t>don't click</a:t>
            </a:r>
            <a:r>
              <a:rPr lang="en-US" dirty="0">
                <a:solidFill>
                  <a:srgbClr val="FFFFFF"/>
                </a:solidFill>
                <a:latin typeface="Quattrocento Sans" pitchFamily="34" charset="0"/>
                <a:ea typeface="Quattrocento Sans" pitchFamily="34" charset="-122"/>
                <a:cs typeface="Quattrocento Sans" pitchFamily="34" charset="-120"/>
              </a:rPr>
              <a:t>. Verify the sender through a separate channel. Contact the organization directly using a known phone number or website — never reply to a suspicious email.</a:t>
            </a:r>
            <a:endParaRPr lang="en-US" dirty="0"/>
          </a:p>
        </p:txBody>
      </p:sp>
      <p:sp>
        <p:nvSpPr>
          <p:cNvPr id="32" name="Text 30"/>
          <p:cNvSpPr/>
          <p:nvPr/>
        </p:nvSpPr>
        <p:spPr>
          <a:xfrm>
            <a:off x="13970000" y="8699500"/>
            <a:ext cx="1524000" cy="254000"/>
          </a:xfrm>
          <a:prstGeom prst="rect">
            <a:avLst/>
          </a:prstGeom>
          <a:noFill/>
          <a:ln/>
        </p:spPr>
        <p:txBody>
          <a:bodyPr wrap="none" lIns="0" tIns="0" rIns="0" bIns="0" rtlCol="0" anchor="ctr"/>
          <a:lstStyle/>
          <a:p>
            <a:pPr algn="r">
              <a:lnSpc>
                <a:spcPct val="140000"/>
              </a:lnSpc>
            </a:pPr>
            <a:r>
              <a:rPr lang="en-US" sz="1400" dirty="0">
                <a:solidFill>
                  <a:srgbClr val="5C6B7A"/>
                </a:solidFill>
                <a:latin typeface="QuattrocentoSans" pitchFamily="34" charset="0"/>
                <a:ea typeface="QuattrocentoSans" pitchFamily="34" charset="-122"/>
                <a:cs typeface="QuattrocentoSans" pitchFamily="34" charset="-120"/>
              </a:rPr>
              <a:t>02 / Recognizing</a:t>
            </a:r>
            <a:endParaRPr lang="en-US" sz="14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762000" y="571500"/>
            <a:ext cx="8890000" cy="508000"/>
          </a:xfrm>
          <a:prstGeom prst="rect">
            <a:avLst/>
          </a:prstGeom>
          <a:noFill/>
          <a:ln/>
        </p:spPr>
        <p:txBody>
          <a:bodyPr wrap="none" lIns="0" tIns="0" rIns="0" bIns="0" rtlCol="0" anchor="ctr"/>
          <a:lstStyle/>
          <a:p>
            <a:pPr>
              <a:lnSpc>
                <a:spcPct val="130000"/>
              </a:lnSpc>
            </a:pPr>
            <a:r>
              <a:rPr lang="en-US" sz="2800" dirty="0">
                <a:solidFill>
                  <a:srgbClr val="1B263B"/>
                </a:solidFill>
                <a:latin typeface="Liter" pitchFamily="34" charset="0"/>
                <a:ea typeface="Liter" pitchFamily="34" charset="-122"/>
                <a:cs typeface="Liter" pitchFamily="34" charset="-120"/>
              </a:rPr>
              <a:t>Identifying Fake Websites</a:t>
            </a:r>
            <a:endParaRPr lang="en-US" sz="2800" dirty="0"/>
          </a:p>
        </p:txBody>
      </p:sp>
      <p:sp>
        <p:nvSpPr>
          <p:cNvPr id="3" name="Shape 1"/>
          <p:cNvSpPr/>
          <p:nvPr/>
        </p:nvSpPr>
        <p:spPr>
          <a:xfrm>
            <a:off x="762000" y="1143000"/>
            <a:ext cx="762000" cy="38100"/>
          </a:xfrm>
          <a:prstGeom prst="rect">
            <a:avLst/>
          </a:prstGeom>
          <a:solidFill>
            <a:srgbClr val="E85D04"/>
          </a:solidFill>
          <a:ln/>
        </p:spPr>
      </p:sp>
      <p:sp>
        <p:nvSpPr>
          <p:cNvPr id="4" name="Text 2"/>
          <p:cNvSpPr/>
          <p:nvPr/>
        </p:nvSpPr>
        <p:spPr>
          <a:xfrm>
            <a:off x="762000" y="1397000"/>
            <a:ext cx="8382000" cy="889000"/>
          </a:xfrm>
          <a:prstGeom prst="rect">
            <a:avLst/>
          </a:prstGeom>
          <a:noFill/>
          <a:ln/>
        </p:spPr>
        <p:txBody>
          <a:bodyPr wrap="square" lIns="0" tIns="0" rIns="0" bIns="0" rtlCol="0" anchor="t"/>
          <a:lstStyle/>
          <a:p>
            <a:pPr>
              <a:lnSpc>
                <a:spcPct val="150000"/>
              </a:lnSpc>
            </a:pPr>
            <a:r>
              <a:rPr lang="en-US" sz="1800" dirty="0">
                <a:solidFill>
                  <a:srgbClr val="1A1A2E"/>
                </a:solidFill>
                <a:latin typeface="Quattrocento Sans" pitchFamily="34" charset="0"/>
                <a:ea typeface="Quattrocento Sans" pitchFamily="34" charset="-122"/>
                <a:cs typeface="Quattrocento Sans" pitchFamily="34" charset="-120"/>
              </a:rPr>
              <a:t>Phishing doesn't stop at your inbox. Fake websites are designed to steal your credentials and personal data. Here's how to identify them:</a:t>
            </a:r>
            <a:endParaRPr lang="en-US" sz="1600" dirty="0"/>
          </a:p>
        </p:txBody>
      </p:sp>
      <p:sp>
        <p:nvSpPr>
          <p:cNvPr id="5" name="Shape 3"/>
          <p:cNvSpPr/>
          <p:nvPr/>
        </p:nvSpPr>
        <p:spPr>
          <a:xfrm>
            <a:off x="781050" y="25400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E85D04"/>
          </a:solidFill>
          <a:ln/>
        </p:spPr>
      </p:sp>
      <p:sp>
        <p:nvSpPr>
          <p:cNvPr id="6" name="Text 4"/>
          <p:cNvSpPr/>
          <p:nvPr/>
        </p:nvSpPr>
        <p:spPr>
          <a:xfrm>
            <a:off x="1206500" y="2476500"/>
            <a:ext cx="7874000" cy="889000"/>
          </a:xfrm>
          <a:prstGeom prst="rect">
            <a:avLst/>
          </a:prstGeom>
          <a:noFill/>
          <a:ln/>
        </p:spPr>
        <p:txBody>
          <a:bodyPr wrap="square" lIns="0" tIns="0" rIns="0" bIns="0" rtlCol="0" anchor="t"/>
          <a:lstStyle/>
          <a:p>
            <a:pPr>
              <a:lnSpc>
                <a:spcPct val="145000"/>
              </a:lnSpc>
            </a:pPr>
            <a:r>
              <a:rPr lang="en-US" sz="2000" b="1" dirty="0">
                <a:solidFill>
                  <a:srgbClr val="1A1A2E"/>
                </a:solidFill>
                <a:latin typeface="Quattrocento Sans" pitchFamily="34" charset="0"/>
                <a:ea typeface="Quattrocento Sans" pitchFamily="34" charset="-122"/>
                <a:cs typeface="Quattrocento Sans" pitchFamily="34" charset="-120"/>
              </a:rPr>
              <a:t>Check the URL carefully</a:t>
            </a:r>
            <a:r>
              <a:rPr lang="en-US" sz="2000" dirty="0">
                <a:solidFill>
                  <a:srgbClr val="1A1A2E"/>
                </a:solidFill>
                <a:latin typeface="Quattrocento Sans" pitchFamily="34" charset="0"/>
                <a:ea typeface="Quattrocento Sans" pitchFamily="34" charset="-122"/>
                <a:cs typeface="Quattrocento Sans" pitchFamily="34" charset="-120"/>
              </a:rPr>
              <a:t> — look for misspellings, extra characters, or wrong domains (e.g., paypa1.com vs paypal.com)</a:t>
            </a:r>
            <a:endParaRPr lang="en-US" sz="2000" dirty="0"/>
          </a:p>
        </p:txBody>
      </p:sp>
      <p:sp>
        <p:nvSpPr>
          <p:cNvPr id="7" name="Shape 5"/>
          <p:cNvSpPr/>
          <p:nvPr/>
        </p:nvSpPr>
        <p:spPr>
          <a:xfrm>
            <a:off x="781050" y="35560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E85D04"/>
          </a:solidFill>
          <a:ln/>
        </p:spPr>
      </p:sp>
      <p:sp>
        <p:nvSpPr>
          <p:cNvPr id="8" name="Text 6"/>
          <p:cNvSpPr/>
          <p:nvPr/>
        </p:nvSpPr>
        <p:spPr>
          <a:xfrm>
            <a:off x="1206500" y="3492500"/>
            <a:ext cx="7874000" cy="698500"/>
          </a:xfrm>
          <a:prstGeom prst="rect">
            <a:avLst/>
          </a:prstGeom>
          <a:noFill/>
          <a:ln/>
        </p:spPr>
        <p:txBody>
          <a:bodyPr wrap="square" lIns="0" tIns="0" rIns="0" bIns="0" rtlCol="0" anchor="t"/>
          <a:lstStyle/>
          <a:p>
            <a:pPr>
              <a:lnSpc>
                <a:spcPct val="145000"/>
              </a:lnSpc>
            </a:pPr>
            <a:r>
              <a:rPr lang="en-US" sz="2000" b="1" dirty="0">
                <a:solidFill>
                  <a:srgbClr val="1A1A2E"/>
                </a:solidFill>
                <a:latin typeface="Quattrocento Sans" pitchFamily="34" charset="0"/>
                <a:ea typeface="Quattrocento Sans" pitchFamily="34" charset="-122"/>
                <a:cs typeface="Quattrocento Sans" pitchFamily="34" charset="-120"/>
              </a:rPr>
              <a:t>Look for the HTTPS padlock</a:t>
            </a:r>
            <a:r>
              <a:rPr lang="en-US" sz="2000" dirty="0">
                <a:solidFill>
                  <a:srgbClr val="1A1A2E"/>
                </a:solidFill>
                <a:latin typeface="Quattrocento Sans" pitchFamily="34" charset="0"/>
                <a:ea typeface="Quattrocento Sans" pitchFamily="34" charset="-122"/>
                <a:cs typeface="Quattrocento Sans" pitchFamily="34" charset="-120"/>
              </a:rPr>
              <a:t> — no secure connection icon is a major red flag</a:t>
            </a:r>
            <a:endParaRPr lang="en-US" sz="2000" dirty="0"/>
          </a:p>
        </p:txBody>
      </p:sp>
      <p:sp>
        <p:nvSpPr>
          <p:cNvPr id="9" name="Shape 7"/>
          <p:cNvSpPr/>
          <p:nvPr/>
        </p:nvSpPr>
        <p:spPr>
          <a:xfrm>
            <a:off x="781050" y="44450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E85D04"/>
          </a:solidFill>
          <a:ln/>
        </p:spPr>
      </p:sp>
      <p:sp>
        <p:nvSpPr>
          <p:cNvPr id="10" name="Text 8"/>
          <p:cNvSpPr/>
          <p:nvPr/>
        </p:nvSpPr>
        <p:spPr>
          <a:xfrm>
            <a:off x="1206500" y="4381500"/>
            <a:ext cx="7874000" cy="825500"/>
          </a:xfrm>
          <a:prstGeom prst="rect">
            <a:avLst/>
          </a:prstGeom>
          <a:noFill/>
          <a:ln/>
        </p:spPr>
        <p:txBody>
          <a:bodyPr wrap="square" lIns="0" tIns="0" rIns="0" bIns="0" rtlCol="0" anchor="t"/>
          <a:lstStyle/>
          <a:p>
            <a:pPr>
              <a:lnSpc>
                <a:spcPct val="145000"/>
              </a:lnSpc>
            </a:pPr>
            <a:r>
              <a:rPr lang="en-US" sz="2000" b="1" dirty="0">
                <a:solidFill>
                  <a:srgbClr val="1A1A2E"/>
                </a:solidFill>
                <a:latin typeface="Quattrocento Sans" pitchFamily="34" charset="0"/>
                <a:ea typeface="Quattrocento Sans" pitchFamily="34" charset="-122"/>
                <a:cs typeface="Quattrocento Sans" pitchFamily="34" charset="-120"/>
              </a:rPr>
              <a:t>Poor design quality</a:t>
            </a:r>
            <a:r>
              <a:rPr lang="en-US" sz="2000" dirty="0">
                <a:solidFill>
                  <a:srgbClr val="1A1A2E"/>
                </a:solidFill>
                <a:latin typeface="Quattrocento Sans" pitchFamily="34" charset="0"/>
                <a:ea typeface="Quattrocento Sans" pitchFamily="34" charset="-122"/>
                <a:cs typeface="Quattrocento Sans" pitchFamily="34" charset="-120"/>
              </a:rPr>
              <a:t> — low-resolution logos, broken images, or unprofessional layout</a:t>
            </a:r>
            <a:endParaRPr lang="en-US" sz="2000" dirty="0"/>
          </a:p>
        </p:txBody>
      </p:sp>
      <p:sp>
        <p:nvSpPr>
          <p:cNvPr id="11" name="Shape 9"/>
          <p:cNvSpPr/>
          <p:nvPr/>
        </p:nvSpPr>
        <p:spPr>
          <a:xfrm>
            <a:off x="781050" y="5397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E85D04"/>
          </a:solidFill>
          <a:ln/>
        </p:spPr>
      </p:sp>
      <p:sp>
        <p:nvSpPr>
          <p:cNvPr id="12" name="Text 10"/>
          <p:cNvSpPr/>
          <p:nvPr/>
        </p:nvSpPr>
        <p:spPr>
          <a:xfrm>
            <a:off x="1206500" y="5334000"/>
            <a:ext cx="7874000" cy="825500"/>
          </a:xfrm>
          <a:prstGeom prst="rect">
            <a:avLst/>
          </a:prstGeom>
          <a:noFill/>
          <a:ln/>
        </p:spPr>
        <p:txBody>
          <a:bodyPr wrap="square" lIns="0" tIns="0" rIns="0" bIns="0" rtlCol="0" anchor="t"/>
          <a:lstStyle/>
          <a:p>
            <a:pPr>
              <a:lnSpc>
                <a:spcPct val="145000"/>
              </a:lnSpc>
            </a:pPr>
            <a:r>
              <a:rPr lang="en-US" sz="2000" b="1" dirty="0">
                <a:solidFill>
                  <a:srgbClr val="1A1A2E"/>
                </a:solidFill>
                <a:latin typeface="Quattrocento Sans" pitchFamily="34" charset="0"/>
                <a:ea typeface="Quattrocento Sans" pitchFamily="34" charset="-122"/>
                <a:cs typeface="Quattrocento Sans" pitchFamily="34" charset="-120"/>
              </a:rPr>
              <a:t>Pop-ups demanding action</a:t>
            </a:r>
            <a:r>
              <a:rPr lang="en-US" sz="2000" dirty="0">
                <a:solidFill>
                  <a:srgbClr val="1A1A2E"/>
                </a:solidFill>
                <a:latin typeface="Quattrocento Sans" pitchFamily="34" charset="0"/>
                <a:ea typeface="Quattrocento Sans" pitchFamily="34" charset="-122"/>
                <a:cs typeface="Quattrocento Sans" pitchFamily="34" charset="-120"/>
              </a:rPr>
              <a:t> — urgent prompts for personal information or login credentials</a:t>
            </a:r>
            <a:endParaRPr lang="en-US" sz="2000" dirty="0"/>
          </a:p>
        </p:txBody>
      </p:sp>
      <p:sp>
        <p:nvSpPr>
          <p:cNvPr id="13" name="Shape 11"/>
          <p:cNvSpPr/>
          <p:nvPr/>
        </p:nvSpPr>
        <p:spPr>
          <a:xfrm>
            <a:off x="781050" y="63500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E85D04"/>
          </a:solidFill>
          <a:ln/>
        </p:spPr>
      </p:sp>
      <p:sp>
        <p:nvSpPr>
          <p:cNvPr id="14" name="Text 12"/>
          <p:cNvSpPr/>
          <p:nvPr/>
        </p:nvSpPr>
        <p:spPr>
          <a:xfrm>
            <a:off x="1206500" y="6286500"/>
            <a:ext cx="7874000" cy="698500"/>
          </a:xfrm>
          <a:prstGeom prst="rect">
            <a:avLst/>
          </a:prstGeom>
          <a:noFill/>
          <a:ln/>
        </p:spPr>
        <p:txBody>
          <a:bodyPr wrap="square" lIns="0" tIns="0" rIns="0" bIns="0" rtlCol="0" anchor="t"/>
          <a:lstStyle/>
          <a:p>
            <a:pPr>
              <a:lnSpc>
                <a:spcPct val="145000"/>
              </a:lnSpc>
            </a:pPr>
            <a:r>
              <a:rPr lang="en-US" sz="2000" b="1" dirty="0">
                <a:solidFill>
                  <a:srgbClr val="1A1A2E"/>
                </a:solidFill>
                <a:latin typeface="Quattrocento Sans" pitchFamily="34" charset="0"/>
                <a:ea typeface="Quattrocento Sans" pitchFamily="34" charset="-122"/>
                <a:cs typeface="Quattrocento Sans" pitchFamily="34" charset="-120"/>
              </a:rPr>
              <a:t>Unnecessary permission requests</a:t>
            </a:r>
            <a:r>
              <a:rPr lang="en-US" sz="2000" dirty="0">
                <a:solidFill>
                  <a:srgbClr val="1A1A2E"/>
                </a:solidFill>
                <a:latin typeface="Quattrocento Sans" pitchFamily="34" charset="0"/>
                <a:ea typeface="Quattrocento Sans" pitchFamily="34" charset="-122"/>
                <a:cs typeface="Quattrocento Sans" pitchFamily="34" charset="-120"/>
              </a:rPr>
              <a:t> — sites asking for data they don't need</a:t>
            </a:r>
            <a:endParaRPr lang="en-US" sz="2000" dirty="0"/>
          </a:p>
        </p:txBody>
      </p:sp>
      <p:sp>
        <p:nvSpPr>
          <p:cNvPr id="15" name="Shape 13"/>
          <p:cNvSpPr/>
          <p:nvPr/>
        </p:nvSpPr>
        <p:spPr>
          <a:xfrm>
            <a:off x="781050" y="7175500"/>
            <a:ext cx="266700" cy="304800"/>
          </a:xfrm>
          <a:custGeom>
            <a:avLst/>
            <a:gdLst/>
            <a:ahLst/>
            <a:cxnLst/>
            <a:rect l="l" t="t" r="r" b="b"/>
            <a:pathLst>
              <a:path w="266700" h="304800">
                <a:moveTo>
                  <a:pt x="258842" y="41731"/>
                </a:moveTo>
                <a:cubicBezTo>
                  <a:pt x="267355" y="47923"/>
                  <a:pt x="269260" y="59829"/>
                  <a:pt x="263069" y="68342"/>
                </a:cubicBezTo>
                <a:lnTo>
                  <a:pt x="110669" y="277892"/>
                </a:lnTo>
                <a:cubicBezTo>
                  <a:pt x="107394" y="282416"/>
                  <a:pt x="102334" y="285214"/>
                  <a:pt x="96738" y="285690"/>
                </a:cubicBezTo>
                <a:cubicBezTo>
                  <a:pt x="91142" y="286167"/>
                  <a:pt x="85725" y="284083"/>
                  <a:pt x="81796" y="280154"/>
                </a:cubicBezTo>
                <a:lnTo>
                  <a:pt x="5596" y="203954"/>
                </a:lnTo>
                <a:cubicBezTo>
                  <a:pt x="-1845" y="196513"/>
                  <a:pt x="-1845" y="184428"/>
                  <a:pt x="5596" y="176986"/>
                </a:cubicBezTo>
                <a:cubicBezTo>
                  <a:pt x="13037" y="169545"/>
                  <a:pt x="25122" y="169545"/>
                  <a:pt x="32564" y="176986"/>
                </a:cubicBezTo>
                <a:lnTo>
                  <a:pt x="92988" y="237411"/>
                </a:lnTo>
                <a:lnTo>
                  <a:pt x="232291" y="45899"/>
                </a:lnTo>
                <a:cubicBezTo>
                  <a:pt x="238482" y="37386"/>
                  <a:pt x="250388" y="35481"/>
                  <a:pt x="258901" y="41672"/>
                </a:cubicBezTo>
                <a:close/>
              </a:path>
            </a:pathLst>
          </a:custGeom>
          <a:solidFill>
            <a:srgbClr val="E85D04"/>
          </a:solidFill>
          <a:ln/>
        </p:spPr>
      </p:sp>
      <p:sp>
        <p:nvSpPr>
          <p:cNvPr id="16" name="Text 14"/>
          <p:cNvSpPr/>
          <p:nvPr/>
        </p:nvSpPr>
        <p:spPr>
          <a:xfrm>
            <a:off x="1206500" y="7112000"/>
            <a:ext cx="7874000" cy="825500"/>
          </a:xfrm>
          <a:prstGeom prst="rect">
            <a:avLst/>
          </a:prstGeom>
          <a:noFill/>
          <a:ln/>
        </p:spPr>
        <p:txBody>
          <a:bodyPr wrap="square" lIns="0" tIns="0" rIns="0" bIns="0" rtlCol="0" anchor="t"/>
          <a:lstStyle/>
          <a:p>
            <a:pPr>
              <a:lnSpc>
                <a:spcPct val="145000"/>
              </a:lnSpc>
            </a:pPr>
            <a:r>
              <a:rPr lang="en-US" sz="2000" b="1" dirty="0">
                <a:solidFill>
                  <a:srgbClr val="1A1A2E"/>
                </a:solidFill>
                <a:latin typeface="Quattrocento Sans" pitchFamily="34" charset="0"/>
                <a:ea typeface="Quattrocento Sans" pitchFamily="34" charset="-122"/>
                <a:cs typeface="Quattrocento Sans" pitchFamily="34" charset="-120"/>
              </a:rPr>
              <a:t>When in doubt, type the URL manually</a:t>
            </a:r>
            <a:r>
              <a:rPr lang="en-US" sz="2000" dirty="0">
                <a:solidFill>
                  <a:srgbClr val="1A1A2E"/>
                </a:solidFill>
                <a:latin typeface="Quattrocento Sans" pitchFamily="34" charset="0"/>
                <a:ea typeface="Quattrocento Sans" pitchFamily="34" charset="-122"/>
                <a:cs typeface="Quattrocento Sans" pitchFamily="34" charset="-120"/>
              </a:rPr>
              <a:t> — don't click links; enter the known address yourself</a:t>
            </a:r>
            <a:endParaRPr lang="en-US" sz="2000" dirty="0"/>
          </a:p>
        </p:txBody>
      </p:sp>
      <p:sp>
        <p:nvSpPr>
          <p:cNvPr id="17" name="Shape 15"/>
          <p:cNvSpPr/>
          <p:nvPr/>
        </p:nvSpPr>
        <p:spPr>
          <a:xfrm>
            <a:off x="10160000" y="933048"/>
            <a:ext cx="5334000" cy="7023903"/>
          </a:xfrm>
          <a:prstGeom prst="roundRect">
            <a:avLst>
              <a:gd name="adj" fmla="val 8000"/>
            </a:avLst>
          </a:prstGeom>
          <a:solidFill>
            <a:srgbClr val="EDEAE4"/>
          </a:solidFill>
          <a:ln/>
        </p:spPr>
      </p:sp>
      <p:sp>
        <p:nvSpPr>
          <p:cNvPr id="18" name="Text 16"/>
          <p:cNvSpPr/>
          <p:nvPr/>
        </p:nvSpPr>
        <p:spPr>
          <a:xfrm>
            <a:off x="10477500" y="1587500"/>
            <a:ext cx="4699000" cy="406400"/>
          </a:xfrm>
          <a:prstGeom prst="rect">
            <a:avLst/>
          </a:prstGeom>
          <a:noFill/>
          <a:ln/>
        </p:spPr>
        <p:txBody>
          <a:bodyPr wrap="none" lIns="0" tIns="0" rIns="0" bIns="0" rtlCol="0" anchor="ctr"/>
          <a:lstStyle/>
          <a:p>
            <a:pPr>
              <a:lnSpc>
                <a:spcPct val="100000"/>
              </a:lnSpc>
            </a:pPr>
            <a:r>
              <a:rPr lang="en-US" sz="1800" dirty="0">
                <a:solidFill>
                  <a:srgbClr val="1B263B"/>
                </a:solidFill>
                <a:latin typeface="Liter" pitchFamily="34" charset="0"/>
                <a:ea typeface="Liter" pitchFamily="34" charset="-122"/>
                <a:cs typeface="Liter" pitchFamily="34" charset="-120"/>
              </a:rPr>
              <a:t>URL COMPARISON</a:t>
            </a:r>
            <a:endParaRPr lang="en-US" sz="1600" dirty="0"/>
          </a:p>
        </p:txBody>
      </p:sp>
      <p:sp>
        <p:nvSpPr>
          <p:cNvPr id="19" name="Shape 17"/>
          <p:cNvSpPr/>
          <p:nvPr/>
        </p:nvSpPr>
        <p:spPr>
          <a:xfrm>
            <a:off x="10477500" y="2057400"/>
            <a:ext cx="4699000" cy="12700"/>
          </a:xfrm>
          <a:prstGeom prst="rect">
            <a:avLst/>
          </a:prstGeom>
          <a:solidFill>
            <a:srgbClr val="E0DCD4"/>
          </a:solidFill>
          <a:ln/>
        </p:spPr>
      </p:sp>
      <p:sp>
        <p:nvSpPr>
          <p:cNvPr id="20" name="Text 18"/>
          <p:cNvSpPr/>
          <p:nvPr/>
        </p:nvSpPr>
        <p:spPr>
          <a:xfrm>
            <a:off x="10477500" y="2222500"/>
            <a:ext cx="4699000" cy="355600"/>
          </a:xfrm>
          <a:prstGeom prst="rect">
            <a:avLst/>
          </a:prstGeom>
          <a:noFill/>
          <a:ln/>
        </p:spPr>
        <p:txBody>
          <a:bodyPr wrap="none" lIns="0" tIns="0" rIns="0" bIns="0" rtlCol="0" anchor="ctr"/>
          <a:lstStyle/>
          <a:p>
            <a:pPr>
              <a:lnSpc>
                <a:spcPct val="100000"/>
              </a:lnSpc>
            </a:pPr>
            <a:r>
              <a:rPr lang="en-US" sz="1400" dirty="0">
                <a:solidFill>
                  <a:srgbClr val="2D6A4F"/>
                </a:solidFill>
                <a:latin typeface="Liter" pitchFamily="34" charset="0"/>
                <a:ea typeface="Liter" pitchFamily="34" charset="-122"/>
                <a:cs typeface="Liter" pitchFamily="34" charset="-120"/>
              </a:rPr>
              <a:t>LEGITIMATE</a:t>
            </a:r>
            <a:endParaRPr lang="en-US" sz="1600" dirty="0"/>
          </a:p>
        </p:txBody>
      </p:sp>
      <p:sp>
        <p:nvSpPr>
          <p:cNvPr id="21" name="Text 19"/>
          <p:cNvSpPr/>
          <p:nvPr/>
        </p:nvSpPr>
        <p:spPr>
          <a:xfrm>
            <a:off x="10477500" y="2641600"/>
            <a:ext cx="4699000" cy="1016000"/>
          </a:xfrm>
          <a:prstGeom prst="rect">
            <a:avLst/>
          </a:prstGeom>
          <a:noFill/>
          <a:ln/>
        </p:spPr>
        <p:txBody>
          <a:bodyPr wrap="square" lIns="0" tIns="0" rIns="0" bIns="0" rtlCol="0" anchor="t"/>
          <a:lstStyle/>
          <a:p>
            <a:pPr>
              <a:lnSpc>
                <a:spcPct val="150000"/>
              </a:lnSpc>
            </a:pPr>
            <a:r>
              <a:rPr lang="en-US" sz="2000" dirty="0" err="1"/>
              <a:t>onlinesbi.sbi</a:t>
            </a:r>
            <a:endParaRPr lang="en-US" sz="2000" dirty="0"/>
          </a:p>
          <a:p>
            <a:pPr>
              <a:lnSpc>
                <a:spcPct val="150000"/>
              </a:lnSpc>
            </a:pPr>
            <a:r>
              <a:rPr lang="en-US" sz="2000" dirty="0"/>
              <a:t>uidai.gov.in</a:t>
            </a:r>
          </a:p>
          <a:p>
            <a:pPr>
              <a:lnSpc>
                <a:spcPct val="150000"/>
              </a:lnSpc>
            </a:pPr>
            <a:r>
              <a:rPr lang="en-US" sz="2000" dirty="0"/>
              <a:t>hdfcbank.com</a:t>
            </a:r>
          </a:p>
        </p:txBody>
      </p:sp>
      <p:sp>
        <p:nvSpPr>
          <p:cNvPr id="22" name="Shape 20"/>
          <p:cNvSpPr/>
          <p:nvPr/>
        </p:nvSpPr>
        <p:spPr>
          <a:xfrm>
            <a:off x="10477500" y="3810000"/>
            <a:ext cx="4699000" cy="12700"/>
          </a:xfrm>
          <a:prstGeom prst="rect">
            <a:avLst/>
          </a:prstGeom>
          <a:solidFill>
            <a:srgbClr val="E0DCD4"/>
          </a:solidFill>
          <a:ln/>
        </p:spPr>
      </p:sp>
      <p:sp>
        <p:nvSpPr>
          <p:cNvPr id="23" name="Text 21"/>
          <p:cNvSpPr/>
          <p:nvPr/>
        </p:nvSpPr>
        <p:spPr>
          <a:xfrm>
            <a:off x="10523156" y="4670224"/>
            <a:ext cx="4699000" cy="355600"/>
          </a:xfrm>
          <a:prstGeom prst="rect">
            <a:avLst/>
          </a:prstGeom>
          <a:noFill/>
          <a:ln/>
        </p:spPr>
        <p:txBody>
          <a:bodyPr wrap="none" lIns="0" tIns="0" rIns="0" bIns="0" rtlCol="0" anchor="ctr"/>
          <a:lstStyle/>
          <a:p>
            <a:pPr>
              <a:lnSpc>
                <a:spcPct val="100000"/>
              </a:lnSpc>
            </a:pPr>
            <a:r>
              <a:rPr lang="en-US" sz="1400" dirty="0">
                <a:solidFill>
                  <a:srgbClr val="E85D04"/>
                </a:solidFill>
                <a:latin typeface="Liter" pitchFamily="34" charset="0"/>
                <a:ea typeface="Liter" pitchFamily="34" charset="-122"/>
                <a:cs typeface="Liter" pitchFamily="34" charset="-120"/>
              </a:rPr>
              <a:t>FAKE / SUSPICIOUS</a:t>
            </a:r>
            <a:endParaRPr lang="en-US" sz="1600" dirty="0"/>
          </a:p>
        </p:txBody>
      </p:sp>
      <p:sp>
        <p:nvSpPr>
          <p:cNvPr id="24" name="Text 22"/>
          <p:cNvSpPr/>
          <p:nvPr/>
        </p:nvSpPr>
        <p:spPr>
          <a:xfrm>
            <a:off x="10523156" y="5089324"/>
            <a:ext cx="4699000" cy="1778000"/>
          </a:xfrm>
          <a:prstGeom prst="rect">
            <a:avLst/>
          </a:prstGeom>
          <a:noFill/>
          <a:ln/>
        </p:spPr>
        <p:txBody>
          <a:bodyPr wrap="square" lIns="0" tIns="0" rIns="0" bIns="0" rtlCol="0" anchor="t"/>
          <a:lstStyle/>
          <a:p>
            <a:pPr>
              <a:lnSpc>
                <a:spcPct val="160000"/>
              </a:lnSpc>
            </a:pPr>
            <a:r>
              <a:rPr lang="en-US" sz="2000" dirty="0"/>
              <a:t>Sbi-kyc-update.com</a:t>
            </a:r>
          </a:p>
          <a:p>
            <a:pPr>
              <a:lnSpc>
                <a:spcPct val="160000"/>
              </a:lnSpc>
            </a:pPr>
            <a:r>
              <a:rPr lang="en-US" sz="2000" dirty="0"/>
              <a:t>Uidai-verification.net</a:t>
            </a:r>
          </a:p>
          <a:p>
            <a:pPr>
              <a:lnSpc>
                <a:spcPct val="160000"/>
              </a:lnSpc>
            </a:pPr>
            <a:r>
              <a:rPr lang="en-US" sz="2000" dirty="0"/>
              <a:t>Hdfc-security-update.in</a:t>
            </a:r>
          </a:p>
        </p:txBody>
      </p:sp>
      <p:sp>
        <p:nvSpPr>
          <p:cNvPr id="25" name="Text 23"/>
          <p:cNvSpPr/>
          <p:nvPr/>
        </p:nvSpPr>
        <p:spPr>
          <a:xfrm>
            <a:off x="10477500" y="7105248"/>
            <a:ext cx="4699000" cy="1143000"/>
          </a:xfrm>
          <a:prstGeom prst="rect">
            <a:avLst/>
          </a:prstGeom>
          <a:noFill/>
          <a:ln/>
        </p:spPr>
        <p:txBody>
          <a:bodyPr wrap="square" lIns="0" tIns="0" rIns="0" bIns="0" rtlCol="0" anchor="t"/>
          <a:lstStyle/>
          <a:p>
            <a:pPr>
              <a:lnSpc>
                <a:spcPct val="140000"/>
              </a:lnSpc>
            </a:pPr>
            <a:r>
              <a:rPr lang="en-US" sz="1300" dirty="0">
                <a:solidFill>
                  <a:srgbClr val="5C6B7A"/>
                </a:solidFill>
                <a:latin typeface="Quattrocento Sans" pitchFamily="34" charset="0"/>
                <a:ea typeface="Quattrocento Sans" pitchFamily="34" charset="-122"/>
                <a:cs typeface="Quattrocento Sans" pitchFamily="34" charset="-120"/>
              </a:rPr>
              <a:t>Look for: misspelled brand names, extra words added, wrong TLDs (.net, .org instead of .com), and missing HTTPS.</a:t>
            </a:r>
            <a:endParaRPr lang="en-US" sz="1600" dirty="0"/>
          </a:p>
        </p:txBody>
      </p:sp>
      <p:sp>
        <p:nvSpPr>
          <p:cNvPr id="26" name="Text 24"/>
          <p:cNvSpPr/>
          <p:nvPr/>
        </p:nvSpPr>
        <p:spPr>
          <a:xfrm>
            <a:off x="13970000" y="8699500"/>
            <a:ext cx="1524000" cy="254000"/>
          </a:xfrm>
          <a:prstGeom prst="rect">
            <a:avLst/>
          </a:prstGeom>
          <a:noFill/>
          <a:ln/>
        </p:spPr>
        <p:txBody>
          <a:bodyPr wrap="none" lIns="0" tIns="0" rIns="0" bIns="0" rtlCol="0" anchor="ctr"/>
          <a:lstStyle/>
          <a:p>
            <a:pPr algn="r">
              <a:lnSpc>
                <a:spcPct val="140000"/>
              </a:lnSpc>
            </a:pPr>
            <a:r>
              <a:rPr lang="en-US" sz="1400" dirty="0">
                <a:solidFill>
                  <a:srgbClr val="5C6B7A"/>
                </a:solidFill>
                <a:latin typeface="QuattrocentoSans" pitchFamily="34" charset="0"/>
                <a:ea typeface="QuattrocentoSans" pitchFamily="34" charset="-122"/>
                <a:cs typeface="QuattrocentoSans" pitchFamily="34" charset="-120"/>
              </a:rPr>
              <a:t>02 / Recognizing</a:t>
            </a:r>
            <a:endParaRPr lang="en-US" sz="14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gradFill flip="none" rotWithShape="1">
            <a:gsLst>
              <a:gs pos="0">
                <a:srgbClr val="1B263B">
                  <a:alpha val="93000"/>
                </a:srgbClr>
              </a:gs>
              <a:gs pos="60000">
                <a:srgbClr val="1B263B">
                  <a:alpha val="80000"/>
                </a:srgbClr>
              </a:gs>
              <a:gs pos="100000">
                <a:srgbClr val="1B263B">
                  <a:alpha val="40000"/>
                </a:srgbClr>
              </a:gs>
            </a:gsLst>
            <a:lin ang="0" scaled="1"/>
          </a:gradFill>
          <a:ln/>
        </p:spPr>
      </p:sp>
      <p:sp>
        <p:nvSpPr>
          <p:cNvPr id="3" name="Text 1"/>
          <p:cNvSpPr/>
          <p:nvPr/>
        </p:nvSpPr>
        <p:spPr>
          <a:xfrm>
            <a:off x="1016000" y="2540000"/>
            <a:ext cx="2540000" cy="1016000"/>
          </a:xfrm>
          <a:prstGeom prst="rect">
            <a:avLst/>
          </a:prstGeom>
          <a:noFill/>
          <a:ln/>
        </p:spPr>
        <p:txBody>
          <a:bodyPr wrap="none" lIns="0" tIns="0" rIns="0" bIns="0" rtlCol="0" anchor="ctr"/>
          <a:lstStyle/>
          <a:p>
            <a:pPr>
              <a:lnSpc>
                <a:spcPct val="100000"/>
              </a:lnSpc>
            </a:pPr>
            <a:r>
              <a:rPr lang="en-US" sz="7200" dirty="0">
                <a:solidFill>
                  <a:srgbClr val="E85D04"/>
                </a:solidFill>
                <a:latin typeface="Liter" pitchFamily="34" charset="0"/>
                <a:ea typeface="Liter" pitchFamily="34" charset="-122"/>
                <a:cs typeface="Liter" pitchFamily="34" charset="-120"/>
              </a:rPr>
              <a:t>03</a:t>
            </a:r>
            <a:endParaRPr lang="en-US" sz="1600" dirty="0"/>
          </a:p>
        </p:txBody>
      </p:sp>
      <p:sp>
        <p:nvSpPr>
          <p:cNvPr id="4" name="Shape 2"/>
          <p:cNvSpPr/>
          <p:nvPr/>
        </p:nvSpPr>
        <p:spPr>
          <a:xfrm>
            <a:off x="1016000" y="3683000"/>
            <a:ext cx="1270000" cy="38100"/>
          </a:xfrm>
          <a:prstGeom prst="rect">
            <a:avLst/>
          </a:prstGeom>
          <a:solidFill>
            <a:srgbClr val="E85D04"/>
          </a:solidFill>
          <a:ln/>
        </p:spPr>
      </p:sp>
      <p:sp>
        <p:nvSpPr>
          <p:cNvPr id="5" name="Text 3"/>
          <p:cNvSpPr/>
          <p:nvPr/>
        </p:nvSpPr>
        <p:spPr>
          <a:xfrm>
            <a:off x="1016000" y="3937000"/>
            <a:ext cx="10160000" cy="698500"/>
          </a:xfrm>
          <a:prstGeom prst="rect">
            <a:avLst/>
          </a:prstGeom>
          <a:noFill/>
          <a:ln/>
        </p:spPr>
        <p:txBody>
          <a:bodyPr wrap="none" lIns="0" tIns="0" rIns="0" bIns="0" rtlCol="0" anchor="ctr"/>
          <a:lstStyle/>
          <a:p>
            <a:pPr>
              <a:lnSpc>
                <a:spcPct val="120000"/>
              </a:lnSpc>
            </a:pPr>
            <a:r>
              <a:rPr lang="en-US" sz="3800" kern="0" spc="200" dirty="0">
                <a:solidFill>
                  <a:srgbClr val="FFFFFF"/>
                </a:solidFill>
                <a:latin typeface="Liter" pitchFamily="34" charset="0"/>
                <a:ea typeface="Liter" pitchFamily="34" charset="-122"/>
                <a:cs typeface="Liter" pitchFamily="34" charset="-120"/>
              </a:rPr>
              <a:t>SOCIAL ENGINEERING TACTICS</a:t>
            </a:r>
            <a:endParaRPr lang="en-US" sz="3800" dirty="0"/>
          </a:p>
        </p:txBody>
      </p:sp>
      <p:sp>
        <p:nvSpPr>
          <p:cNvPr id="6" name="Text 4"/>
          <p:cNvSpPr/>
          <p:nvPr/>
        </p:nvSpPr>
        <p:spPr>
          <a:xfrm>
            <a:off x="1016000" y="4826000"/>
            <a:ext cx="8890000" cy="444500"/>
          </a:xfrm>
          <a:prstGeom prst="rect">
            <a:avLst/>
          </a:prstGeom>
          <a:noFill/>
          <a:ln/>
        </p:spPr>
        <p:txBody>
          <a:bodyPr wrap="none" lIns="0" tIns="0" rIns="0" bIns="0" rtlCol="0" anchor="ctr"/>
          <a:lstStyle/>
          <a:p>
            <a:pPr>
              <a:lnSpc>
                <a:spcPct val="10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How attackers manipulate human psychology to breach defenses</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762000" y="571500"/>
            <a:ext cx="10160000" cy="508000"/>
          </a:xfrm>
          <a:prstGeom prst="rect">
            <a:avLst/>
          </a:prstGeom>
          <a:noFill/>
          <a:ln/>
        </p:spPr>
        <p:txBody>
          <a:bodyPr wrap="none" lIns="0" tIns="0" rIns="0" bIns="0" rtlCol="0" anchor="ctr"/>
          <a:lstStyle/>
          <a:p>
            <a:pPr>
              <a:lnSpc>
                <a:spcPct val="130000"/>
              </a:lnSpc>
            </a:pPr>
            <a:r>
              <a:rPr lang="en-US" sz="2800" dirty="0">
                <a:solidFill>
                  <a:srgbClr val="1B263B"/>
                </a:solidFill>
                <a:latin typeface="Liter" pitchFamily="34" charset="0"/>
                <a:ea typeface="Liter" pitchFamily="34" charset="-122"/>
                <a:cs typeface="Liter" pitchFamily="34" charset="-120"/>
              </a:rPr>
              <a:t>Common Social Engineering Techniques</a:t>
            </a:r>
            <a:endParaRPr lang="en-US" sz="2800" dirty="0"/>
          </a:p>
        </p:txBody>
      </p:sp>
      <p:sp>
        <p:nvSpPr>
          <p:cNvPr id="3" name="Shape 1"/>
          <p:cNvSpPr/>
          <p:nvPr/>
        </p:nvSpPr>
        <p:spPr>
          <a:xfrm>
            <a:off x="762000" y="1143000"/>
            <a:ext cx="762000" cy="38100"/>
          </a:xfrm>
          <a:prstGeom prst="rect">
            <a:avLst/>
          </a:prstGeom>
          <a:solidFill>
            <a:srgbClr val="E85D04"/>
          </a:solidFill>
          <a:ln/>
        </p:spPr>
      </p:sp>
      <p:sp>
        <p:nvSpPr>
          <p:cNvPr id="4" name="Shape 2"/>
          <p:cNvSpPr/>
          <p:nvPr/>
        </p:nvSpPr>
        <p:spPr>
          <a:xfrm>
            <a:off x="762000" y="1460500"/>
            <a:ext cx="7175500" cy="2222500"/>
          </a:xfrm>
          <a:prstGeom prst="roundRect">
            <a:avLst>
              <a:gd name="adj" fmla="val 6000"/>
            </a:avLst>
          </a:prstGeom>
          <a:solidFill>
            <a:srgbClr val="EDEAE4"/>
          </a:solidFill>
          <a:ln/>
        </p:spPr>
      </p:sp>
      <p:sp>
        <p:nvSpPr>
          <p:cNvPr id="5" name="Shape 3"/>
          <p:cNvSpPr/>
          <p:nvPr/>
        </p:nvSpPr>
        <p:spPr>
          <a:xfrm>
            <a:off x="1050925" y="1714500"/>
            <a:ext cx="514350" cy="457200"/>
          </a:xfrm>
          <a:custGeom>
            <a:avLst/>
            <a:gdLst/>
            <a:ahLst/>
            <a:cxnLst/>
            <a:rect l="l" t="t" r="r" b="b"/>
            <a:pathLst>
              <a:path w="514350" h="457200">
                <a:moveTo>
                  <a:pt x="-4465" y="105370"/>
                </a:moveTo>
                <a:lnTo>
                  <a:pt x="20985" y="249763"/>
                </a:lnTo>
                <a:cubicBezTo>
                  <a:pt x="33486" y="320754"/>
                  <a:pt x="89118" y="376386"/>
                  <a:pt x="160109" y="388888"/>
                </a:cubicBezTo>
                <a:lnTo>
                  <a:pt x="171450" y="390852"/>
                </a:lnTo>
                <a:cubicBezTo>
                  <a:pt x="156716" y="365314"/>
                  <a:pt x="147251" y="336649"/>
                  <a:pt x="144125" y="306467"/>
                </a:cubicBezTo>
                <a:lnTo>
                  <a:pt x="122605" y="310307"/>
                </a:lnTo>
                <a:cubicBezTo>
                  <a:pt x="113943" y="311825"/>
                  <a:pt x="105817" y="305127"/>
                  <a:pt x="107513" y="296466"/>
                </a:cubicBezTo>
                <a:cubicBezTo>
                  <a:pt x="111800" y="274409"/>
                  <a:pt x="124569" y="254853"/>
                  <a:pt x="142964" y="242084"/>
                </a:cubicBezTo>
                <a:lnTo>
                  <a:pt x="142964" y="175468"/>
                </a:lnTo>
                <a:cubicBezTo>
                  <a:pt x="141714" y="176183"/>
                  <a:pt x="140285" y="176629"/>
                  <a:pt x="138767" y="176897"/>
                </a:cubicBezTo>
                <a:lnTo>
                  <a:pt x="82510" y="186809"/>
                </a:lnTo>
                <a:cubicBezTo>
                  <a:pt x="74741" y="188149"/>
                  <a:pt x="67062" y="182880"/>
                  <a:pt x="68312" y="175111"/>
                </a:cubicBezTo>
                <a:cubicBezTo>
                  <a:pt x="71080" y="157609"/>
                  <a:pt x="84743" y="142964"/>
                  <a:pt x="103227" y="139660"/>
                </a:cubicBezTo>
                <a:cubicBezTo>
                  <a:pt x="118586" y="136981"/>
                  <a:pt x="133499" y="142786"/>
                  <a:pt x="143054" y="153769"/>
                </a:cubicBezTo>
                <a:lnTo>
                  <a:pt x="143054" y="133499"/>
                </a:lnTo>
                <a:cubicBezTo>
                  <a:pt x="143054" y="113407"/>
                  <a:pt x="149215" y="86707"/>
                  <a:pt x="171896" y="67955"/>
                </a:cubicBezTo>
                <a:cubicBezTo>
                  <a:pt x="195114" y="48756"/>
                  <a:pt x="232350" y="28754"/>
                  <a:pt x="283428" y="19556"/>
                </a:cubicBezTo>
                <a:cubicBezTo>
                  <a:pt x="256193" y="5001"/>
                  <a:pt x="206365" y="-9019"/>
                  <a:pt x="137160" y="3125"/>
                </a:cubicBezTo>
                <a:cubicBezTo>
                  <a:pt x="65455" y="15806"/>
                  <a:pt x="22860" y="47863"/>
                  <a:pt x="3125" y="71080"/>
                </a:cubicBezTo>
                <a:cubicBezTo>
                  <a:pt x="-4911" y="80456"/>
                  <a:pt x="-6519" y="93315"/>
                  <a:pt x="-4376" y="105460"/>
                </a:cubicBezTo>
                <a:close/>
                <a:moveTo>
                  <a:pt x="185738" y="123855"/>
                </a:moveTo>
                <a:lnTo>
                  <a:pt x="185738" y="279946"/>
                </a:lnTo>
                <a:cubicBezTo>
                  <a:pt x="185738" y="352008"/>
                  <a:pt x="230832" y="416481"/>
                  <a:pt x="298609" y="441037"/>
                </a:cubicBezTo>
                <a:lnTo>
                  <a:pt x="323344" y="450056"/>
                </a:lnTo>
                <a:cubicBezTo>
                  <a:pt x="335935" y="454610"/>
                  <a:pt x="349776" y="454610"/>
                  <a:pt x="362367" y="450056"/>
                </a:cubicBezTo>
                <a:lnTo>
                  <a:pt x="387191" y="441127"/>
                </a:lnTo>
                <a:cubicBezTo>
                  <a:pt x="454968" y="416481"/>
                  <a:pt x="500063" y="352098"/>
                  <a:pt x="500063" y="279946"/>
                </a:cubicBezTo>
                <a:lnTo>
                  <a:pt x="500063" y="123855"/>
                </a:lnTo>
                <a:cubicBezTo>
                  <a:pt x="500063" y="117693"/>
                  <a:pt x="498187" y="111532"/>
                  <a:pt x="493812" y="107246"/>
                </a:cubicBezTo>
                <a:cubicBezTo>
                  <a:pt x="473631" y="87154"/>
                  <a:pt x="423982" y="57239"/>
                  <a:pt x="342900" y="57239"/>
                </a:cubicBezTo>
                <a:cubicBezTo>
                  <a:pt x="261818" y="57239"/>
                  <a:pt x="212169" y="87243"/>
                  <a:pt x="191988" y="107246"/>
                </a:cubicBezTo>
                <a:cubicBezTo>
                  <a:pt x="187613" y="111621"/>
                  <a:pt x="185738" y="117693"/>
                  <a:pt x="185738" y="123855"/>
                </a:cubicBezTo>
                <a:close/>
                <a:moveTo>
                  <a:pt x="244763" y="290929"/>
                </a:moveTo>
                <a:cubicBezTo>
                  <a:pt x="243513" y="284678"/>
                  <a:pt x="251014" y="281107"/>
                  <a:pt x="256103" y="285036"/>
                </a:cubicBezTo>
                <a:cubicBezTo>
                  <a:pt x="280124" y="303431"/>
                  <a:pt x="310217" y="314414"/>
                  <a:pt x="342900" y="314414"/>
                </a:cubicBezTo>
                <a:cubicBezTo>
                  <a:pt x="375583" y="314414"/>
                  <a:pt x="405586" y="303431"/>
                  <a:pt x="429697" y="285036"/>
                </a:cubicBezTo>
                <a:cubicBezTo>
                  <a:pt x="434786" y="281107"/>
                  <a:pt x="442287" y="284678"/>
                  <a:pt x="441037" y="290929"/>
                </a:cubicBezTo>
                <a:cubicBezTo>
                  <a:pt x="432018" y="336828"/>
                  <a:pt x="391478" y="371564"/>
                  <a:pt x="342900" y="371564"/>
                </a:cubicBezTo>
                <a:cubicBezTo>
                  <a:pt x="294323" y="371564"/>
                  <a:pt x="253782" y="336917"/>
                  <a:pt x="244763" y="290929"/>
                </a:cubicBezTo>
                <a:close/>
                <a:moveTo>
                  <a:pt x="245209" y="200293"/>
                </a:moveTo>
                <a:cubicBezTo>
                  <a:pt x="251103" y="183505"/>
                  <a:pt x="266998" y="171450"/>
                  <a:pt x="285750" y="171450"/>
                </a:cubicBezTo>
                <a:cubicBezTo>
                  <a:pt x="304502" y="171450"/>
                  <a:pt x="320486" y="183505"/>
                  <a:pt x="326291" y="200293"/>
                </a:cubicBezTo>
                <a:cubicBezTo>
                  <a:pt x="328880" y="207794"/>
                  <a:pt x="322272" y="214313"/>
                  <a:pt x="314325" y="214313"/>
                </a:cubicBezTo>
                <a:lnTo>
                  <a:pt x="257175" y="214313"/>
                </a:lnTo>
                <a:cubicBezTo>
                  <a:pt x="249317" y="214313"/>
                  <a:pt x="242620" y="207705"/>
                  <a:pt x="245209" y="200293"/>
                </a:cubicBezTo>
                <a:close/>
                <a:moveTo>
                  <a:pt x="428625" y="214313"/>
                </a:moveTo>
                <a:lnTo>
                  <a:pt x="371475" y="214313"/>
                </a:lnTo>
                <a:cubicBezTo>
                  <a:pt x="363617" y="214313"/>
                  <a:pt x="356920" y="207705"/>
                  <a:pt x="359509" y="200293"/>
                </a:cubicBezTo>
                <a:cubicBezTo>
                  <a:pt x="365314" y="183505"/>
                  <a:pt x="381298" y="171450"/>
                  <a:pt x="400050" y="171450"/>
                </a:cubicBezTo>
                <a:cubicBezTo>
                  <a:pt x="418802" y="171450"/>
                  <a:pt x="434786" y="183505"/>
                  <a:pt x="440591" y="200293"/>
                </a:cubicBezTo>
                <a:cubicBezTo>
                  <a:pt x="443180" y="207794"/>
                  <a:pt x="436572" y="214313"/>
                  <a:pt x="428625" y="214313"/>
                </a:cubicBezTo>
                <a:close/>
              </a:path>
            </a:pathLst>
          </a:custGeom>
          <a:solidFill>
            <a:srgbClr val="E85D04"/>
          </a:solidFill>
          <a:ln/>
        </p:spPr>
      </p:sp>
      <p:sp>
        <p:nvSpPr>
          <p:cNvPr id="6" name="Text 4"/>
          <p:cNvSpPr/>
          <p:nvPr/>
        </p:nvSpPr>
        <p:spPr>
          <a:xfrm>
            <a:off x="1714500" y="1714500"/>
            <a:ext cx="3175000" cy="406400"/>
          </a:xfrm>
          <a:prstGeom prst="rect">
            <a:avLst/>
          </a:prstGeom>
          <a:noFill/>
          <a:ln/>
        </p:spPr>
        <p:txBody>
          <a:bodyPr wrap="none" lIns="0" tIns="0" rIns="0" bIns="0" rtlCol="0" anchor="ctr"/>
          <a:lstStyle/>
          <a:p>
            <a:pPr>
              <a:lnSpc>
                <a:spcPct val="100000"/>
              </a:lnSpc>
            </a:pPr>
            <a:r>
              <a:rPr lang="en-US" sz="2000" dirty="0">
                <a:solidFill>
                  <a:srgbClr val="1B263B"/>
                </a:solidFill>
                <a:latin typeface="Liter" pitchFamily="34" charset="0"/>
                <a:ea typeface="Liter" pitchFamily="34" charset="-122"/>
                <a:cs typeface="Liter" pitchFamily="34" charset="-120"/>
              </a:rPr>
              <a:t>Pretexting</a:t>
            </a:r>
            <a:endParaRPr lang="en-US" sz="1600" dirty="0"/>
          </a:p>
        </p:txBody>
      </p:sp>
      <p:sp>
        <p:nvSpPr>
          <p:cNvPr id="7" name="Text 5"/>
          <p:cNvSpPr/>
          <p:nvPr/>
        </p:nvSpPr>
        <p:spPr>
          <a:xfrm>
            <a:off x="1079500" y="2286000"/>
            <a:ext cx="6604000" cy="1206500"/>
          </a:xfrm>
          <a:prstGeom prst="rect">
            <a:avLst/>
          </a:prstGeom>
          <a:noFill/>
          <a:ln/>
        </p:spPr>
        <p:txBody>
          <a:bodyPr wrap="square" lIns="0" tIns="0" rIns="0" bIns="0" rtlCol="0" anchor="t"/>
          <a:lstStyle/>
          <a:p>
            <a:pPr>
              <a:lnSpc>
                <a:spcPct val="150000"/>
              </a:lnSpc>
            </a:pPr>
            <a:r>
              <a:rPr lang="en-US" sz="1600" dirty="0">
                <a:solidFill>
                  <a:srgbClr val="1A1A2E"/>
                </a:solidFill>
                <a:latin typeface="Quattrocento Sans" pitchFamily="34" charset="0"/>
                <a:ea typeface="Quattrocento Sans" pitchFamily="34" charset="-122"/>
                <a:cs typeface="Quattrocento Sans" pitchFamily="34" charset="-120"/>
              </a:rPr>
              <a:t>Creating a fabricated scenario to gain trust. Attackers pose as IT support, auditors, or colleagues to extract information through a convincing backstory.</a:t>
            </a:r>
            <a:endParaRPr lang="en-US" sz="1600" dirty="0"/>
          </a:p>
        </p:txBody>
      </p:sp>
      <p:sp>
        <p:nvSpPr>
          <p:cNvPr id="8" name="Shape 6"/>
          <p:cNvSpPr/>
          <p:nvPr/>
        </p:nvSpPr>
        <p:spPr>
          <a:xfrm>
            <a:off x="8318500" y="1460500"/>
            <a:ext cx="7175500" cy="2222500"/>
          </a:xfrm>
          <a:prstGeom prst="roundRect">
            <a:avLst>
              <a:gd name="adj" fmla="val 6000"/>
            </a:avLst>
          </a:prstGeom>
          <a:solidFill>
            <a:srgbClr val="EDEAE4"/>
          </a:solidFill>
          <a:ln/>
        </p:spPr>
      </p:sp>
      <p:sp>
        <p:nvSpPr>
          <p:cNvPr id="9" name="Shape 7"/>
          <p:cNvSpPr/>
          <p:nvPr/>
        </p:nvSpPr>
        <p:spPr>
          <a:xfrm>
            <a:off x="8636000" y="1714500"/>
            <a:ext cx="457200" cy="457200"/>
          </a:xfrm>
          <a:custGeom>
            <a:avLst/>
            <a:gdLst/>
            <a:ahLst/>
            <a:cxnLst/>
            <a:rect l="l" t="t" r="r" b="b"/>
            <a:pathLst>
              <a:path w="457200" h="457200">
                <a:moveTo>
                  <a:pt x="287089" y="61436"/>
                </a:moveTo>
                <a:cubicBezTo>
                  <a:pt x="293876" y="49917"/>
                  <a:pt x="306199" y="42863"/>
                  <a:pt x="319504" y="42863"/>
                </a:cubicBezTo>
                <a:lnTo>
                  <a:pt x="321469" y="42863"/>
                </a:lnTo>
                <a:cubicBezTo>
                  <a:pt x="341203" y="42863"/>
                  <a:pt x="357188" y="58847"/>
                  <a:pt x="357188" y="78581"/>
                </a:cubicBezTo>
                <a:cubicBezTo>
                  <a:pt x="357188" y="98316"/>
                  <a:pt x="341203" y="114300"/>
                  <a:pt x="321469" y="114300"/>
                </a:cubicBezTo>
                <a:lnTo>
                  <a:pt x="256014" y="114300"/>
                </a:lnTo>
                <a:lnTo>
                  <a:pt x="287089" y="61436"/>
                </a:lnTo>
                <a:close/>
                <a:moveTo>
                  <a:pt x="170111" y="61436"/>
                </a:moveTo>
                <a:lnTo>
                  <a:pt x="201186" y="114300"/>
                </a:lnTo>
                <a:lnTo>
                  <a:pt x="135731" y="114300"/>
                </a:lnTo>
                <a:cubicBezTo>
                  <a:pt x="115997" y="114300"/>
                  <a:pt x="100013" y="98316"/>
                  <a:pt x="100013" y="78581"/>
                </a:cubicBezTo>
                <a:cubicBezTo>
                  <a:pt x="100013" y="58847"/>
                  <a:pt x="115997" y="42863"/>
                  <a:pt x="135731" y="42863"/>
                </a:cubicBezTo>
                <a:lnTo>
                  <a:pt x="137696" y="42863"/>
                </a:lnTo>
                <a:cubicBezTo>
                  <a:pt x="151001" y="42863"/>
                  <a:pt x="163413" y="49917"/>
                  <a:pt x="170111" y="61436"/>
                </a:cubicBezTo>
                <a:close/>
                <a:moveTo>
                  <a:pt x="250121" y="39737"/>
                </a:moveTo>
                <a:lnTo>
                  <a:pt x="228600" y="76349"/>
                </a:lnTo>
                <a:lnTo>
                  <a:pt x="207079" y="39737"/>
                </a:lnTo>
                <a:cubicBezTo>
                  <a:pt x="192613" y="15091"/>
                  <a:pt x="166181" y="0"/>
                  <a:pt x="137696" y="0"/>
                </a:cubicBezTo>
                <a:lnTo>
                  <a:pt x="135731" y="0"/>
                </a:lnTo>
                <a:cubicBezTo>
                  <a:pt x="92333" y="0"/>
                  <a:pt x="57150" y="35183"/>
                  <a:pt x="57150" y="78581"/>
                </a:cubicBezTo>
                <a:cubicBezTo>
                  <a:pt x="57150" y="91440"/>
                  <a:pt x="60275" y="103584"/>
                  <a:pt x="65723" y="114300"/>
                </a:cubicBezTo>
                <a:lnTo>
                  <a:pt x="28575" y="114300"/>
                </a:lnTo>
                <a:cubicBezTo>
                  <a:pt x="12769" y="114300"/>
                  <a:pt x="0" y="127069"/>
                  <a:pt x="0" y="142875"/>
                </a:cubicBezTo>
                <a:lnTo>
                  <a:pt x="0" y="171450"/>
                </a:lnTo>
                <a:cubicBezTo>
                  <a:pt x="0" y="187256"/>
                  <a:pt x="12769" y="200025"/>
                  <a:pt x="28575" y="200025"/>
                </a:cubicBezTo>
                <a:lnTo>
                  <a:pt x="428625" y="200025"/>
                </a:lnTo>
                <a:cubicBezTo>
                  <a:pt x="444431" y="200025"/>
                  <a:pt x="457200" y="187256"/>
                  <a:pt x="457200" y="171450"/>
                </a:cubicBezTo>
                <a:lnTo>
                  <a:pt x="457200" y="142875"/>
                </a:lnTo>
                <a:cubicBezTo>
                  <a:pt x="457200" y="127069"/>
                  <a:pt x="444431" y="114300"/>
                  <a:pt x="428625" y="114300"/>
                </a:cubicBezTo>
                <a:lnTo>
                  <a:pt x="391478" y="114300"/>
                </a:lnTo>
                <a:cubicBezTo>
                  <a:pt x="396925" y="103584"/>
                  <a:pt x="400050" y="91440"/>
                  <a:pt x="400050" y="78581"/>
                </a:cubicBezTo>
                <a:cubicBezTo>
                  <a:pt x="400050" y="35183"/>
                  <a:pt x="364867" y="0"/>
                  <a:pt x="321469" y="0"/>
                </a:cubicBezTo>
                <a:lnTo>
                  <a:pt x="319504" y="0"/>
                </a:lnTo>
                <a:cubicBezTo>
                  <a:pt x="291019" y="0"/>
                  <a:pt x="264587" y="15091"/>
                  <a:pt x="250121" y="39648"/>
                </a:cubicBezTo>
                <a:close/>
                <a:moveTo>
                  <a:pt x="428625" y="242888"/>
                </a:moveTo>
                <a:lnTo>
                  <a:pt x="250031" y="242888"/>
                </a:lnTo>
                <a:lnTo>
                  <a:pt x="250031" y="428625"/>
                </a:lnTo>
                <a:lnTo>
                  <a:pt x="371475" y="428625"/>
                </a:lnTo>
                <a:cubicBezTo>
                  <a:pt x="402997" y="428625"/>
                  <a:pt x="428625" y="402997"/>
                  <a:pt x="428625" y="371475"/>
                </a:cubicBezTo>
                <a:lnTo>
                  <a:pt x="428625" y="242888"/>
                </a:lnTo>
                <a:close/>
                <a:moveTo>
                  <a:pt x="207169" y="242888"/>
                </a:moveTo>
                <a:lnTo>
                  <a:pt x="28575" y="242888"/>
                </a:lnTo>
                <a:lnTo>
                  <a:pt x="28575" y="371475"/>
                </a:lnTo>
                <a:cubicBezTo>
                  <a:pt x="28575" y="402997"/>
                  <a:pt x="54203" y="428625"/>
                  <a:pt x="85725" y="428625"/>
                </a:cubicBezTo>
                <a:lnTo>
                  <a:pt x="207169" y="428625"/>
                </a:lnTo>
                <a:lnTo>
                  <a:pt x="207169" y="242888"/>
                </a:lnTo>
                <a:close/>
              </a:path>
            </a:pathLst>
          </a:custGeom>
          <a:solidFill>
            <a:srgbClr val="E85D04"/>
          </a:solidFill>
          <a:ln/>
        </p:spPr>
      </p:sp>
      <p:sp>
        <p:nvSpPr>
          <p:cNvPr id="10" name="Text 8"/>
          <p:cNvSpPr/>
          <p:nvPr/>
        </p:nvSpPr>
        <p:spPr>
          <a:xfrm>
            <a:off x="9271000" y="1714500"/>
            <a:ext cx="3175000" cy="406400"/>
          </a:xfrm>
          <a:prstGeom prst="rect">
            <a:avLst/>
          </a:prstGeom>
          <a:noFill/>
          <a:ln/>
        </p:spPr>
        <p:txBody>
          <a:bodyPr wrap="none" lIns="0" tIns="0" rIns="0" bIns="0" rtlCol="0" anchor="ctr"/>
          <a:lstStyle/>
          <a:p>
            <a:pPr>
              <a:lnSpc>
                <a:spcPct val="100000"/>
              </a:lnSpc>
            </a:pPr>
            <a:r>
              <a:rPr lang="en-US" sz="2000" dirty="0">
                <a:solidFill>
                  <a:srgbClr val="1B263B"/>
                </a:solidFill>
                <a:latin typeface="Liter" pitchFamily="34" charset="0"/>
                <a:ea typeface="Liter" pitchFamily="34" charset="-122"/>
                <a:cs typeface="Liter" pitchFamily="34" charset="-120"/>
              </a:rPr>
              <a:t>Baiting</a:t>
            </a:r>
            <a:endParaRPr lang="en-US" sz="1600" dirty="0"/>
          </a:p>
        </p:txBody>
      </p:sp>
      <p:sp>
        <p:nvSpPr>
          <p:cNvPr id="11" name="Text 9"/>
          <p:cNvSpPr/>
          <p:nvPr/>
        </p:nvSpPr>
        <p:spPr>
          <a:xfrm>
            <a:off x="8636000" y="2286000"/>
            <a:ext cx="6604000" cy="1206500"/>
          </a:xfrm>
          <a:prstGeom prst="rect">
            <a:avLst/>
          </a:prstGeom>
          <a:noFill/>
          <a:ln/>
        </p:spPr>
        <p:txBody>
          <a:bodyPr wrap="square" lIns="0" tIns="0" rIns="0" bIns="0" rtlCol="0" anchor="t"/>
          <a:lstStyle/>
          <a:p>
            <a:pPr>
              <a:lnSpc>
                <a:spcPct val="150000"/>
              </a:lnSpc>
            </a:pPr>
            <a:r>
              <a:rPr lang="en-US" sz="1600" dirty="0">
                <a:solidFill>
                  <a:srgbClr val="1A1A2E"/>
                </a:solidFill>
                <a:latin typeface="Quattrocento Sans" pitchFamily="34" charset="0"/>
                <a:ea typeface="Quattrocento Sans" pitchFamily="34" charset="-122"/>
                <a:cs typeface="Quattrocento Sans" pitchFamily="34" charset="-120"/>
              </a:rPr>
              <a:t>Offering something enticing to trigger curiosity — "free" USB drives left in parking lots, fake downloads promising movies or software, or too-good-to-be-true offers.</a:t>
            </a:r>
            <a:endParaRPr lang="en-US" sz="1600" dirty="0"/>
          </a:p>
        </p:txBody>
      </p:sp>
      <p:sp>
        <p:nvSpPr>
          <p:cNvPr id="12" name="Shape 10"/>
          <p:cNvSpPr/>
          <p:nvPr/>
        </p:nvSpPr>
        <p:spPr>
          <a:xfrm>
            <a:off x="762000" y="4000500"/>
            <a:ext cx="7175500" cy="2222500"/>
          </a:xfrm>
          <a:prstGeom prst="roundRect">
            <a:avLst>
              <a:gd name="adj" fmla="val 6000"/>
            </a:avLst>
          </a:prstGeom>
          <a:solidFill>
            <a:srgbClr val="EDEAE4"/>
          </a:solidFill>
          <a:ln/>
        </p:spPr>
      </p:sp>
      <p:sp>
        <p:nvSpPr>
          <p:cNvPr id="13" name="Shape 11"/>
          <p:cNvSpPr/>
          <p:nvPr/>
        </p:nvSpPr>
        <p:spPr>
          <a:xfrm>
            <a:off x="1050925" y="4254500"/>
            <a:ext cx="514350" cy="457200"/>
          </a:xfrm>
          <a:custGeom>
            <a:avLst/>
            <a:gdLst/>
            <a:ahLst/>
            <a:cxnLst/>
            <a:rect l="l" t="t" r="r" b="b"/>
            <a:pathLst>
              <a:path w="514350" h="457200">
                <a:moveTo>
                  <a:pt x="240119" y="76081"/>
                </a:moveTo>
                <a:lnTo>
                  <a:pt x="135999" y="191810"/>
                </a:lnTo>
                <a:cubicBezTo>
                  <a:pt x="131891" y="196364"/>
                  <a:pt x="132070" y="203418"/>
                  <a:pt x="136446" y="207794"/>
                </a:cubicBezTo>
                <a:cubicBezTo>
                  <a:pt x="163681" y="235029"/>
                  <a:pt x="207883" y="235029"/>
                  <a:pt x="235119" y="207794"/>
                </a:cubicBezTo>
                <a:lnTo>
                  <a:pt x="263515" y="179397"/>
                </a:lnTo>
                <a:cubicBezTo>
                  <a:pt x="267266" y="175647"/>
                  <a:pt x="271998" y="173593"/>
                  <a:pt x="276820" y="173236"/>
                </a:cubicBezTo>
                <a:cubicBezTo>
                  <a:pt x="282893" y="172700"/>
                  <a:pt x="289143" y="174754"/>
                  <a:pt x="293787" y="179397"/>
                </a:cubicBezTo>
                <a:lnTo>
                  <a:pt x="451485" y="335756"/>
                </a:lnTo>
                <a:lnTo>
                  <a:pt x="514350" y="285750"/>
                </a:lnTo>
                <a:lnTo>
                  <a:pt x="514350" y="28575"/>
                </a:lnTo>
                <a:lnTo>
                  <a:pt x="414338" y="85725"/>
                </a:lnTo>
                <a:lnTo>
                  <a:pt x="393085" y="71527"/>
                </a:lnTo>
                <a:cubicBezTo>
                  <a:pt x="378976" y="62151"/>
                  <a:pt x="362456" y="57150"/>
                  <a:pt x="345490" y="57150"/>
                </a:cubicBezTo>
                <a:lnTo>
                  <a:pt x="282625" y="57150"/>
                </a:lnTo>
                <a:cubicBezTo>
                  <a:pt x="281642" y="57150"/>
                  <a:pt x="280571" y="57150"/>
                  <a:pt x="279589" y="57239"/>
                </a:cubicBezTo>
                <a:cubicBezTo>
                  <a:pt x="264497" y="58043"/>
                  <a:pt x="250299" y="64830"/>
                  <a:pt x="240119" y="76081"/>
                </a:cubicBezTo>
                <a:close/>
                <a:moveTo>
                  <a:pt x="104120" y="163145"/>
                </a:moveTo>
                <a:lnTo>
                  <a:pt x="199489" y="57150"/>
                </a:lnTo>
                <a:lnTo>
                  <a:pt x="164128" y="57150"/>
                </a:lnTo>
                <a:cubicBezTo>
                  <a:pt x="141357" y="57150"/>
                  <a:pt x="119569" y="66169"/>
                  <a:pt x="103495" y="82242"/>
                </a:cubicBezTo>
                <a:lnTo>
                  <a:pt x="100013" y="85725"/>
                </a:lnTo>
                <a:lnTo>
                  <a:pt x="0" y="28575"/>
                </a:lnTo>
                <a:lnTo>
                  <a:pt x="0" y="285750"/>
                </a:lnTo>
                <a:lnTo>
                  <a:pt x="139660" y="402104"/>
                </a:lnTo>
                <a:cubicBezTo>
                  <a:pt x="160199" y="419249"/>
                  <a:pt x="186095" y="428625"/>
                  <a:pt x="212794" y="428625"/>
                </a:cubicBezTo>
                <a:lnTo>
                  <a:pt x="226814" y="428625"/>
                </a:lnTo>
                <a:lnTo>
                  <a:pt x="220563" y="422374"/>
                </a:lnTo>
                <a:cubicBezTo>
                  <a:pt x="212169" y="413980"/>
                  <a:pt x="212169" y="400407"/>
                  <a:pt x="220563" y="392103"/>
                </a:cubicBezTo>
                <a:cubicBezTo>
                  <a:pt x="228957" y="383798"/>
                  <a:pt x="242530" y="383709"/>
                  <a:pt x="250835" y="392103"/>
                </a:cubicBezTo>
                <a:lnTo>
                  <a:pt x="287447" y="428714"/>
                </a:lnTo>
                <a:lnTo>
                  <a:pt x="295483" y="428714"/>
                </a:lnTo>
                <a:cubicBezTo>
                  <a:pt x="312539" y="428714"/>
                  <a:pt x="329238" y="424875"/>
                  <a:pt x="344418" y="417731"/>
                </a:cubicBezTo>
                <a:lnTo>
                  <a:pt x="320576" y="393799"/>
                </a:lnTo>
                <a:cubicBezTo>
                  <a:pt x="312182" y="385405"/>
                  <a:pt x="312182" y="371832"/>
                  <a:pt x="320576" y="363528"/>
                </a:cubicBezTo>
                <a:cubicBezTo>
                  <a:pt x="328970" y="355223"/>
                  <a:pt x="342543" y="355134"/>
                  <a:pt x="350847" y="363528"/>
                </a:cubicBezTo>
                <a:lnTo>
                  <a:pt x="379422" y="392103"/>
                </a:lnTo>
                <a:lnTo>
                  <a:pt x="395049" y="376476"/>
                </a:lnTo>
                <a:cubicBezTo>
                  <a:pt x="402997" y="368528"/>
                  <a:pt x="405319" y="357009"/>
                  <a:pt x="401836" y="346918"/>
                </a:cubicBezTo>
                <a:lnTo>
                  <a:pt x="278696" y="224760"/>
                </a:lnTo>
                <a:lnTo>
                  <a:pt x="265390" y="238065"/>
                </a:lnTo>
                <a:cubicBezTo>
                  <a:pt x="221367" y="282089"/>
                  <a:pt x="150108" y="282089"/>
                  <a:pt x="106085" y="238065"/>
                </a:cubicBezTo>
                <a:cubicBezTo>
                  <a:pt x="85546" y="217527"/>
                  <a:pt x="84743" y="184577"/>
                  <a:pt x="104120" y="163056"/>
                </a:cubicBezTo>
                <a:close/>
              </a:path>
            </a:pathLst>
          </a:custGeom>
          <a:solidFill>
            <a:srgbClr val="E85D04"/>
          </a:solidFill>
          <a:ln/>
        </p:spPr>
      </p:sp>
      <p:sp>
        <p:nvSpPr>
          <p:cNvPr id="14" name="Text 12"/>
          <p:cNvSpPr/>
          <p:nvPr/>
        </p:nvSpPr>
        <p:spPr>
          <a:xfrm>
            <a:off x="1714500" y="4254500"/>
            <a:ext cx="3175000" cy="406400"/>
          </a:xfrm>
          <a:prstGeom prst="rect">
            <a:avLst/>
          </a:prstGeom>
          <a:noFill/>
          <a:ln/>
        </p:spPr>
        <p:txBody>
          <a:bodyPr wrap="none" lIns="0" tIns="0" rIns="0" bIns="0" rtlCol="0" anchor="ctr"/>
          <a:lstStyle/>
          <a:p>
            <a:pPr>
              <a:lnSpc>
                <a:spcPct val="100000"/>
              </a:lnSpc>
            </a:pPr>
            <a:r>
              <a:rPr lang="en-US" sz="2000" dirty="0">
                <a:solidFill>
                  <a:srgbClr val="1B263B"/>
                </a:solidFill>
                <a:latin typeface="Liter" pitchFamily="34" charset="0"/>
                <a:ea typeface="Liter" pitchFamily="34" charset="-122"/>
                <a:cs typeface="Liter" pitchFamily="34" charset="-120"/>
              </a:rPr>
              <a:t>Quid Pro Quo</a:t>
            </a:r>
            <a:endParaRPr lang="en-US" sz="1600" dirty="0"/>
          </a:p>
        </p:txBody>
      </p:sp>
      <p:sp>
        <p:nvSpPr>
          <p:cNvPr id="15" name="Text 13"/>
          <p:cNvSpPr/>
          <p:nvPr/>
        </p:nvSpPr>
        <p:spPr>
          <a:xfrm>
            <a:off x="1079500" y="4826000"/>
            <a:ext cx="6604000" cy="1206500"/>
          </a:xfrm>
          <a:prstGeom prst="rect">
            <a:avLst/>
          </a:prstGeom>
          <a:noFill/>
          <a:ln/>
        </p:spPr>
        <p:txBody>
          <a:bodyPr wrap="square" lIns="0" tIns="0" rIns="0" bIns="0" rtlCol="0" anchor="t"/>
          <a:lstStyle/>
          <a:p>
            <a:pPr>
              <a:lnSpc>
                <a:spcPct val="150000"/>
              </a:lnSpc>
            </a:pPr>
            <a:r>
              <a:rPr lang="en-US" sz="1600" dirty="0">
                <a:solidFill>
                  <a:srgbClr val="1A1A2E"/>
                </a:solidFill>
                <a:latin typeface="Quattrocento Sans" pitchFamily="34" charset="0"/>
                <a:ea typeface="Quattrocento Sans" pitchFamily="34" charset="-122"/>
                <a:cs typeface="Quattrocento Sans" pitchFamily="34" charset="-120"/>
              </a:rPr>
              <a:t>Offering a service in exchange for information. "I'll fix your computer if you provide your password" or fake tech support calling to 'help' with a non-existent problem.</a:t>
            </a:r>
            <a:endParaRPr lang="en-US" sz="1600" dirty="0"/>
          </a:p>
        </p:txBody>
      </p:sp>
      <p:sp>
        <p:nvSpPr>
          <p:cNvPr id="16" name="Shape 14"/>
          <p:cNvSpPr/>
          <p:nvPr/>
        </p:nvSpPr>
        <p:spPr>
          <a:xfrm>
            <a:off x="8318500" y="4000500"/>
            <a:ext cx="7175500" cy="2222500"/>
          </a:xfrm>
          <a:prstGeom prst="roundRect">
            <a:avLst>
              <a:gd name="adj" fmla="val 6000"/>
            </a:avLst>
          </a:prstGeom>
          <a:solidFill>
            <a:srgbClr val="EDEAE4"/>
          </a:solidFill>
          <a:ln/>
        </p:spPr>
      </p:sp>
      <p:sp>
        <p:nvSpPr>
          <p:cNvPr id="17" name="Shape 15"/>
          <p:cNvSpPr/>
          <p:nvPr/>
        </p:nvSpPr>
        <p:spPr>
          <a:xfrm>
            <a:off x="8664575" y="4254500"/>
            <a:ext cx="400050" cy="457200"/>
          </a:xfrm>
          <a:custGeom>
            <a:avLst/>
            <a:gdLst/>
            <a:ahLst/>
            <a:cxnLst/>
            <a:rect l="l" t="t" r="r" b="b"/>
            <a:pathLst>
              <a:path w="400050" h="457200">
                <a:moveTo>
                  <a:pt x="257175" y="57150"/>
                </a:moveTo>
                <a:lnTo>
                  <a:pt x="314325" y="57150"/>
                </a:lnTo>
                <a:lnTo>
                  <a:pt x="314325" y="428625"/>
                </a:lnTo>
                <a:cubicBezTo>
                  <a:pt x="314325" y="444431"/>
                  <a:pt x="327094" y="457200"/>
                  <a:pt x="342900" y="457200"/>
                </a:cubicBezTo>
                <a:lnTo>
                  <a:pt x="371475" y="457200"/>
                </a:lnTo>
                <a:cubicBezTo>
                  <a:pt x="387281" y="457200"/>
                  <a:pt x="400050" y="444431"/>
                  <a:pt x="400050" y="428625"/>
                </a:cubicBezTo>
                <a:cubicBezTo>
                  <a:pt x="400050" y="412819"/>
                  <a:pt x="387281" y="400050"/>
                  <a:pt x="371475" y="400050"/>
                </a:cubicBezTo>
                <a:lnTo>
                  <a:pt x="371475" y="57150"/>
                </a:lnTo>
                <a:cubicBezTo>
                  <a:pt x="371475" y="25628"/>
                  <a:pt x="345847" y="0"/>
                  <a:pt x="314325" y="0"/>
                </a:cubicBezTo>
                <a:lnTo>
                  <a:pt x="228600" y="0"/>
                </a:lnTo>
                <a:lnTo>
                  <a:pt x="228600" y="0"/>
                </a:lnTo>
                <a:lnTo>
                  <a:pt x="85725" y="0"/>
                </a:lnTo>
                <a:cubicBezTo>
                  <a:pt x="54203" y="0"/>
                  <a:pt x="28575" y="25628"/>
                  <a:pt x="28575" y="57150"/>
                </a:cubicBezTo>
                <a:lnTo>
                  <a:pt x="28575" y="400050"/>
                </a:lnTo>
                <a:cubicBezTo>
                  <a:pt x="12769" y="400050"/>
                  <a:pt x="0" y="412819"/>
                  <a:pt x="0" y="428625"/>
                </a:cubicBezTo>
                <a:cubicBezTo>
                  <a:pt x="0" y="444431"/>
                  <a:pt x="12769" y="457200"/>
                  <a:pt x="28575" y="457200"/>
                </a:cubicBezTo>
                <a:lnTo>
                  <a:pt x="228600" y="457200"/>
                </a:lnTo>
                <a:cubicBezTo>
                  <a:pt x="244406" y="457200"/>
                  <a:pt x="257175" y="444431"/>
                  <a:pt x="257175" y="428625"/>
                </a:cubicBezTo>
                <a:lnTo>
                  <a:pt x="257175" y="57150"/>
                </a:lnTo>
                <a:close/>
                <a:moveTo>
                  <a:pt x="142875" y="228600"/>
                </a:moveTo>
                <a:cubicBezTo>
                  <a:pt x="142875" y="212829"/>
                  <a:pt x="155679" y="200025"/>
                  <a:pt x="171450" y="200025"/>
                </a:cubicBezTo>
                <a:cubicBezTo>
                  <a:pt x="187221" y="200025"/>
                  <a:pt x="200025" y="212829"/>
                  <a:pt x="200025" y="228600"/>
                </a:cubicBezTo>
                <a:cubicBezTo>
                  <a:pt x="200025" y="244371"/>
                  <a:pt x="187221" y="257175"/>
                  <a:pt x="171450" y="257175"/>
                </a:cubicBezTo>
                <a:cubicBezTo>
                  <a:pt x="155679" y="257175"/>
                  <a:pt x="142875" y="244371"/>
                  <a:pt x="142875" y="228600"/>
                </a:cubicBezTo>
                <a:close/>
              </a:path>
            </a:pathLst>
          </a:custGeom>
          <a:solidFill>
            <a:srgbClr val="E85D04"/>
          </a:solidFill>
          <a:ln/>
        </p:spPr>
      </p:sp>
      <p:sp>
        <p:nvSpPr>
          <p:cNvPr id="18" name="Text 16"/>
          <p:cNvSpPr/>
          <p:nvPr/>
        </p:nvSpPr>
        <p:spPr>
          <a:xfrm>
            <a:off x="9271000" y="4254500"/>
            <a:ext cx="3175000" cy="406400"/>
          </a:xfrm>
          <a:prstGeom prst="rect">
            <a:avLst/>
          </a:prstGeom>
          <a:noFill/>
          <a:ln/>
        </p:spPr>
        <p:txBody>
          <a:bodyPr wrap="none" lIns="0" tIns="0" rIns="0" bIns="0" rtlCol="0" anchor="ctr"/>
          <a:lstStyle/>
          <a:p>
            <a:pPr>
              <a:lnSpc>
                <a:spcPct val="100000"/>
              </a:lnSpc>
            </a:pPr>
            <a:r>
              <a:rPr lang="en-US" sz="2000" dirty="0">
                <a:solidFill>
                  <a:srgbClr val="1B263B"/>
                </a:solidFill>
                <a:latin typeface="Liter" pitchFamily="34" charset="0"/>
                <a:ea typeface="Liter" pitchFamily="34" charset="-122"/>
                <a:cs typeface="Liter" pitchFamily="34" charset="-120"/>
              </a:rPr>
              <a:t>Tailgating</a:t>
            </a:r>
            <a:endParaRPr lang="en-US" sz="1600" dirty="0"/>
          </a:p>
        </p:txBody>
      </p:sp>
      <p:sp>
        <p:nvSpPr>
          <p:cNvPr id="19" name="Text 17"/>
          <p:cNvSpPr/>
          <p:nvPr/>
        </p:nvSpPr>
        <p:spPr>
          <a:xfrm>
            <a:off x="8636000" y="4826000"/>
            <a:ext cx="6604000" cy="1206500"/>
          </a:xfrm>
          <a:prstGeom prst="rect">
            <a:avLst/>
          </a:prstGeom>
          <a:noFill/>
          <a:ln/>
        </p:spPr>
        <p:txBody>
          <a:bodyPr wrap="square" lIns="0" tIns="0" rIns="0" bIns="0" rtlCol="0" anchor="t"/>
          <a:lstStyle/>
          <a:p>
            <a:pPr>
              <a:lnSpc>
                <a:spcPct val="150000"/>
              </a:lnSpc>
            </a:pPr>
            <a:r>
              <a:rPr lang="en-US" sz="1600" dirty="0">
                <a:solidFill>
                  <a:srgbClr val="1A1A2E"/>
                </a:solidFill>
                <a:latin typeface="Quattrocento Sans" pitchFamily="34" charset="0"/>
                <a:ea typeface="Quattrocento Sans" pitchFamily="34" charset="-122"/>
                <a:cs typeface="Quattrocento Sans" pitchFamily="34" charset="-120"/>
              </a:rPr>
              <a:t>Physically following someone into a restricted area. "Can you hold the door? I forgot my badge." Attackers exploit politeness to gain physical access to secure spaces.</a:t>
            </a:r>
            <a:endParaRPr lang="en-US" sz="1600" dirty="0"/>
          </a:p>
        </p:txBody>
      </p:sp>
      <p:sp>
        <p:nvSpPr>
          <p:cNvPr id="20" name="Shape 18"/>
          <p:cNvSpPr/>
          <p:nvPr/>
        </p:nvSpPr>
        <p:spPr>
          <a:xfrm>
            <a:off x="762000" y="6540500"/>
            <a:ext cx="14732000" cy="1841500"/>
          </a:xfrm>
          <a:prstGeom prst="roundRect">
            <a:avLst>
              <a:gd name="adj" fmla="val 6000"/>
            </a:avLst>
          </a:prstGeom>
          <a:solidFill>
            <a:srgbClr val="1B263B"/>
          </a:solidFill>
          <a:ln/>
        </p:spPr>
      </p:sp>
      <p:sp>
        <p:nvSpPr>
          <p:cNvPr id="21" name="Shape 19"/>
          <p:cNvSpPr/>
          <p:nvPr/>
        </p:nvSpPr>
        <p:spPr>
          <a:xfrm>
            <a:off x="1171575" y="6985000"/>
            <a:ext cx="400050" cy="457200"/>
          </a:xfrm>
          <a:custGeom>
            <a:avLst/>
            <a:gdLst/>
            <a:ahLst/>
            <a:cxnLst/>
            <a:rect l="l" t="t" r="r" b="b"/>
            <a:pathLst>
              <a:path w="400050" h="457200">
                <a:moveTo>
                  <a:pt x="152698" y="-14287"/>
                </a:moveTo>
                <a:cubicBezTo>
                  <a:pt x="120194" y="-14287"/>
                  <a:pt x="101084" y="37773"/>
                  <a:pt x="91708" y="85725"/>
                </a:cubicBezTo>
                <a:lnTo>
                  <a:pt x="64294" y="85725"/>
                </a:lnTo>
                <a:cubicBezTo>
                  <a:pt x="52417" y="85725"/>
                  <a:pt x="42863" y="95280"/>
                  <a:pt x="42863" y="107156"/>
                </a:cubicBezTo>
                <a:cubicBezTo>
                  <a:pt x="42863" y="119033"/>
                  <a:pt x="52417" y="128588"/>
                  <a:pt x="64294" y="128588"/>
                </a:cubicBezTo>
                <a:lnTo>
                  <a:pt x="85725" y="128588"/>
                </a:lnTo>
                <a:lnTo>
                  <a:pt x="85725" y="157163"/>
                </a:lnTo>
                <a:cubicBezTo>
                  <a:pt x="85725" y="172343"/>
                  <a:pt x="88672" y="186809"/>
                  <a:pt x="94030" y="200025"/>
                </a:cubicBezTo>
                <a:lnTo>
                  <a:pt x="85725" y="200025"/>
                </a:lnTo>
                <a:lnTo>
                  <a:pt x="85725" y="200025"/>
                </a:lnTo>
                <a:lnTo>
                  <a:pt x="67419" y="200025"/>
                </a:lnTo>
                <a:cubicBezTo>
                  <a:pt x="53846" y="200025"/>
                  <a:pt x="42863" y="211009"/>
                  <a:pt x="42863" y="224582"/>
                </a:cubicBezTo>
                <a:cubicBezTo>
                  <a:pt x="42863" y="227261"/>
                  <a:pt x="43309" y="229850"/>
                  <a:pt x="44113" y="232350"/>
                </a:cubicBezTo>
                <a:lnTo>
                  <a:pt x="69919" y="309682"/>
                </a:lnTo>
                <a:cubicBezTo>
                  <a:pt x="35897" y="338971"/>
                  <a:pt x="14288" y="382280"/>
                  <a:pt x="14288" y="430679"/>
                </a:cubicBezTo>
                <a:cubicBezTo>
                  <a:pt x="14288" y="445324"/>
                  <a:pt x="26164" y="457200"/>
                  <a:pt x="40809" y="457200"/>
                </a:cubicBezTo>
                <a:lnTo>
                  <a:pt x="359241" y="457200"/>
                </a:lnTo>
                <a:cubicBezTo>
                  <a:pt x="373886" y="457200"/>
                  <a:pt x="385763" y="445324"/>
                  <a:pt x="385763" y="430679"/>
                </a:cubicBezTo>
                <a:cubicBezTo>
                  <a:pt x="385763" y="382280"/>
                  <a:pt x="364153" y="338971"/>
                  <a:pt x="330131" y="309771"/>
                </a:cubicBezTo>
                <a:lnTo>
                  <a:pt x="355937" y="232440"/>
                </a:lnTo>
                <a:cubicBezTo>
                  <a:pt x="356741" y="229939"/>
                  <a:pt x="357187" y="227350"/>
                  <a:pt x="357187" y="224671"/>
                </a:cubicBezTo>
                <a:cubicBezTo>
                  <a:pt x="357187" y="211098"/>
                  <a:pt x="346204" y="200114"/>
                  <a:pt x="332631" y="200114"/>
                </a:cubicBezTo>
                <a:lnTo>
                  <a:pt x="314325" y="200114"/>
                </a:lnTo>
                <a:lnTo>
                  <a:pt x="314325" y="200114"/>
                </a:lnTo>
                <a:lnTo>
                  <a:pt x="306020" y="200114"/>
                </a:lnTo>
                <a:cubicBezTo>
                  <a:pt x="311378" y="186898"/>
                  <a:pt x="314325" y="172432"/>
                  <a:pt x="314325" y="157252"/>
                </a:cubicBezTo>
                <a:lnTo>
                  <a:pt x="314325" y="128677"/>
                </a:lnTo>
                <a:lnTo>
                  <a:pt x="335756" y="128677"/>
                </a:lnTo>
                <a:cubicBezTo>
                  <a:pt x="347633" y="128677"/>
                  <a:pt x="357187" y="119122"/>
                  <a:pt x="357187" y="107246"/>
                </a:cubicBezTo>
                <a:cubicBezTo>
                  <a:pt x="357187" y="95369"/>
                  <a:pt x="347633" y="85814"/>
                  <a:pt x="335756" y="85814"/>
                </a:cubicBezTo>
                <a:lnTo>
                  <a:pt x="308342" y="85814"/>
                </a:lnTo>
                <a:cubicBezTo>
                  <a:pt x="299055" y="37862"/>
                  <a:pt x="279856" y="-14198"/>
                  <a:pt x="247352" y="-14198"/>
                </a:cubicBezTo>
                <a:cubicBezTo>
                  <a:pt x="238780" y="-14198"/>
                  <a:pt x="230386" y="-10716"/>
                  <a:pt x="222796" y="-6876"/>
                </a:cubicBezTo>
                <a:cubicBezTo>
                  <a:pt x="215473" y="-3215"/>
                  <a:pt x="206365" y="89"/>
                  <a:pt x="200025" y="89"/>
                </a:cubicBezTo>
                <a:cubicBezTo>
                  <a:pt x="193685" y="89"/>
                  <a:pt x="184577" y="-3215"/>
                  <a:pt x="177254" y="-6876"/>
                </a:cubicBezTo>
                <a:cubicBezTo>
                  <a:pt x="169664" y="-10805"/>
                  <a:pt x="161270" y="-14287"/>
                  <a:pt x="152698" y="-14287"/>
                </a:cubicBezTo>
                <a:close/>
                <a:moveTo>
                  <a:pt x="236369" y="418267"/>
                </a:moveTo>
                <a:lnTo>
                  <a:pt x="214223" y="354955"/>
                </a:lnTo>
                <a:lnTo>
                  <a:pt x="239137" y="325934"/>
                </a:lnTo>
                <a:cubicBezTo>
                  <a:pt x="241548" y="323076"/>
                  <a:pt x="242887" y="319504"/>
                  <a:pt x="242887" y="315754"/>
                </a:cubicBezTo>
                <a:cubicBezTo>
                  <a:pt x="242887" y="307092"/>
                  <a:pt x="235922" y="300127"/>
                  <a:pt x="227261" y="300127"/>
                </a:cubicBezTo>
                <a:lnTo>
                  <a:pt x="172789" y="300127"/>
                </a:lnTo>
                <a:cubicBezTo>
                  <a:pt x="164128" y="300127"/>
                  <a:pt x="157162" y="307092"/>
                  <a:pt x="157162" y="315754"/>
                </a:cubicBezTo>
                <a:cubicBezTo>
                  <a:pt x="157162" y="319504"/>
                  <a:pt x="158502" y="323076"/>
                  <a:pt x="160913" y="325934"/>
                </a:cubicBezTo>
                <a:lnTo>
                  <a:pt x="185827" y="354955"/>
                </a:lnTo>
                <a:lnTo>
                  <a:pt x="163681" y="418267"/>
                </a:lnTo>
                <a:lnTo>
                  <a:pt x="112782" y="257175"/>
                </a:lnTo>
                <a:lnTo>
                  <a:pt x="144661" y="257175"/>
                </a:lnTo>
                <a:cubicBezTo>
                  <a:pt x="161092" y="266283"/>
                  <a:pt x="179933" y="271463"/>
                  <a:pt x="200025" y="271463"/>
                </a:cubicBezTo>
                <a:cubicBezTo>
                  <a:pt x="220117" y="271463"/>
                  <a:pt x="238958" y="266283"/>
                  <a:pt x="255389" y="257175"/>
                </a:cubicBezTo>
                <a:lnTo>
                  <a:pt x="287268" y="257175"/>
                </a:lnTo>
                <a:lnTo>
                  <a:pt x="236369" y="418267"/>
                </a:lnTo>
                <a:close/>
                <a:moveTo>
                  <a:pt x="200025" y="228600"/>
                </a:moveTo>
                <a:cubicBezTo>
                  <a:pt x="169039" y="228600"/>
                  <a:pt x="142696" y="208865"/>
                  <a:pt x="132784" y="181273"/>
                </a:cubicBezTo>
                <a:cubicBezTo>
                  <a:pt x="137874" y="184130"/>
                  <a:pt x="143768" y="185738"/>
                  <a:pt x="150019" y="185738"/>
                </a:cubicBezTo>
                <a:lnTo>
                  <a:pt x="161092" y="185738"/>
                </a:lnTo>
                <a:cubicBezTo>
                  <a:pt x="175826" y="185738"/>
                  <a:pt x="188863" y="176272"/>
                  <a:pt x="193506" y="162342"/>
                </a:cubicBezTo>
                <a:cubicBezTo>
                  <a:pt x="195560" y="156091"/>
                  <a:pt x="204401" y="156091"/>
                  <a:pt x="206454" y="162342"/>
                </a:cubicBezTo>
                <a:cubicBezTo>
                  <a:pt x="211098" y="176272"/>
                  <a:pt x="224224" y="185738"/>
                  <a:pt x="238869" y="185738"/>
                </a:cubicBezTo>
                <a:lnTo>
                  <a:pt x="249942" y="185738"/>
                </a:lnTo>
                <a:cubicBezTo>
                  <a:pt x="256193" y="185738"/>
                  <a:pt x="262086" y="184130"/>
                  <a:pt x="267176" y="181273"/>
                </a:cubicBezTo>
                <a:cubicBezTo>
                  <a:pt x="257264" y="208865"/>
                  <a:pt x="230922" y="228600"/>
                  <a:pt x="199936" y="228600"/>
                </a:cubicBezTo>
                <a:close/>
              </a:path>
            </a:pathLst>
          </a:custGeom>
          <a:solidFill>
            <a:srgbClr val="E85D04"/>
          </a:solidFill>
          <a:ln/>
        </p:spPr>
      </p:sp>
      <p:sp>
        <p:nvSpPr>
          <p:cNvPr id="22" name="Text 20"/>
          <p:cNvSpPr/>
          <p:nvPr/>
        </p:nvSpPr>
        <p:spPr>
          <a:xfrm>
            <a:off x="1778000" y="6794500"/>
            <a:ext cx="3810000" cy="406400"/>
          </a:xfrm>
          <a:prstGeom prst="rect">
            <a:avLst/>
          </a:prstGeom>
          <a:noFill/>
          <a:ln/>
        </p:spPr>
        <p:txBody>
          <a:bodyPr wrap="none" lIns="0" tIns="0" rIns="0" bIns="0" rtlCol="0" anchor="ctr"/>
          <a:lstStyle/>
          <a:p>
            <a:pPr>
              <a:lnSpc>
                <a:spcPct val="100000"/>
              </a:lnSpc>
            </a:pPr>
            <a:r>
              <a:rPr lang="en-US" sz="2000" dirty="0">
                <a:solidFill>
                  <a:srgbClr val="E85D04"/>
                </a:solidFill>
                <a:latin typeface="Liter" pitchFamily="34" charset="0"/>
                <a:ea typeface="Liter" pitchFamily="34" charset="-122"/>
                <a:cs typeface="Liter" pitchFamily="34" charset="-120"/>
              </a:rPr>
              <a:t>Impersonation</a:t>
            </a:r>
            <a:endParaRPr lang="en-US" sz="1600" dirty="0"/>
          </a:p>
        </p:txBody>
      </p:sp>
      <p:sp>
        <p:nvSpPr>
          <p:cNvPr id="23" name="Text 21"/>
          <p:cNvSpPr/>
          <p:nvPr/>
        </p:nvSpPr>
        <p:spPr>
          <a:xfrm>
            <a:off x="1778000" y="7302500"/>
            <a:ext cx="13335000" cy="889000"/>
          </a:xfrm>
          <a:prstGeom prst="rect">
            <a:avLst/>
          </a:prstGeom>
          <a:noFill/>
          <a:ln/>
        </p:spPr>
        <p:txBody>
          <a:bodyPr wrap="square" lIns="0" tIns="0" rIns="0" bIns="0" rtlCol="0" anchor="t"/>
          <a:lstStyle/>
          <a:p>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Posing as a colleague, executive, vendor, or authority figure. The most common form — attackers research targets on LinkedIn and social media to craft convincing impersonations. </a:t>
            </a:r>
            <a:r>
              <a:rPr lang="en-US" sz="1600" b="1" dirty="0">
                <a:solidFill>
                  <a:srgbClr val="FFFFFF"/>
                </a:solidFill>
                <a:latin typeface="Quattrocento Sans" pitchFamily="34" charset="0"/>
                <a:ea typeface="Quattrocento Sans" pitchFamily="34" charset="-122"/>
                <a:cs typeface="Quattrocento Sans" pitchFamily="34" charset="-120"/>
              </a:rPr>
              <a:t>80%+ of social engineering is now AI-powered.</a:t>
            </a:r>
            <a:endParaRPr lang="en-US" sz="1600" dirty="0"/>
          </a:p>
        </p:txBody>
      </p:sp>
      <p:sp>
        <p:nvSpPr>
          <p:cNvPr id="24" name="Text 22"/>
          <p:cNvSpPr/>
          <p:nvPr/>
        </p:nvSpPr>
        <p:spPr>
          <a:xfrm>
            <a:off x="13335000" y="8699500"/>
            <a:ext cx="2159000" cy="254000"/>
          </a:xfrm>
          <a:prstGeom prst="rect">
            <a:avLst/>
          </a:prstGeom>
          <a:noFill/>
          <a:ln/>
        </p:spPr>
        <p:txBody>
          <a:bodyPr wrap="none" lIns="0" tIns="0" rIns="0" bIns="0" rtlCol="0" anchor="ctr"/>
          <a:lstStyle/>
          <a:p>
            <a:pPr algn="r">
              <a:lnSpc>
                <a:spcPct val="140000"/>
              </a:lnSpc>
            </a:pPr>
            <a:r>
              <a:rPr lang="en-US" sz="1400" dirty="0">
                <a:solidFill>
                  <a:srgbClr val="5C6B7A"/>
                </a:solidFill>
                <a:latin typeface="QuattrocentoSans" pitchFamily="34" charset="0"/>
                <a:ea typeface="QuattrocentoSans" pitchFamily="34" charset="-122"/>
                <a:cs typeface="QuattrocentoSans" pitchFamily="34" charset="-120"/>
              </a:rPr>
              <a:t>03 / Social Engineering</a:t>
            </a:r>
            <a:endParaRPr lang="en-US" sz="14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762000" y="571500"/>
            <a:ext cx="8890000" cy="508000"/>
          </a:xfrm>
          <a:prstGeom prst="rect">
            <a:avLst/>
          </a:prstGeom>
          <a:noFill/>
          <a:ln/>
        </p:spPr>
        <p:txBody>
          <a:bodyPr wrap="none" lIns="0" tIns="0" rIns="0" bIns="0" rtlCol="0" anchor="ctr"/>
          <a:lstStyle/>
          <a:p>
            <a:pPr>
              <a:lnSpc>
                <a:spcPct val="130000"/>
              </a:lnSpc>
            </a:pPr>
            <a:r>
              <a:rPr lang="en-US" sz="2800" dirty="0">
                <a:solidFill>
                  <a:srgbClr val="1B263B"/>
                </a:solidFill>
                <a:latin typeface="Liter" pitchFamily="34" charset="0"/>
                <a:ea typeface="Liter" pitchFamily="34" charset="-122"/>
                <a:cs typeface="Liter" pitchFamily="34" charset="-120"/>
              </a:rPr>
              <a:t>Real-World Attack Examples</a:t>
            </a:r>
            <a:endParaRPr lang="en-US" sz="2800" dirty="0"/>
          </a:p>
        </p:txBody>
      </p:sp>
      <p:sp>
        <p:nvSpPr>
          <p:cNvPr id="3" name="Shape 1"/>
          <p:cNvSpPr/>
          <p:nvPr/>
        </p:nvSpPr>
        <p:spPr>
          <a:xfrm>
            <a:off x="762000" y="1143000"/>
            <a:ext cx="762000" cy="38100"/>
          </a:xfrm>
          <a:prstGeom prst="rect">
            <a:avLst/>
          </a:prstGeom>
          <a:solidFill>
            <a:srgbClr val="E85D04"/>
          </a:solidFill>
          <a:ln/>
        </p:spPr>
      </p:sp>
      <p:sp>
        <p:nvSpPr>
          <p:cNvPr id="4" name="Shape 2"/>
          <p:cNvSpPr/>
          <p:nvPr/>
        </p:nvSpPr>
        <p:spPr>
          <a:xfrm>
            <a:off x="762000" y="1460500"/>
            <a:ext cx="4699000" cy="6007100"/>
          </a:xfrm>
          <a:prstGeom prst="roundRect">
            <a:avLst>
              <a:gd name="adj" fmla="val 6000"/>
            </a:avLst>
          </a:prstGeom>
          <a:solidFill>
            <a:srgbClr val="EDEAE4"/>
          </a:solidFill>
          <a:ln/>
        </p:spPr>
      </p:sp>
      <p:sp>
        <p:nvSpPr>
          <p:cNvPr id="5" name="Shape 3"/>
          <p:cNvSpPr/>
          <p:nvPr/>
        </p:nvSpPr>
        <p:spPr>
          <a:xfrm>
            <a:off x="762000" y="1460500"/>
            <a:ext cx="4699000" cy="571500"/>
          </a:xfrm>
          <a:prstGeom prst="roundRect">
            <a:avLst>
              <a:gd name="adj" fmla="val 6000"/>
            </a:avLst>
          </a:prstGeom>
          <a:solidFill>
            <a:srgbClr val="E85D04"/>
          </a:solidFill>
          <a:ln/>
        </p:spPr>
      </p:sp>
      <p:sp>
        <p:nvSpPr>
          <p:cNvPr id="6" name="Text 4"/>
          <p:cNvSpPr/>
          <p:nvPr/>
        </p:nvSpPr>
        <p:spPr>
          <a:xfrm>
            <a:off x="952500" y="1524000"/>
            <a:ext cx="4318000" cy="444500"/>
          </a:xfrm>
          <a:prstGeom prst="rect">
            <a:avLst/>
          </a:prstGeom>
          <a:noFill/>
          <a:ln/>
        </p:spPr>
        <p:txBody>
          <a:bodyPr wrap="none" lIns="0" tIns="0" rIns="0" bIns="0" rtlCol="0" anchor="ctr"/>
          <a:lstStyle/>
          <a:p>
            <a:pPr>
              <a:lnSpc>
                <a:spcPct val="100000"/>
              </a:lnSpc>
            </a:pPr>
            <a:r>
              <a:rPr lang="en-US" sz="1400" dirty="0">
                <a:solidFill>
                  <a:schemeClr val="bg1"/>
                </a:solidFill>
                <a:latin typeface="Liter" pitchFamily="34" charset="0"/>
                <a:ea typeface="Liter" pitchFamily="34" charset="-122"/>
                <a:cs typeface="Liter" pitchFamily="34" charset="-120"/>
              </a:rPr>
              <a:t>SBI KYC update Scam </a:t>
            </a:r>
            <a:r>
              <a:rPr lang="en-US" sz="1300" dirty="0">
                <a:solidFill>
                  <a:schemeClr val="bg1"/>
                </a:solidFill>
                <a:latin typeface="Liter" pitchFamily="34" charset="0"/>
                <a:ea typeface="Liter" pitchFamily="34" charset="-122"/>
                <a:cs typeface="Liter" pitchFamily="34" charset="-120"/>
              </a:rPr>
              <a:t>| 2023-2026</a:t>
            </a:r>
            <a:endParaRPr lang="en-US" sz="1600" dirty="0">
              <a:solidFill>
                <a:schemeClr val="bg1"/>
              </a:solidFill>
            </a:endParaRPr>
          </a:p>
        </p:txBody>
      </p:sp>
      <p:sp>
        <p:nvSpPr>
          <p:cNvPr id="7" name="Text 5"/>
          <p:cNvSpPr/>
          <p:nvPr/>
        </p:nvSpPr>
        <p:spPr>
          <a:xfrm>
            <a:off x="1016000" y="2286000"/>
            <a:ext cx="4191000" cy="635000"/>
          </a:xfrm>
          <a:prstGeom prst="rect">
            <a:avLst/>
          </a:prstGeom>
          <a:noFill/>
          <a:ln/>
        </p:spPr>
        <p:txBody>
          <a:bodyPr wrap="none" lIns="0" tIns="0" rIns="0" bIns="0" rtlCol="0" anchor="ctr"/>
          <a:lstStyle/>
          <a:p>
            <a:pPr>
              <a:lnSpc>
                <a:spcPct val="100000"/>
              </a:lnSpc>
            </a:pPr>
            <a:r>
              <a:rPr lang="en-US" sz="4800" dirty="0">
                <a:solidFill>
                  <a:srgbClr val="E85D04"/>
                </a:solidFill>
                <a:latin typeface="Liter" pitchFamily="34" charset="0"/>
              </a:rPr>
              <a:t>₹</a:t>
            </a:r>
            <a:r>
              <a:rPr lang="en-US" sz="4000" dirty="0">
                <a:solidFill>
                  <a:srgbClr val="E85D04"/>
                </a:solidFill>
                <a:latin typeface="Liter" pitchFamily="34" charset="0"/>
              </a:rPr>
              <a:t>6,313</a:t>
            </a:r>
            <a:r>
              <a:rPr lang="en-US" sz="4800" dirty="0">
                <a:solidFill>
                  <a:srgbClr val="E85D04"/>
                </a:solidFill>
                <a:latin typeface="Liter" pitchFamily="34" charset="0"/>
              </a:rPr>
              <a:t> </a:t>
            </a:r>
            <a:r>
              <a:rPr lang="en-US" sz="3200" dirty="0">
                <a:solidFill>
                  <a:srgbClr val="E85D04"/>
                </a:solidFill>
                <a:latin typeface="Liter" pitchFamily="34" charset="0"/>
              </a:rPr>
              <a:t>CR.</a:t>
            </a:r>
            <a:endParaRPr lang="en-US" sz="3200" dirty="0"/>
          </a:p>
        </p:txBody>
      </p:sp>
      <p:sp>
        <p:nvSpPr>
          <p:cNvPr id="8" name="Text 6"/>
          <p:cNvSpPr/>
          <p:nvPr/>
        </p:nvSpPr>
        <p:spPr>
          <a:xfrm>
            <a:off x="1016000" y="2984500"/>
            <a:ext cx="4191000" cy="381000"/>
          </a:xfrm>
          <a:prstGeom prst="rect">
            <a:avLst/>
          </a:prstGeom>
          <a:noFill/>
          <a:ln/>
        </p:spPr>
        <p:txBody>
          <a:bodyPr wrap="none" lIns="0" tIns="0" rIns="0" bIns="0" rtlCol="0" anchor="ctr"/>
          <a:lstStyle/>
          <a:p>
            <a:pPr>
              <a:lnSpc>
                <a:spcPct val="100000"/>
              </a:lnSpc>
            </a:pPr>
            <a:r>
              <a:rPr lang="en-US" sz="1700" dirty="0">
                <a:solidFill>
                  <a:srgbClr val="1B263B"/>
                </a:solidFill>
                <a:latin typeface="Liter" pitchFamily="34" charset="0"/>
                <a:ea typeface="Liter" pitchFamily="34" charset="-122"/>
                <a:cs typeface="Liter" pitchFamily="34" charset="-120"/>
              </a:rPr>
              <a:t>The SBI KYC update Scam</a:t>
            </a:r>
            <a:endParaRPr lang="en-US" sz="1600" dirty="0"/>
          </a:p>
        </p:txBody>
      </p:sp>
      <p:sp>
        <p:nvSpPr>
          <p:cNvPr id="9" name="Text 7"/>
          <p:cNvSpPr/>
          <p:nvPr/>
        </p:nvSpPr>
        <p:spPr>
          <a:xfrm>
            <a:off x="1016000" y="3492500"/>
            <a:ext cx="4191000" cy="2540000"/>
          </a:xfrm>
          <a:prstGeom prst="rect">
            <a:avLst/>
          </a:prstGeom>
          <a:noFill/>
          <a:ln/>
        </p:spPr>
        <p:txBody>
          <a:bodyPr wrap="square" lIns="0" tIns="0" rIns="0" bIns="0" rtlCol="0" anchor="t"/>
          <a:lstStyle/>
          <a:p>
            <a:pPr>
              <a:lnSpc>
                <a:spcPct val="150000"/>
              </a:lnSpc>
            </a:pPr>
            <a:r>
              <a:rPr lang="en-US" dirty="0"/>
              <a:t>The SBI KYC update scam tricks customers with fake messages claiming YONO accounts will be blocked unless Aadhaar/KYC is updated via a malicious APK. Victims risk losing banking credentials and money. SBI confirmed it’s fraudulent. Between 2023–2026, customers lost over ₹6,313 crore in frauds, including such phishing scams</a:t>
            </a:r>
          </a:p>
        </p:txBody>
      </p:sp>
      <p:sp>
        <p:nvSpPr>
          <p:cNvPr id="10" name="Text 8"/>
          <p:cNvSpPr/>
          <p:nvPr/>
        </p:nvSpPr>
        <p:spPr>
          <a:xfrm>
            <a:off x="1016000" y="6477000"/>
            <a:ext cx="4191000" cy="889000"/>
          </a:xfrm>
          <a:prstGeom prst="rect">
            <a:avLst/>
          </a:prstGeom>
          <a:noFill/>
          <a:ln/>
        </p:spPr>
        <p:txBody>
          <a:bodyPr wrap="square" lIns="0" tIns="0" rIns="0" bIns="0" rtlCol="0" anchor="t"/>
          <a:lstStyle/>
          <a:p>
            <a:pPr>
              <a:lnSpc>
                <a:spcPct val="140000"/>
              </a:lnSpc>
            </a:pPr>
            <a:endParaRPr lang="en-US" sz="1600" dirty="0"/>
          </a:p>
        </p:txBody>
      </p:sp>
      <p:sp>
        <p:nvSpPr>
          <p:cNvPr id="12" name="Shape 10"/>
          <p:cNvSpPr/>
          <p:nvPr/>
        </p:nvSpPr>
        <p:spPr>
          <a:xfrm>
            <a:off x="5778500" y="1460500"/>
            <a:ext cx="4699000" cy="6007100"/>
          </a:xfrm>
          <a:prstGeom prst="roundRect">
            <a:avLst>
              <a:gd name="adj" fmla="val 6000"/>
            </a:avLst>
          </a:prstGeom>
          <a:solidFill>
            <a:srgbClr val="EDEAE4"/>
          </a:solidFill>
          <a:ln/>
        </p:spPr>
      </p:sp>
      <p:sp>
        <p:nvSpPr>
          <p:cNvPr id="13" name="Shape 11"/>
          <p:cNvSpPr/>
          <p:nvPr/>
        </p:nvSpPr>
        <p:spPr>
          <a:xfrm>
            <a:off x="5778500" y="1460500"/>
            <a:ext cx="4699000" cy="571500"/>
          </a:xfrm>
          <a:prstGeom prst="roundRect">
            <a:avLst>
              <a:gd name="adj" fmla="val 6000"/>
            </a:avLst>
          </a:prstGeom>
          <a:solidFill>
            <a:srgbClr val="1B263B"/>
          </a:solidFill>
          <a:ln/>
        </p:spPr>
      </p:sp>
      <p:sp>
        <p:nvSpPr>
          <p:cNvPr id="14" name="Text 12"/>
          <p:cNvSpPr/>
          <p:nvPr/>
        </p:nvSpPr>
        <p:spPr>
          <a:xfrm>
            <a:off x="5969000" y="1524000"/>
            <a:ext cx="4318000" cy="444500"/>
          </a:xfrm>
          <a:prstGeom prst="rect">
            <a:avLst/>
          </a:prstGeom>
          <a:noFill/>
          <a:ln/>
        </p:spPr>
        <p:txBody>
          <a:bodyPr wrap="none" lIns="0" tIns="0" rIns="0" bIns="0" rtlCol="0" anchor="ctr"/>
          <a:lstStyle/>
          <a:p>
            <a:r>
              <a:rPr lang="en-US" sz="1400" dirty="0">
                <a:solidFill>
                  <a:schemeClr val="bg1"/>
                </a:solidFill>
                <a:latin typeface="Liter" pitchFamily="34" charset="0"/>
                <a:ea typeface="Liter" pitchFamily="34" charset="-122"/>
                <a:cs typeface="Liter" pitchFamily="34" charset="-120"/>
              </a:rPr>
              <a:t>UPI cashback scam</a:t>
            </a:r>
            <a:r>
              <a:rPr lang="en-US" sz="1300" dirty="0">
                <a:solidFill>
                  <a:srgbClr val="FFFFFF"/>
                </a:solidFill>
                <a:latin typeface="Liter" pitchFamily="34" charset="0"/>
                <a:ea typeface="Liter" pitchFamily="34" charset="-122"/>
                <a:cs typeface="Liter" pitchFamily="34" charset="-120"/>
              </a:rPr>
              <a:t>| 2023-2025</a:t>
            </a:r>
            <a:endParaRPr lang="en-US" sz="1600" dirty="0"/>
          </a:p>
        </p:txBody>
      </p:sp>
      <p:sp>
        <p:nvSpPr>
          <p:cNvPr id="15" name="Text 13"/>
          <p:cNvSpPr/>
          <p:nvPr/>
        </p:nvSpPr>
        <p:spPr>
          <a:xfrm>
            <a:off x="6032500" y="2286000"/>
            <a:ext cx="4191000" cy="635000"/>
          </a:xfrm>
          <a:prstGeom prst="rect">
            <a:avLst/>
          </a:prstGeom>
          <a:noFill/>
          <a:ln/>
        </p:spPr>
        <p:txBody>
          <a:bodyPr wrap="none" lIns="0" tIns="0" rIns="0" bIns="0" rtlCol="0" anchor="ctr"/>
          <a:lstStyle/>
          <a:p>
            <a:pPr>
              <a:lnSpc>
                <a:spcPct val="100000"/>
              </a:lnSpc>
            </a:pPr>
            <a:r>
              <a:rPr lang="en-US" sz="4800" dirty="0">
                <a:solidFill>
                  <a:srgbClr val="E85D04"/>
                </a:solidFill>
                <a:latin typeface="Liter" pitchFamily="34" charset="0"/>
                <a:ea typeface="Liter" pitchFamily="34" charset="-122"/>
                <a:cs typeface="Liter" pitchFamily="34" charset="-120"/>
              </a:rPr>
              <a:t>₹</a:t>
            </a:r>
            <a:r>
              <a:rPr lang="en-US" sz="4000" dirty="0">
                <a:solidFill>
                  <a:srgbClr val="E85D04"/>
                </a:solidFill>
                <a:latin typeface="Liter" pitchFamily="34" charset="0"/>
                <a:ea typeface="Liter" pitchFamily="34" charset="-122"/>
                <a:cs typeface="Liter" pitchFamily="34" charset="-120"/>
              </a:rPr>
              <a:t>1,087 </a:t>
            </a:r>
            <a:r>
              <a:rPr lang="en-US" sz="3200" dirty="0">
                <a:solidFill>
                  <a:srgbClr val="E85D04"/>
                </a:solidFill>
                <a:latin typeface="Liter" pitchFamily="34" charset="0"/>
                <a:ea typeface="Liter" pitchFamily="34" charset="-122"/>
                <a:cs typeface="Liter" pitchFamily="34" charset="-120"/>
              </a:rPr>
              <a:t>CR.</a:t>
            </a:r>
            <a:r>
              <a:rPr lang="en-US" sz="1600" dirty="0">
                <a:solidFill>
                  <a:srgbClr val="E85D04"/>
                </a:solidFill>
                <a:latin typeface="Liter" pitchFamily="34" charset="0"/>
                <a:ea typeface="Liter" pitchFamily="34" charset="-122"/>
                <a:cs typeface="Liter" pitchFamily="34" charset="-120"/>
              </a:rPr>
              <a:t> </a:t>
            </a:r>
            <a:endParaRPr lang="en-US" sz="1600" dirty="0"/>
          </a:p>
        </p:txBody>
      </p:sp>
      <p:sp>
        <p:nvSpPr>
          <p:cNvPr id="16" name="Text 14"/>
          <p:cNvSpPr/>
          <p:nvPr/>
        </p:nvSpPr>
        <p:spPr>
          <a:xfrm>
            <a:off x="6032500" y="2984500"/>
            <a:ext cx="4191000" cy="381000"/>
          </a:xfrm>
          <a:prstGeom prst="rect">
            <a:avLst/>
          </a:prstGeom>
          <a:noFill/>
          <a:ln/>
        </p:spPr>
        <p:txBody>
          <a:bodyPr wrap="none" lIns="0" tIns="0" rIns="0" bIns="0" rtlCol="0" anchor="ctr"/>
          <a:lstStyle/>
          <a:p>
            <a:pPr>
              <a:lnSpc>
                <a:spcPct val="100000"/>
              </a:lnSpc>
            </a:pPr>
            <a:r>
              <a:rPr lang="en-US" sz="1700" dirty="0">
                <a:solidFill>
                  <a:srgbClr val="1B263B"/>
                </a:solidFill>
                <a:latin typeface="Liter" pitchFamily="34" charset="0"/>
                <a:ea typeface="Liter" pitchFamily="34" charset="-122"/>
                <a:cs typeface="Liter" pitchFamily="34" charset="-120"/>
              </a:rPr>
              <a:t>UPI cashback scam</a:t>
            </a:r>
            <a:endParaRPr lang="en-US" sz="1600" dirty="0"/>
          </a:p>
        </p:txBody>
      </p:sp>
      <p:sp>
        <p:nvSpPr>
          <p:cNvPr id="17" name="Text 15"/>
          <p:cNvSpPr/>
          <p:nvPr/>
        </p:nvSpPr>
        <p:spPr>
          <a:xfrm>
            <a:off x="6032500" y="3492500"/>
            <a:ext cx="4191000" cy="2540000"/>
          </a:xfrm>
          <a:prstGeom prst="rect">
            <a:avLst/>
          </a:prstGeom>
          <a:noFill/>
          <a:ln/>
        </p:spPr>
        <p:txBody>
          <a:bodyPr wrap="square" lIns="0" tIns="0" rIns="0" bIns="0" rtlCol="0" anchor="t"/>
          <a:lstStyle/>
          <a:p>
            <a:pPr>
              <a:lnSpc>
                <a:spcPct val="150000"/>
              </a:lnSpc>
            </a:pPr>
            <a:r>
              <a:rPr lang="en-US" dirty="0"/>
              <a:t>The UPI cashback scam tricks users into authorizing payments disguised as refunds or rewards. Victims think they’re receiving money but actually send funds out. Losses from UPI frauds in India rose from ₹573 crore in FY2022–23 to ₹1,087 crore in FY2023–24, with SBI customers losing over ₹6,313 crore overall.</a:t>
            </a:r>
          </a:p>
        </p:txBody>
      </p:sp>
      <p:sp>
        <p:nvSpPr>
          <p:cNvPr id="18" name="Text 16"/>
          <p:cNvSpPr/>
          <p:nvPr/>
        </p:nvSpPr>
        <p:spPr>
          <a:xfrm>
            <a:off x="6032500" y="6223000"/>
            <a:ext cx="4191000" cy="889000"/>
          </a:xfrm>
          <a:prstGeom prst="rect">
            <a:avLst/>
          </a:prstGeom>
          <a:noFill/>
          <a:ln/>
        </p:spPr>
        <p:txBody>
          <a:bodyPr wrap="square" lIns="0" tIns="0" rIns="0" bIns="0" rtlCol="0" anchor="t"/>
          <a:lstStyle/>
          <a:p>
            <a:pPr>
              <a:lnSpc>
                <a:spcPct val="140000"/>
              </a:lnSpc>
            </a:pPr>
            <a:endParaRPr lang="en-US" sz="1600" dirty="0"/>
          </a:p>
        </p:txBody>
      </p:sp>
      <p:sp>
        <p:nvSpPr>
          <p:cNvPr id="20" name="Shape 18"/>
          <p:cNvSpPr/>
          <p:nvPr/>
        </p:nvSpPr>
        <p:spPr>
          <a:xfrm>
            <a:off x="10795000" y="1460500"/>
            <a:ext cx="4699000" cy="6007100"/>
          </a:xfrm>
          <a:prstGeom prst="roundRect">
            <a:avLst>
              <a:gd name="adj" fmla="val 6000"/>
            </a:avLst>
          </a:prstGeom>
          <a:solidFill>
            <a:srgbClr val="EDEAE4"/>
          </a:solidFill>
          <a:ln/>
        </p:spPr>
      </p:sp>
      <p:sp>
        <p:nvSpPr>
          <p:cNvPr id="21" name="Shape 19"/>
          <p:cNvSpPr/>
          <p:nvPr/>
        </p:nvSpPr>
        <p:spPr>
          <a:xfrm>
            <a:off x="10795000" y="1460500"/>
            <a:ext cx="4699000" cy="571500"/>
          </a:xfrm>
          <a:prstGeom prst="roundRect">
            <a:avLst>
              <a:gd name="adj" fmla="val 6000"/>
            </a:avLst>
          </a:prstGeom>
          <a:solidFill>
            <a:srgbClr val="5C6B7A"/>
          </a:solidFill>
          <a:ln/>
        </p:spPr>
      </p:sp>
      <p:sp>
        <p:nvSpPr>
          <p:cNvPr id="22" name="Text 20"/>
          <p:cNvSpPr/>
          <p:nvPr/>
        </p:nvSpPr>
        <p:spPr>
          <a:xfrm>
            <a:off x="10985500" y="1524000"/>
            <a:ext cx="4318000" cy="444500"/>
          </a:xfrm>
          <a:prstGeom prst="rect">
            <a:avLst/>
          </a:prstGeom>
          <a:noFill/>
          <a:ln/>
        </p:spPr>
        <p:txBody>
          <a:bodyPr wrap="none" lIns="0" tIns="0" rIns="0" bIns="0" rtlCol="0" anchor="ctr"/>
          <a:lstStyle/>
          <a:p>
            <a:r>
              <a:rPr lang="en-US" sz="1400" dirty="0">
                <a:solidFill>
                  <a:schemeClr val="bg1"/>
                </a:solidFill>
                <a:latin typeface="Liter" pitchFamily="34" charset="0"/>
                <a:ea typeface="Liter" pitchFamily="34" charset="-122"/>
                <a:cs typeface="Liter" pitchFamily="34" charset="-120"/>
              </a:rPr>
              <a:t>Fake Internship/job scams</a:t>
            </a:r>
            <a:r>
              <a:rPr lang="en-US" sz="1300" dirty="0">
                <a:solidFill>
                  <a:srgbClr val="FFFFFF"/>
                </a:solidFill>
                <a:latin typeface="Liter" pitchFamily="34" charset="0"/>
                <a:ea typeface="Liter" pitchFamily="34" charset="-122"/>
                <a:cs typeface="Liter" pitchFamily="34" charset="-120"/>
              </a:rPr>
              <a:t>| 2025-2026</a:t>
            </a:r>
            <a:endParaRPr lang="en-US" sz="1600" dirty="0"/>
          </a:p>
        </p:txBody>
      </p:sp>
      <p:sp>
        <p:nvSpPr>
          <p:cNvPr id="23" name="Text 21"/>
          <p:cNvSpPr/>
          <p:nvPr/>
        </p:nvSpPr>
        <p:spPr>
          <a:xfrm>
            <a:off x="10985500" y="2222500"/>
            <a:ext cx="4191000" cy="635000"/>
          </a:xfrm>
          <a:prstGeom prst="rect">
            <a:avLst/>
          </a:prstGeom>
          <a:noFill/>
          <a:ln/>
        </p:spPr>
        <p:txBody>
          <a:bodyPr wrap="none" lIns="0" tIns="0" rIns="0" bIns="0" rtlCol="0" anchor="ctr"/>
          <a:lstStyle/>
          <a:p>
            <a:r>
              <a:rPr lang="en-US" sz="4800" dirty="0">
                <a:solidFill>
                  <a:srgbClr val="E85D04"/>
                </a:solidFill>
                <a:latin typeface="Liter" pitchFamily="34" charset="0"/>
                <a:ea typeface="Liter" pitchFamily="34" charset="-122"/>
                <a:cs typeface="Liter" pitchFamily="34" charset="-120"/>
              </a:rPr>
              <a:t>₹</a:t>
            </a:r>
            <a:r>
              <a:rPr lang="en-US" sz="4000" dirty="0">
                <a:solidFill>
                  <a:srgbClr val="E85D04"/>
                </a:solidFill>
                <a:latin typeface="Liter" pitchFamily="34" charset="0"/>
                <a:ea typeface="Liter" pitchFamily="34" charset="-122"/>
                <a:cs typeface="Liter" pitchFamily="34" charset="-120"/>
              </a:rPr>
              <a:t>5.3 </a:t>
            </a:r>
            <a:r>
              <a:rPr lang="en-US" sz="3200" dirty="0">
                <a:solidFill>
                  <a:srgbClr val="E85D04"/>
                </a:solidFill>
                <a:latin typeface="Liter" pitchFamily="34" charset="0"/>
                <a:ea typeface="Liter" pitchFamily="34" charset="-122"/>
                <a:cs typeface="Liter" pitchFamily="34" charset="-120"/>
              </a:rPr>
              <a:t>CR. </a:t>
            </a:r>
            <a:endParaRPr lang="en-US" sz="3200" dirty="0"/>
          </a:p>
        </p:txBody>
      </p:sp>
      <p:sp>
        <p:nvSpPr>
          <p:cNvPr id="24" name="Text 22"/>
          <p:cNvSpPr/>
          <p:nvPr/>
        </p:nvSpPr>
        <p:spPr>
          <a:xfrm>
            <a:off x="11049000" y="2984500"/>
            <a:ext cx="4191000" cy="381000"/>
          </a:xfrm>
          <a:prstGeom prst="rect">
            <a:avLst/>
          </a:prstGeom>
          <a:noFill/>
          <a:ln/>
        </p:spPr>
        <p:txBody>
          <a:bodyPr wrap="none" lIns="0" tIns="0" rIns="0" bIns="0" rtlCol="0" anchor="ctr"/>
          <a:lstStyle/>
          <a:p>
            <a:pPr>
              <a:lnSpc>
                <a:spcPct val="100000"/>
              </a:lnSpc>
            </a:pPr>
            <a:r>
              <a:rPr lang="en-US" sz="1700" dirty="0">
                <a:solidFill>
                  <a:srgbClr val="1B263B"/>
                </a:solidFill>
                <a:latin typeface="Liter" pitchFamily="34" charset="0"/>
                <a:ea typeface="Liter" pitchFamily="34" charset="-122"/>
                <a:cs typeface="Liter" pitchFamily="34" charset="-120"/>
              </a:rPr>
              <a:t>Fake Internship/job scams</a:t>
            </a:r>
            <a:endParaRPr lang="en-US" sz="1600" dirty="0"/>
          </a:p>
        </p:txBody>
      </p:sp>
      <p:sp>
        <p:nvSpPr>
          <p:cNvPr id="25" name="Text 23"/>
          <p:cNvSpPr/>
          <p:nvPr/>
        </p:nvSpPr>
        <p:spPr>
          <a:xfrm>
            <a:off x="11049000" y="3492500"/>
            <a:ext cx="4191000" cy="2540000"/>
          </a:xfrm>
          <a:prstGeom prst="rect">
            <a:avLst/>
          </a:prstGeom>
          <a:noFill/>
          <a:ln/>
        </p:spPr>
        <p:txBody>
          <a:bodyPr wrap="square" lIns="0" tIns="0" rIns="0" bIns="0" rtlCol="0" anchor="t"/>
          <a:lstStyle/>
          <a:p>
            <a:pPr>
              <a:lnSpc>
                <a:spcPct val="150000"/>
              </a:lnSpc>
            </a:pPr>
            <a:r>
              <a:rPr lang="en-US" dirty="0"/>
              <a:t>Fake internship/job scams lure students and job seekers with promises of high stipends, remote work, or government jobs. Victims are tricked into paying fees or sharing sensitive data. Losses range from thousands to crores, with one Bengaluru case alone defrauding ₹5.3 crore. Always verify offers and avoid upfront payments.</a:t>
            </a:r>
          </a:p>
        </p:txBody>
      </p:sp>
      <p:sp>
        <p:nvSpPr>
          <p:cNvPr id="26" name="Text 24"/>
          <p:cNvSpPr/>
          <p:nvPr/>
        </p:nvSpPr>
        <p:spPr>
          <a:xfrm>
            <a:off x="11049000" y="6223000"/>
            <a:ext cx="4191000" cy="889000"/>
          </a:xfrm>
          <a:prstGeom prst="rect">
            <a:avLst/>
          </a:prstGeom>
          <a:noFill/>
          <a:ln/>
        </p:spPr>
        <p:txBody>
          <a:bodyPr wrap="square" lIns="0" tIns="0" rIns="0" bIns="0" rtlCol="0" anchor="t"/>
          <a:lstStyle/>
          <a:p>
            <a:pPr>
              <a:lnSpc>
                <a:spcPct val="140000"/>
              </a:lnSpc>
            </a:pPr>
            <a:endParaRPr lang="en-US" sz="1600" dirty="0"/>
          </a:p>
        </p:txBody>
      </p:sp>
      <p:sp>
        <p:nvSpPr>
          <p:cNvPr id="28" name="Text 26"/>
          <p:cNvSpPr/>
          <p:nvPr/>
        </p:nvSpPr>
        <p:spPr>
          <a:xfrm>
            <a:off x="13335000" y="8699500"/>
            <a:ext cx="2159000" cy="254000"/>
          </a:xfrm>
          <a:prstGeom prst="rect">
            <a:avLst/>
          </a:prstGeom>
          <a:noFill/>
          <a:ln/>
        </p:spPr>
        <p:txBody>
          <a:bodyPr wrap="none" lIns="0" tIns="0" rIns="0" bIns="0" rtlCol="0" anchor="ctr"/>
          <a:lstStyle/>
          <a:p>
            <a:pPr algn="r">
              <a:lnSpc>
                <a:spcPct val="140000"/>
              </a:lnSpc>
            </a:pPr>
            <a:r>
              <a:rPr lang="en-US" sz="1400" dirty="0">
                <a:solidFill>
                  <a:srgbClr val="5C6B7A"/>
                </a:solidFill>
                <a:latin typeface="QuattrocentoSans" pitchFamily="34" charset="0"/>
                <a:ea typeface="QuattrocentoSans" pitchFamily="34" charset="-122"/>
                <a:cs typeface="QuattrocentoSans" pitchFamily="34" charset="-120"/>
              </a:rPr>
              <a:t>03 / Social Engineering</a:t>
            </a:r>
            <a:endParaRPr lang="en-US" sz="14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gradFill flip="none" rotWithShape="1">
            <a:gsLst>
              <a:gs pos="0">
                <a:srgbClr val="1B263B">
                  <a:alpha val="93000"/>
                </a:srgbClr>
              </a:gs>
              <a:gs pos="60000">
                <a:srgbClr val="1B263B">
                  <a:alpha val="80000"/>
                </a:srgbClr>
              </a:gs>
              <a:gs pos="100000">
                <a:srgbClr val="1B263B">
                  <a:alpha val="40000"/>
                </a:srgbClr>
              </a:gs>
            </a:gsLst>
            <a:lin ang="0" scaled="1"/>
          </a:gradFill>
          <a:ln/>
        </p:spPr>
      </p:sp>
      <p:sp>
        <p:nvSpPr>
          <p:cNvPr id="3" name="Text 1"/>
          <p:cNvSpPr/>
          <p:nvPr/>
        </p:nvSpPr>
        <p:spPr>
          <a:xfrm>
            <a:off x="1016000" y="2540000"/>
            <a:ext cx="2540000" cy="1016000"/>
          </a:xfrm>
          <a:prstGeom prst="rect">
            <a:avLst/>
          </a:prstGeom>
          <a:noFill/>
          <a:ln/>
        </p:spPr>
        <p:txBody>
          <a:bodyPr wrap="none" lIns="0" tIns="0" rIns="0" bIns="0" rtlCol="0" anchor="ctr"/>
          <a:lstStyle/>
          <a:p>
            <a:pPr>
              <a:lnSpc>
                <a:spcPct val="100000"/>
              </a:lnSpc>
            </a:pPr>
            <a:r>
              <a:rPr lang="en-US" sz="7200" dirty="0">
                <a:solidFill>
                  <a:srgbClr val="E85D04"/>
                </a:solidFill>
                <a:latin typeface="Liter" pitchFamily="34" charset="0"/>
                <a:ea typeface="Liter" pitchFamily="34" charset="-122"/>
                <a:cs typeface="Liter" pitchFamily="34" charset="-120"/>
              </a:rPr>
              <a:t>04</a:t>
            </a:r>
            <a:endParaRPr lang="en-US" sz="1600" dirty="0"/>
          </a:p>
        </p:txBody>
      </p:sp>
      <p:sp>
        <p:nvSpPr>
          <p:cNvPr id="4" name="Shape 2"/>
          <p:cNvSpPr/>
          <p:nvPr/>
        </p:nvSpPr>
        <p:spPr>
          <a:xfrm>
            <a:off x="1016000" y="3683000"/>
            <a:ext cx="1270000" cy="38100"/>
          </a:xfrm>
          <a:prstGeom prst="rect">
            <a:avLst/>
          </a:prstGeom>
          <a:solidFill>
            <a:srgbClr val="E85D04"/>
          </a:solidFill>
          <a:ln/>
        </p:spPr>
      </p:sp>
      <p:sp>
        <p:nvSpPr>
          <p:cNvPr id="5" name="Text 3"/>
          <p:cNvSpPr/>
          <p:nvPr/>
        </p:nvSpPr>
        <p:spPr>
          <a:xfrm>
            <a:off x="1016000" y="3937000"/>
            <a:ext cx="11430000" cy="698500"/>
          </a:xfrm>
          <a:prstGeom prst="rect">
            <a:avLst/>
          </a:prstGeom>
          <a:noFill/>
          <a:ln/>
        </p:spPr>
        <p:txBody>
          <a:bodyPr wrap="none" lIns="0" tIns="0" rIns="0" bIns="0" rtlCol="0" anchor="ctr"/>
          <a:lstStyle/>
          <a:p>
            <a:pPr>
              <a:lnSpc>
                <a:spcPct val="120000"/>
              </a:lnSpc>
            </a:pPr>
            <a:r>
              <a:rPr lang="en-US" sz="3800" kern="0" spc="200" dirty="0">
                <a:solidFill>
                  <a:srgbClr val="FFFFFF"/>
                </a:solidFill>
                <a:latin typeface="Liter" pitchFamily="34" charset="0"/>
                <a:ea typeface="Liter" pitchFamily="34" charset="-122"/>
                <a:cs typeface="Liter" pitchFamily="34" charset="-120"/>
              </a:rPr>
              <a:t>PROTECTION &amp; BEST PRACTICES</a:t>
            </a:r>
            <a:endParaRPr lang="en-US" sz="3800" dirty="0"/>
          </a:p>
        </p:txBody>
      </p:sp>
      <p:sp>
        <p:nvSpPr>
          <p:cNvPr id="6" name="Text 4"/>
          <p:cNvSpPr/>
          <p:nvPr/>
        </p:nvSpPr>
        <p:spPr>
          <a:xfrm>
            <a:off x="1016000" y="4826000"/>
            <a:ext cx="8890000" cy="444500"/>
          </a:xfrm>
          <a:prstGeom prst="rect">
            <a:avLst/>
          </a:prstGeom>
          <a:noFill/>
          <a:ln/>
        </p:spPr>
        <p:txBody>
          <a:bodyPr wrap="none" lIns="0" tIns="0" rIns="0" bIns="0" rtlCol="0" anchor="ctr"/>
          <a:lstStyle/>
          <a:p>
            <a:pPr>
              <a:lnSpc>
                <a:spcPct val="10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Actionable steps to defend yourself and your organization</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762000" y="571500"/>
            <a:ext cx="10160000" cy="508000"/>
          </a:xfrm>
          <a:prstGeom prst="rect">
            <a:avLst/>
          </a:prstGeom>
          <a:noFill/>
          <a:ln/>
        </p:spPr>
        <p:txBody>
          <a:bodyPr wrap="none" lIns="0" tIns="0" rIns="0" bIns="0" rtlCol="0" anchor="ctr"/>
          <a:lstStyle/>
          <a:p>
            <a:pPr>
              <a:lnSpc>
                <a:spcPct val="130000"/>
              </a:lnSpc>
            </a:pPr>
            <a:r>
              <a:rPr lang="en-US" sz="2800" dirty="0">
                <a:solidFill>
                  <a:srgbClr val="1B263B"/>
                </a:solidFill>
                <a:latin typeface="Liter" pitchFamily="34" charset="0"/>
                <a:ea typeface="Liter" pitchFamily="34" charset="-122"/>
                <a:cs typeface="Liter" pitchFamily="34" charset="-120"/>
              </a:rPr>
              <a:t>Best Practices to Stay Protected</a:t>
            </a:r>
            <a:endParaRPr lang="en-US" sz="2800" dirty="0"/>
          </a:p>
        </p:txBody>
      </p:sp>
      <p:sp>
        <p:nvSpPr>
          <p:cNvPr id="3" name="Shape 1"/>
          <p:cNvSpPr/>
          <p:nvPr/>
        </p:nvSpPr>
        <p:spPr>
          <a:xfrm>
            <a:off x="762000" y="1143000"/>
            <a:ext cx="762000" cy="38100"/>
          </a:xfrm>
          <a:prstGeom prst="rect">
            <a:avLst/>
          </a:prstGeom>
          <a:solidFill>
            <a:srgbClr val="E85D04"/>
          </a:solidFill>
          <a:ln/>
        </p:spPr>
      </p:sp>
      <p:sp>
        <p:nvSpPr>
          <p:cNvPr id="4" name="Shape 2"/>
          <p:cNvSpPr/>
          <p:nvPr/>
        </p:nvSpPr>
        <p:spPr>
          <a:xfrm>
            <a:off x="762000" y="1460500"/>
            <a:ext cx="7175500" cy="2159000"/>
          </a:xfrm>
          <a:prstGeom prst="roundRect">
            <a:avLst>
              <a:gd name="adj" fmla="val 6000"/>
            </a:avLst>
          </a:prstGeom>
          <a:solidFill>
            <a:srgbClr val="EDEAE4"/>
          </a:solidFill>
          <a:ln/>
        </p:spPr>
      </p:sp>
      <p:sp>
        <p:nvSpPr>
          <p:cNvPr id="5" name="Text 3"/>
          <p:cNvSpPr/>
          <p:nvPr/>
        </p:nvSpPr>
        <p:spPr>
          <a:xfrm>
            <a:off x="1016000" y="1587500"/>
            <a:ext cx="698500" cy="508000"/>
          </a:xfrm>
          <a:prstGeom prst="rect">
            <a:avLst/>
          </a:prstGeom>
          <a:noFill/>
          <a:ln/>
        </p:spPr>
        <p:txBody>
          <a:bodyPr wrap="none" lIns="0" tIns="0" rIns="0" bIns="0" rtlCol="0" anchor="ctr"/>
          <a:lstStyle/>
          <a:p>
            <a:pPr algn="ctr">
              <a:lnSpc>
                <a:spcPct val="100000"/>
              </a:lnSpc>
            </a:pPr>
            <a:r>
              <a:rPr lang="en-US" sz="2800" dirty="0">
                <a:solidFill>
                  <a:srgbClr val="E85D04"/>
                </a:solidFill>
                <a:latin typeface="Liter" pitchFamily="34" charset="0"/>
                <a:ea typeface="Liter" pitchFamily="34" charset="-122"/>
                <a:cs typeface="Liter" pitchFamily="34" charset="-120"/>
              </a:rPr>
              <a:t>1</a:t>
            </a:r>
            <a:endParaRPr lang="en-US" sz="1600" dirty="0"/>
          </a:p>
        </p:txBody>
      </p:sp>
      <p:sp>
        <p:nvSpPr>
          <p:cNvPr id="6" name="Text 4"/>
          <p:cNvSpPr/>
          <p:nvPr/>
        </p:nvSpPr>
        <p:spPr>
          <a:xfrm>
            <a:off x="1778000" y="1625600"/>
            <a:ext cx="5842000" cy="381000"/>
          </a:xfrm>
          <a:prstGeom prst="rect">
            <a:avLst/>
          </a:prstGeom>
          <a:noFill/>
          <a:ln/>
        </p:spPr>
        <p:txBody>
          <a:bodyPr wrap="none" lIns="0" tIns="0" rIns="0" bIns="0" rtlCol="0" anchor="ctr"/>
          <a:lstStyle/>
          <a:p>
            <a:pPr>
              <a:lnSpc>
                <a:spcPct val="100000"/>
              </a:lnSpc>
            </a:pPr>
            <a:r>
              <a:rPr lang="en-US" sz="1900" dirty="0">
                <a:solidFill>
                  <a:srgbClr val="1B263B"/>
                </a:solidFill>
                <a:latin typeface="Liter" pitchFamily="34" charset="0"/>
                <a:ea typeface="Liter" pitchFamily="34" charset="-122"/>
                <a:cs typeface="Liter" pitchFamily="34" charset="-120"/>
              </a:rPr>
              <a:t>Enable Multi-Factor Authentication</a:t>
            </a:r>
            <a:endParaRPr lang="en-US" sz="1600" dirty="0"/>
          </a:p>
        </p:txBody>
      </p:sp>
      <p:sp>
        <p:nvSpPr>
          <p:cNvPr id="7" name="Text 5"/>
          <p:cNvSpPr/>
          <p:nvPr/>
        </p:nvSpPr>
        <p:spPr>
          <a:xfrm>
            <a:off x="1016000" y="2133600"/>
            <a:ext cx="6667500" cy="1270000"/>
          </a:xfrm>
          <a:prstGeom prst="rect">
            <a:avLst/>
          </a:prstGeom>
          <a:noFill/>
          <a:ln/>
        </p:spPr>
        <p:txBody>
          <a:bodyPr wrap="square" lIns="0" tIns="0" rIns="0" bIns="0" rtlCol="0" anchor="t"/>
          <a:lstStyle/>
          <a:p>
            <a:pPr>
              <a:lnSpc>
                <a:spcPct val="150000"/>
              </a:lnSpc>
            </a:pPr>
            <a:r>
              <a:rPr lang="en-US" sz="1600" dirty="0">
                <a:solidFill>
                  <a:srgbClr val="1A1A2E"/>
                </a:solidFill>
                <a:latin typeface="Quattrocento Sans" pitchFamily="34" charset="0"/>
                <a:ea typeface="Quattrocento Sans" pitchFamily="34" charset="-122"/>
                <a:cs typeface="Quattrocento Sans" pitchFamily="34" charset="-120"/>
              </a:rPr>
              <a:t>Adds a critical second layer of security. Even if your password is stolen, attackers can't access your account without the second factor. Use </a:t>
            </a:r>
            <a:r>
              <a:rPr lang="en-US" sz="1600" b="1" dirty="0">
                <a:solidFill>
                  <a:srgbClr val="1A1A2E"/>
                </a:solidFill>
                <a:latin typeface="Quattrocento Sans" pitchFamily="34" charset="0"/>
                <a:ea typeface="Quattrocento Sans" pitchFamily="34" charset="-122"/>
                <a:cs typeface="Quattrocento Sans" pitchFamily="34" charset="-120"/>
              </a:rPr>
              <a:t>phishing-resistant MFA</a:t>
            </a:r>
            <a:r>
              <a:rPr lang="en-US" sz="1600" dirty="0">
                <a:solidFill>
                  <a:srgbClr val="1A1A2E"/>
                </a:solidFill>
                <a:latin typeface="Quattrocento Sans" pitchFamily="34" charset="0"/>
                <a:ea typeface="Quattrocento Sans" pitchFamily="34" charset="-122"/>
                <a:cs typeface="Quattrocento Sans" pitchFamily="34" charset="-120"/>
              </a:rPr>
              <a:t> (FIDO2/passkeys) when available.</a:t>
            </a:r>
            <a:endParaRPr lang="en-US" sz="1600" dirty="0"/>
          </a:p>
        </p:txBody>
      </p:sp>
      <p:sp>
        <p:nvSpPr>
          <p:cNvPr id="8" name="Shape 6"/>
          <p:cNvSpPr/>
          <p:nvPr/>
        </p:nvSpPr>
        <p:spPr>
          <a:xfrm>
            <a:off x="8318500" y="1460500"/>
            <a:ext cx="7175500" cy="2159000"/>
          </a:xfrm>
          <a:prstGeom prst="roundRect">
            <a:avLst>
              <a:gd name="adj" fmla="val 6000"/>
            </a:avLst>
          </a:prstGeom>
          <a:solidFill>
            <a:srgbClr val="EDEAE4"/>
          </a:solidFill>
          <a:ln/>
        </p:spPr>
      </p:sp>
      <p:sp>
        <p:nvSpPr>
          <p:cNvPr id="9" name="Text 7"/>
          <p:cNvSpPr/>
          <p:nvPr/>
        </p:nvSpPr>
        <p:spPr>
          <a:xfrm>
            <a:off x="8572500" y="1587500"/>
            <a:ext cx="698500" cy="508000"/>
          </a:xfrm>
          <a:prstGeom prst="rect">
            <a:avLst/>
          </a:prstGeom>
          <a:noFill/>
          <a:ln/>
        </p:spPr>
        <p:txBody>
          <a:bodyPr wrap="none" lIns="0" tIns="0" rIns="0" bIns="0" rtlCol="0" anchor="ctr"/>
          <a:lstStyle/>
          <a:p>
            <a:pPr algn="ctr">
              <a:lnSpc>
                <a:spcPct val="100000"/>
              </a:lnSpc>
            </a:pPr>
            <a:r>
              <a:rPr lang="en-US" sz="2800" dirty="0">
                <a:solidFill>
                  <a:srgbClr val="E85D04"/>
                </a:solidFill>
                <a:latin typeface="Liter" pitchFamily="34" charset="0"/>
                <a:ea typeface="Liter" pitchFamily="34" charset="-122"/>
                <a:cs typeface="Liter" pitchFamily="34" charset="-120"/>
              </a:rPr>
              <a:t>2</a:t>
            </a:r>
            <a:endParaRPr lang="en-US" sz="1600" dirty="0"/>
          </a:p>
        </p:txBody>
      </p:sp>
      <p:sp>
        <p:nvSpPr>
          <p:cNvPr id="10" name="Text 8"/>
          <p:cNvSpPr/>
          <p:nvPr/>
        </p:nvSpPr>
        <p:spPr>
          <a:xfrm>
            <a:off x="9334500" y="1625600"/>
            <a:ext cx="5842000" cy="381000"/>
          </a:xfrm>
          <a:prstGeom prst="rect">
            <a:avLst/>
          </a:prstGeom>
          <a:noFill/>
          <a:ln/>
        </p:spPr>
        <p:txBody>
          <a:bodyPr wrap="none" lIns="0" tIns="0" rIns="0" bIns="0" rtlCol="0" anchor="ctr"/>
          <a:lstStyle/>
          <a:p>
            <a:pPr>
              <a:lnSpc>
                <a:spcPct val="100000"/>
              </a:lnSpc>
            </a:pPr>
            <a:r>
              <a:rPr lang="en-US" sz="1900" dirty="0">
                <a:solidFill>
                  <a:srgbClr val="1B263B"/>
                </a:solidFill>
                <a:latin typeface="Liter" pitchFamily="34" charset="0"/>
                <a:ea typeface="Liter" pitchFamily="34" charset="-122"/>
                <a:cs typeface="Liter" pitchFamily="34" charset="-120"/>
              </a:rPr>
              <a:t>Think Before You Click</a:t>
            </a:r>
            <a:endParaRPr lang="en-US" sz="1600" dirty="0"/>
          </a:p>
        </p:txBody>
      </p:sp>
      <p:sp>
        <p:nvSpPr>
          <p:cNvPr id="11" name="Text 9"/>
          <p:cNvSpPr/>
          <p:nvPr/>
        </p:nvSpPr>
        <p:spPr>
          <a:xfrm>
            <a:off x="8572500" y="2133600"/>
            <a:ext cx="6667500" cy="1270000"/>
          </a:xfrm>
          <a:prstGeom prst="rect">
            <a:avLst/>
          </a:prstGeom>
          <a:noFill/>
          <a:ln/>
        </p:spPr>
        <p:txBody>
          <a:bodyPr wrap="square" lIns="0" tIns="0" rIns="0" bIns="0" rtlCol="0" anchor="t"/>
          <a:lstStyle/>
          <a:p>
            <a:pPr>
              <a:lnSpc>
                <a:spcPct val="150000"/>
              </a:lnSpc>
            </a:pPr>
            <a:r>
              <a:rPr lang="en-US" sz="1600" dirty="0">
                <a:solidFill>
                  <a:srgbClr val="1A1A2E"/>
                </a:solidFill>
                <a:latin typeface="Quattrocento Sans" pitchFamily="34" charset="0"/>
                <a:ea typeface="Quattrocento Sans" pitchFamily="34" charset="-122"/>
                <a:cs typeface="Quattrocento Sans" pitchFamily="34" charset="-120"/>
              </a:rPr>
              <a:t>Hover over links to verify the destination URL before clicking. Be especially cautious with unexpected emails, even from known contacts — their accounts may be compromised.</a:t>
            </a:r>
            <a:endParaRPr lang="en-US" sz="1600" dirty="0"/>
          </a:p>
        </p:txBody>
      </p:sp>
      <p:sp>
        <p:nvSpPr>
          <p:cNvPr id="12" name="Shape 10"/>
          <p:cNvSpPr/>
          <p:nvPr/>
        </p:nvSpPr>
        <p:spPr>
          <a:xfrm>
            <a:off x="762000" y="3873500"/>
            <a:ext cx="7175500" cy="2159000"/>
          </a:xfrm>
          <a:prstGeom prst="roundRect">
            <a:avLst>
              <a:gd name="adj" fmla="val 6000"/>
            </a:avLst>
          </a:prstGeom>
          <a:solidFill>
            <a:srgbClr val="EDEAE4"/>
          </a:solidFill>
          <a:ln/>
        </p:spPr>
      </p:sp>
      <p:sp>
        <p:nvSpPr>
          <p:cNvPr id="13" name="Text 11"/>
          <p:cNvSpPr/>
          <p:nvPr/>
        </p:nvSpPr>
        <p:spPr>
          <a:xfrm>
            <a:off x="1016000" y="4000500"/>
            <a:ext cx="698500" cy="508000"/>
          </a:xfrm>
          <a:prstGeom prst="rect">
            <a:avLst/>
          </a:prstGeom>
          <a:noFill/>
          <a:ln/>
        </p:spPr>
        <p:txBody>
          <a:bodyPr wrap="none" lIns="0" tIns="0" rIns="0" bIns="0" rtlCol="0" anchor="ctr"/>
          <a:lstStyle/>
          <a:p>
            <a:pPr algn="ctr">
              <a:lnSpc>
                <a:spcPct val="100000"/>
              </a:lnSpc>
            </a:pPr>
            <a:r>
              <a:rPr lang="en-US" sz="2800" dirty="0">
                <a:solidFill>
                  <a:srgbClr val="E85D04"/>
                </a:solidFill>
                <a:latin typeface="Liter" pitchFamily="34" charset="0"/>
                <a:ea typeface="Liter" pitchFamily="34" charset="-122"/>
                <a:cs typeface="Liter" pitchFamily="34" charset="-120"/>
              </a:rPr>
              <a:t>3</a:t>
            </a:r>
            <a:endParaRPr lang="en-US" sz="1600" dirty="0"/>
          </a:p>
        </p:txBody>
      </p:sp>
      <p:sp>
        <p:nvSpPr>
          <p:cNvPr id="14" name="Text 12"/>
          <p:cNvSpPr/>
          <p:nvPr/>
        </p:nvSpPr>
        <p:spPr>
          <a:xfrm>
            <a:off x="1778000" y="4038600"/>
            <a:ext cx="5842000" cy="381000"/>
          </a:xfrm>
          <a:prstGeom prst="rect">
            <a:avLst/>
          </a:prstGeom>
          <a:noFill/>
          <a:ln/>
        </p:spPr>
        <p:txBody>
          <a:bodyPr wrap="none" lIns="0" tIns="0" rIns="0" bIns="0" rtlCol="0" anchor="ctr"/>
          <a:lstStyle/>
          <a:p>
            <a:pPr>
              <a:lnSpc>
                <a:spcPct val="100000"/>
              </a:lnSpc>
            </a:pPr>
            <a:r>
              <a:rPr lang="en-US" sz="1900" dirty="0">
                <a:solidFill>
                  <a:srgbClr val="1B263B"/>
                </a:solidFill>
                <a:latin typeface="Liter" pitchFamily="34" charset="0"/>
                <a:ea typeface="Liter" pitchFamily="34" charset="-122"/>
                <a:cs typeface="Liter" pitchFamily="34" charset="-120"/>
              </a:rPr>
              <a:t>Verify Requests Independently</a:t>
            </a:r>
            <a:endParaRPr lang="en-US" sz="1600" dirty="0"/>
          </a:p>
        </p:txBody>
      </p:sp>
      <p:sp>
        <p:nvSpPr>
          <p:cNvPr id="15" name="Text 13"/>
          <p:cNvSpPr/>
          <p:nvPr/>
        </p:nvSpPr>
        <p:spPr>
          <a:xfrm>
            <a:off x="1016000" y="4546600"/>
            <a:ext cx="6667500" cy="1270000"/>
          </a:xfrm>
          <a:prstGeom prst="rect">
            <a:avLst/>
          </a:prstGeom>
          <a:noFill/>
          <a:ln/>
        </p:spPr>
        <p:txBody>
          <a:bodyPr wrap="square" lIns="0" tIns="0" rIns="0" bIns="0" rtlCol="0" anchor="t"/>
          <a:lstStyle/>
          <a:p>
            <a:pPr>
              <a:lnSpc>
                <a:spcPct val="150000"/>
              </a:lnSpc>
            </a:pPr>
            <a:r>
              <a:rPr lang="en-US" sz="1600" dirty="0">
                <a:solidFill>
                  <a:srgbClr val="1A1A2E"/>
                </a:solidFill>
                <a:latin typeface="Quattrocento Sans" pitchFamily="34" charset="0"/>
                <a:ea typeface="Quattrocento Sans" pitchFamily="34" charset="-122"/>
                <a:cs typeface="Quattrocento Sans" pitchFamily="34" charset="-120"/>
              </a:rPr>
              <a:t>Call back using known numbers, not those provided in suspicious messages. Never use contact details from an email you suspect is fraudulent. When in doubt, verify through a separate channel.</a:t>
            </a:r>
            <a:endParaRPr lang="en-US" sz="1600" dirty="0"/>
          </a:p>
        </p:txBody>
      </p:sp>
      <p:sp>
        <p:nvSpPr>
          <p:cNvPr id="16" name="Shape 14"/>
          <p:cNvSpPr/>
          <p:nvPr/>
        </p:nvSpPr>
        <p:spPr>
          <a:xfrm>
            <a:off x="8318500" y="3873500"/>
            <a:ext cx="7175500" cy="2159000"/>
          </a:xfrm>
          <a:prstGeom prst="roundRect">
            <a:avLst>
              <a:gd name="adj" fmla="val 6000"/>
            </a:avLst>
          </a:prstGeom>
          <a:solidFill>
            <a:srgbClr val="EDEAE4"/>
          </a:solidFill>
          <a:ln/>
        </p:spPr>
      </p:sp>
      <p:sp>
        <p:nvSpPr>
          <p:cNvPr id="17" name="Text 15"/>
          <p:cNvSpPr/>
          <p:nvPr/>
        </p:nvSpPr>
        <p:spPr>
          <a:xfrm>
            <a:off x="8572500" y="4000500"/>
            <a:ext cx="698500" cy="508000"/>
          </a:xfrm>
          <a:prstGeom prst="rect">
            <a:avLst/>
          </a:prstGeom>
          <a:noFill/>
          <a:ln/>
        </p:spPr>
        <p:txBody>
          <a:bodyPr wrap="none" lIns="0" tIns="0" rIns="0" bIns="0" rtlCol="0" anchor="ctr"/>
          <a:lstStyle/>
          <a:p>
            <a:pPr algn="ctr">
              <a:lnSpc>
                <a:spcPct val="100000"/>
              </a:lnSpc>
            </a:pPr>
            <a:r>
              <a:rPr lang="en-US" sz="2800" dirty="0">
                <a:solidFill>
                  <a:srgbClr val="E85D04"/>
                </a:solidFill>
                <a:latin typeface="Liter" pitchFamily="34" charset="0"/>
                <a:ea typeface="Liter" pitchFamily="34" charset="-122"/>
                <a:cs typeface="Liter" pitchFamily="34" charset="-120"/>
              </a:rPr>
              <a:t>4</a:t>
            </a:r>
            <a:endParaRPr lang="en-US" sz="1600" dirty="0"/>
          </a:p>
        </p:txBody>
      </p:sp>
      <p:sp>
        <p:nvSpPr>
          <p:cNvPr id="18" name="Text 16"/>
          <p:cNvSpPr/>
          <p:nvPr/>
        </p:nvSpPr>
        <p:spPr>
          <a:xfrm>
            <a:off x="9334500" y="4038600"/>
            <a:ext cx="5842000" cy="381000"/>
          </a:xfrm>
          <a:prstGeom prst="rect">
            <a:avLst/>
          </a:prstGeom>
          <a:noFill/>
          <a:ln/>
        </p:spPr>
        <p:txBody>
          <a:bodyPr wrap="none" lIns="0" tIns="0" rIns="0" bIns="0" rtlCol="0" anchor="ctr"/>
          <a:lstStyle/>
          <a:p>
            <a:pPr>
              <a:lnSpc>
                <a:spcPct val="100000"/>
              </a:lnSpc>
            </a:pPr>
            <a:r>
              <a:rPr lang="en-US" sz="1900" dirty="0">
                <a:solidFill>
                  <a:srgbClr val="1B263B"/>
                </a:solidFill>
                <a:latin typeface="Liter" pitchFamily="34" charset="0"/>
                <a:ea typeface="Liter" pitchFamily="34" charset="-122"/>
                <a:cs typeface="Liter" pitchFamily="34" charset="-120"/>
              </a:rPr>
              <a:t>Keep Software Updated</a:t>
            </a:r>
            <a:endParaRPr lang="en-US" sz="1600" dirty="0"/>
          </a:p>
        </p:txBody>
      </p:sp>
      <p:sp>
        <p:nvSpPr>
          <p:cNvPr id="19" name="Text 17"/>
          <p:cNvSpPr/>
          <p:nvPr/>
        </p:nvSpPr>
        <p:spPr>
          <a:xfrm>
            <a:off x="8572500" y="4546600"/>
            <a:ext cx="6667500" cy="1270000"/>
          </a:xfrm>
          <a:prstGeom prst="rect">
            <a:avLst/>
          </a:prstGeom>
          <a:noFill/>
          <a:ln/>
        </p:spPr>
        <p:txBody>
          <a:bodyPr wrap="square" lIns="0" tIns="0" rIns="0" bIns="0" rtlCol="0" anchor="t"/>
          <a:lstStyle/>
          <a:p>
            <a:pPr>
              <a:lnSpc>
                <a:spcPct val="150000"/>
              </a:lnSpc>
            </a:pPr>
            <a:r>
              <a:rPr lang="en-US" sz="1600" dirty="0">
                <a:solidFill>
                  <a:srgbClr val="1A1A2E"/>
                </a:solidFill>
                <a:latin typeface="Quattrocento Sans" pitchFamily="34" charset="0"/>
                <a:ea typeface="Quattrocento Sans" pitchFamily="34" charset="-122"/>
                <a:cs typeface="Quattrocento Sans" pitchFamily="34" charset="-120"/>
              </a:rPr>
              <a:t>Regular updates patch known security vulnerabilities. Enable automatic updates for your operating system, browser, and applications. Outdated software is a common attack vector.</a:t>
            </a:r>
            <a:endParaRPr lang="en-US" sz="1600" dirty="0"/>
          </a:p>
        </p:txBody>
      </p:sp>
      <p:sp>
        <p:nvSpPr>
          <p:cNvPr id="20" name="Shape 18"/>
          <p:cNvSpPr/>
          <p:nvPr/>
        </p:nvSpPr>
        <p:spPr>
          <a:xfrm>
            <a:off x="762000" y="6286500"/>
            <a:ext cx="7175500" cy="2159000"/>
          </a:xfrm>
          <a:prstGeom prst="roundRect">
            <a:avLst>
              <a:gd name="adj" fmla="val 6000"/>
            </a:avLst>
          </a:prstGeom>
          <a:solidFill>
            <a:srgbClr val="EDEAE4"/>
          </a:solidFill>
          <a:ln/>
        </p:spPr>
      </p:sp>
      <p:sp>
        <p:nvSpPr>
          <p:cNvPr id="21" name="Text 19"/>
          <p:cNvSpPr/>
          <p:nvPr/>
        </p:nvSpPr>
        <p:spPr>
          <a:xfrm>
            <a:off x="1016000" y="6413500"/>
            <a:ext cx="698500" cy="508000"/>
          </a:xfrm>
          <a:prstGeom prst="rect">
            <a:avLst/>
          </a:prstGeom>
          <a:noFill/>
          <a:ln/>
        </p:spPr>
        <p:txBody>
          <a:bodyPr wrap="none" lIns="0" tIns="0" rIns="0" bIns="0" rtlCol="0" anchor="ctr"/>
          <a:lstStyle/>
          <a:p>
            <a:pPr algn="ctr">
              <a:lnSpc>
                <a:spcPct val="100000"/>
              </a:lnSpc>
            </a:pPr>
            <a:r>
              <a:rPr lang="en-US" sz="2800" dirty="0">
                <a:solidFill>
                  <a:srgbClr val="E85D04"/>
                </a:solidFill>
                <a:latin typeface="Liter" pitchFamily="34" charset="0"/>
                <a:ea typeface="Liter" pitchFamily="34" charset="-122"/>
                <a:cs typeface="Liter" pitchFamily="34" charset="-120"/>
              </a:rPr>
              <a:t>5</a:t>
            </a:r>
            <a:endParaRPr lang="en-US" sz="1600" dirty="0"/>
          </a:p>
        </p:txBody>
      </p:sp>
      <p:sp>
        <p:nvSpPr>
          <p:cNvPr id="22" name="Text 20"/>
          <p:cNvSpPr/>
          <p:nvPr/>
        </p:nvSpPr>
        <p:spPr>
          <a:xfrm>
            <a:off x="1778000" y="6451600"/>
            <a:ext cx="5842000" cy="381000"/>
          </a:xfrm>
          <a:prstGeom prst="rect">
            <a:avLst/>
          </a:prstGeom>
          <a:noFill/>
          <a:ln/>
        </p:spPr>
        <p:txBody>
          <a:bodyPr wrap="none" lIns="0" tIns="0" rIns="0" bIns="0" rtlCol="0" anchor="ctr"/>
          <a:lstStyle/>
          <a:p>
            <a:pPr>
              <a:lnSpc>
                <a:spcPct val="100000"/>
              </a:lnSpc>
            </a:pPr>
            <a:r>
              <a:rPr lang="en-US" sz="1900" dirty="0">
                <a:solidFill>
                  <a:srgbClr val="1B263B"/>
                </a:solidFill>
                <a:latin typeface="Liter" pitchFamily="34" charset="0"/>
                <a:ea typeface="Liter" pitchFamily="34" charset="-122"/>
                <a:cs typeface="Liter" pitchFamily="34" charset="-120"/>
              </a:rPr>
              <a:t>Use Strong, Unique Passwords</a:t>
            </a:r>
            <a:endParaRPr lang="en-US" sz="1600" dirty="0"/>
          </a:p>
        </p:txBody>
      </p:sp>
      <p:sp>
        <p:nvSpPr>
          <p:cNvPr id="23" name="Text 21"/>
          <p:cNvSpPr/>
          <p:nvPr/>
        </p:nvSpPr>
        <p:spPr>
          <a:xfrm>
            <a:off x="1016000" y="6959600"/>
            <a:ext cx="6667500" cy="1270000"/>
          </a:xfrm>
          <a:prstGeom prst="rect">
            <a:avLst/>
          </a:prstGeom>
          <a:noFill/>
          <a:ln/>
        </p:spPr>
        <p:txBody>
          <a:bodyPr wrap="square" lIns="0" tIns="0" rIns="0" bIns="0" rtlCol="0" anchor="t"/>
          <a:lstStyle/>
          <a:p>
            <a:pPr>
              <a:lnSpc>
                <a:spcPct val="150000"/>
              </a:lnSpc>
            </a:pPr>
            <a:r>
              <a:rPr lang="en-US" sz="1600" dirty="0">
                <a:solidFill>
                  <a:srgbClr val="1A1A2E"/>
                </a:solidFill>
                <a:latin typeface="Quattrocento Sans" pitchFamily="34" charset="0"/>
                <a:ea typeface="Quattrocento Sans" pitchFamily="34" charset="-122"/>
                <a:cs typeface="Quattrocento Sans" pitchFamily="34" charset="-120"/>
              </a:rPr>
              <a:t>Use a </a:t>
            </a:r>
            <a:r>
              <a:rPr lang="en-US" sz="1600" b="1" dirty="0">
                <a:solidFill>
                  <a:srgbClr val="1A1A2E"/>
                </a:solidFill>
                <a:latin typeface="Quattrocento Sans" pitchFamily="34" charset="0"/>
                <a:ea typeface="Quattrocento Sans" pitchFamily="34" charset="-122"/>
                <a:cs typeface="Quattrocento Sans" pitchFamily="34" charset="-120"/>
              </a:rPr>
              <a:t>password manager</a:t>
            </a:r>
            <a:r>
              <a:rPr lang="en-US" sz="1600" dirty="0">
                <a:solidFill>
                  <a:srgbClr val="1A1A2E"/>
                </a:solidFill>
                <a:latin typeface="Quattrocento Sans" pitchFamily="34" charset="0"/>
                <a:ea typeface="Quattrocento Sans" pitchFamily="34" charset="-122"/>
                <a:cs typeface="Quattrocento Sans" pitchFamily="34" charset="-120"/>
              </a:rPr>
              <a:t> to generate and store complex, unique passwords for every account. Never reuse passwords across multiple services — one breach can cascade to all your accounts.</a:t>
            </a:r>
            <a:endParaRPr lang="en-US" sz="1600" dirty="0"/>
          </a:p>
        </p:txBody>
      </p:sp>
      <p:sp>
        <p:nvSpPr>
          <p:cNvPr id="24" name="Shape 22"/>
          <p:cNvSpPr/>
          <p:nvPr/>
        </p:nvSpPr>
        <p:spPr>
          <a:xfrm>
            <a:off x="8318500" y="6286500"/>
            <a:ext cx="7175500" cy="2159000"/>
          </a:xfrm>
          <a:prstGeom prst="roundRect">
            <a:avLst>
              <a:gd name="adj" fmla="val 6000"/>
            </a:avLst>
          </a:prstGeom>
          <a:solidFill>
            <a:srgbClr val="EDEAE4"/>
          </a:solidFill>
          <a:ln/>
        </p:spPr>
      </p:sp>
      <p:sp>
        <p:nvSpPr>
          <p:cNvPr id="25" name="Text 23"/>
          <p:cNvSpPr/>
          <p:nvPr/>
        </p:nvSpPr>
        <p:spPr>
          <a:xfrm>
            <a:off x="8572500" y="6413500"/>
            <a:ext cx="698500" cy="508000"/>
          </a:xfrm>
          <a:prstGeom prst="rect">
            <a:avLst/>
          </a:prstGeom>
          <a:noFill/>
          <a:ln/>
        </p:spPr>
        <p:txBody>
          <a:bodyPr wrap="none" lIns="0" tIns="0" rIns="0" bIns="0" rtlCol="0" anchor="ctr"/>
          <a:lstStyle/>
          <a:p>
            <a:pPr algn="ctr">
              <a:lnSpc>
                <a:spcPct val="100000"/>
              </a:lnSpc>
            </a:pPr>
            <a:r>
              <a:rPr lang="en-US" sz="2800" dirty="0">
                <a:solidFill>
                  <a:srgbClr val="E85D04"/>
                </a:solidFill>
                <a:latin typeface="Liter" pitchFamily="34" charset="0"/>
                <a:ea typeface="Liter" pitchFamily="34" charset="-122"/>
                <a:cs typeface="Liter" pitchFamily="34" charset="-120"/>
              </a:rPr>
              <a:t>6</a:t>
            </a:r>
            <a:endParaRPr lang="en-US" sz="1600" dirty="0"/>
          </a:p>
        </p:txBody>
      </p:sp>
      <p:sp>
        <p:nvSpPr>
          <p:cNvPr id="26" name="Text 24"/>
          <p:cNvSpPr/>
          <p:nvPr/>
        </p:nvSpPr>
        <p:spPr>
          <a:xfrm>
            <a:off x="9334500" y="6451600"/>
            <a:ext cx="5842000" cy="381000"/>
          </a:xfrm>
          <a:prstGeom prst="rect">
            <a:avLst/>
          </a:prstGeom>
          <a:noFill/>
          <a:ln/>
        </p:spPr>
        <p:txBody>
          <a:bodyPr wrap="none" lIns="0" tIns="0" rIns="0" bIns="0" rtlCol="0" anchor="ctr"/>
          <a:lstStyle/>
          <a:p>
            <a:pPr>
              <a:lnSpc>
                <a:spcPct val="100000"/>
              </a:lnSpc>
            </a:pPr>
            <a:r>
              <a:rPr lang="en-US" sz="1900" dirty="0">
                <a:solidFill>
                  <a:srgbClr val="1B263B"/>
                </a:solidFill>
                <a:latin typeface="Liter" pitchFamily="34" charset="0"/>
                <a:ea typeface="Liter" pitchFamily="34" charset="-122"/>
                <a:cs typeface="Liter" pitchFamily="34" charset="-120"/>
              </a:rPr>
              <a:t>Report Suspicious Emails</a:t>
            </a:r>
            <a:endParaRPr lang="en-US" sz="1600" dirty="0"/>
          </a:p>
        </p:txBody>
      </p:sp>
      <p:sp>
        <p:nvSpPr>
          <p:cNvPr id="27" name="Text 25"/>
          <p:cNvSpPr/>
          <p:nvPr/>
        </p:nvSpPr>
        <p:spPr>
          <a:xfrm>
            <a:off x="8572500" y="6959600"/>
            <a:ext cx="6667500" cy="1270000"/>
          </a:xfrm>
          <a:prstGeom prst="rect">
            <a:avLst/>
          </a:prstGeom>
          <a:noFill/>
          <a:ln/>
        </p:spPr>
        <p:txBody>
          <a:bodyPr wrap="square" lIns="0" tIns="0" rIns="0" bIns="0" rtlCol="0" anchor="t"/>
          <a:lstStyle/>
          <a:p>
            <a:pPr>
              <a:lnSpc>
                <a:spcPct val="150000"/>
              </a:lnSpc>
            </a:pPr>
            <a:r>
              <a:rPr lang="en-US" sz="1600" dirty="0">
                <a:solidFill>
                  <a:srgbClr val="1A1A2E"/>
                </a:solidFill>
                <a:latin typeface="Quattrocento Sans" pitchFamily="34" charset="0"/>
                <a:ea typeface="Quattrocento Sans" pitchFamily="34" charset="-122"/>
                <a:cs typeface="Quattrocento Sans" pitchFamily="34" charset="-120"/>
              </a:rPr>
              <a:t>Don't just delete — </a:t>
            </a:r>
            <a:r>
              <a:rPr lang="en-US" sz="1600" b="1" dirty="0">
                <a:solidFill>
                  <a:srgbClr val="1A1A2E"/>
                </a:solidFill>
                <a:latin typeface="Quattrocento Sans" pitchFamily="34" charset="0"/>
                <a:ea typeface="Quattrocento Sans" pitchFamily="34" charset="-122"/>
                <a:cs typeface="Quattrocento Sans" pitchFamily="34" charset="-120"/>
              </a:rPr>
              <a:t>report to your IT/security team</a:t>
            </a:r>
            <a:r>
              <a:rPr lang="en-US" sz="1600" dirty="0">
                <a:solidFill>
                  <a:srgbClr val="1A1A2E"/>
                </a:solidFill>
                <a:latin typeface="Quattrocento Sans" pitchFamily="34" charset="0"/>
                <a:ea typeface="Quattrocento Sans" pitchFamily="34" charset="-122"/>
                <a:cs typeface="Quattrocento Sans" pitchFamily="34" charset="-120"/>
              </a:rPr>
              <a:t>. Early reporting helps protect others. Training reduces phishing susceptibility by </a:t>
            </a:r>
            <a:r>
              <a:rPr lang="en-US" sz="1600" b="1" dirty="0">
                <a:solidFill>
                  <a:srgbClr val="1A1A2E"/>
                </a:solidFill>
                <a:latin typeface="Quattrocento Sans" pitchFamily="34" charset="0"/>
                <a:ea typeface="Quattrocento Sans" pitchFamily="34" charset="-122"/>
                <a:cs typeface="Quattrocento Sans" pitchFamily="34" charset="-120"/>
              </a:rPr>
              <a:t>85%+</a:t>
            </a:r>
            <a:r>
              <a:rPr lang="en-US" sz="1600" dirty="0">
                <a:solidFill>
                  <a:srgbClr val="1A1A2E"/>
                </a:solidFill>
                <a:latin typeface="Quattrocento Sans" pitchFamily="34" charset="0"/>
                <a:ea typeface="Quattrocento Sans" pitchFamily="34" charset="-122"/>
                <a:cs typeface="Quattrocento Sans" pitchFamily="34" charset="-120"/>
              </a:rPr>
              <a:t> (from ~33% to under 5%).</a:t>
            </a:r>
            <a:endParaRPr lang="en-US" sz="1600" dirty="0"/>
          </a:p>
        </p:txBody>
      </p:sp>
      <p:sp>
        <p:nvSpPr>
          <p:cNvPr id="28" name="Text 26"/>
          <p:cNvSpPr/>
          <p:nvPr/>
        </p:nvSpPr>
        <p:spPr>
          <a:xfrm>
            <a:off x="13462000" y="8699500"/>
            <a:ext cx="2032000" cy="254000"/>
          </a:xfrm>
          <a:prstGeom prst="rect">
            <a:avLst/>
          </a:prstGeom>
          <a:noFill/>
          <a:ln/>
        </p:spPr>
        <p:txBody>
          <a:bodyPr wrap="none" lIns="0" tIns="0" rIns="0" bIns="0" rtlCol="0" anchor="ctr"/>
          <a:lstStyle/>
          <a:p>
            <a:pPr algn="r">
              <a:lnSpc>
                <a:spcPct val="140000"/>
              </a:lnSpc>
            </a:pPr>
            <a:r>
              <a:rPr lang="en-US" sz="1400" dirty="0">
                <a:solidFill>
                  <a:srgbClr val="5C6B7A"/>
                </a:solidFill>
                <a:latin typeface="QuattrocentoSans" pitchFamily="34" charset="0"/>
                <a:ea typeface="QuattrocentoSans" pitchFamily="34" charset="-122"/>
                <a:cs typeface="QuattrocentoSans" pitchFamily="34" charset="-120"/>
              </a:rPr>
              <a:t>04 / Protection</a:t>
            </a:r>
            <a:endParaRPr lang="en-US" sz="14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762000" y="571500"/>
            <a:ext cx="11430000" cy="508000"/>
          </a:xfrm>
          <a:prstGeom prst="rect">
            <a:avLst/>
          </a:prstGeom>
          <a:noFill/>
          <a:ln/>
        </p:spPr>
        <p:txBody>
          <a:bodyPr wrap="none" lIns="0" tIns="0" rIns="0" bIns="0" rtlCol="0" anchor="ctr"/>
          <a:lstStyle/>
          <a:p>
            <a:pPr>
              <a:lnSpc>
                <a:spcPct val="130000"/>
              </a:lnSpc>
            </a:pPr>
            <a:r>
              <a:rPr lang="en-US" sz="2800" dirty="0">
                <a:solidFill>
                  <a:srgbClr val="1B263B"/>
                </a:solidFill>
                <a:latin typeface="Liter" pitchFamily="34" charset="0"/>
                <a:ea typeface="Liter" pitchFamily="34" charset="-122"/>
                <a:cs typeface="Liter" pitchFamily="34" charset="-120"/>
              </a:rPr>
              <a:t>What To Do If You Suspect an Attack</a:t>
            </a:r>
            <a:endParaRPr lang="en-US" sz="2800" dirty="0"/>
          </a:p>
        </p:txBody>
      </p:sp>
      <p:sp>
        <p:nvSpPr>
          <p:cNvPr id="3" name="Shape 1"/>
          <p:cNvSpPr/>
          <p:nvPr/>
        </p:nvSpPr>
        <p:spPr>
          <a:xfrm>
            <a:off x="762000" y="1143000"/>
            <a:ext cx="762000" cy="38100"/>
          </a:xfrm>
          <a:prstGeom prst="rect">
            <a:avLst/>
          </a:prstGeom>
          <a:solidFill>
            <a:srgbClr val="E85D04"/>
          </a:solidFill>
          <a:ln/>
        </p:spPr>
      </p:sp>
      <p:sp>
        <p:nvSpPr>
          <p:cNvPr id="4" name="Shape 2"/>
          <p:cNvSpPr/>
          <p:nvPr/>
        </p:nvSpPr>
        <p:spPr>
          <a:xfrm>
            <a:off x="762000" y="1524000"/>
            <a:ext cx="14732000" cy="1206500"/>
          </a:xfrm>
          <a:prstGeom prst="roundRect">
            <a:avLst>
              <a:gd name="adj" fmla="val 5000"/>
            </a:avLst>
          </a:prstGeom>
          <a:solidFill>
            <a:srgbClr val="EDEAE4"/>
          </a:solidFill>
          <a:ln/>
        </p:spPr>
      </p:sp>
      <p:sp>
        <p:nvSpPr>
          <p:cNvPr id="5" name="Shape 3"/>
          <p:cNvSpPr/>
          <p:nvPr/>
        </p:nvSpPr>
        <p:spPr>
          <a:xfrm>
            <a:off x="1016000" y="1778000"/>
            <a:ext cx="698500" cy="698500"/>
          </a:xfrm>
          <a:prstGeom prst="ellipse">
            <a:avLst/>
          </a:prstGeom>
          <a:solidFill>
            <a:srgbClr val="E85D04"/>
          </a:solidFill>
          <a:ln/>
        </p:spPr>
      </p:sp>
      <p:sp>
        <p:nvSpPr>
          <p:cNvPr id="6" name="Text 4"/>
          <p:cNvSpPr/>
          <p:nvPr/>
        </p:nvSpPr>
        <p:spPr>
          <a:xfrm>
            <a:off x="1016000" y="1778000"/>
            <a:ext cx="698500" cy="698500"/>
          </a:xfrm>
          <a:prstGeom prst="rect">
            <a:avLst/>
          </a:prstGeom>
          <a:noFill/>
          <a:ln/>
        </p:spPr>
        <p:txBody>
          <a:bodyPr wrap="none" lIns="0" tIns="0" rIns="0" bIns="0" rtlCol="0" anchor="ctr"/>
          <a:lstStyle/>
          <a:p>
            <a:pPr algn="ctr">
              <a:lnSpc>
                <a:spcPct val="100000"/>
              </a:lnSpc>
            </a:pPr>
            <a:r>
              <a:rPr lang="en-US" sz="2400" dirty="0">
                <a:solidFill>
                  <a:srgbClr val="FFFFFF"/>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968500" y="1676400"/>
            <a:ext cx="5080000" cy="381000"/>
          </a:xfrm>
          <a:prstGeom prst="rect">
            <a:avLst/>
          </a:prstGeom>
          <a:noFill/>
          <a:ln/>
        </p:spPr>
        <p:txBody>
          <a:bodyPr wrap="none" lIns="0" tIns="0" rIns="0" bIns="0" rtlCol="0" anchor="ctr"/>
          <a:lstStyle/>
          <a:p>
            <a:pPr>
              <a:lnSpc>
                <a:spcPct val="100000"/>
              </a:lnSpc>
            </a:pPr>
            <a:r>
              <a:rPr lang="en-US" sz="1900" dirty="0">
                <a:solidFill>
                  <a:srgbClr val="1B263B"/>
                </a:solidFill>
                <a:latin typeface="Liter" pitchFamily="34" charset="0"/>
                <a:ea typeface="Liter" pitchFamily="34" charset="-122"/>
                <a:cs typeface="Liter" pitchFamily="34" charset="-120"/>
              </a:rPr>
              <a:t>Do NOT Click or Download</a:t>
            </a:r>
            <a:endParaRPr lang="en-US" sz="1600" dirty="0"/>
          </a:p>
        </p:txBody>
      </p:sp>
      <p:sp>
        <p:nvSpPr>
          <p:cNvPr id="8" name="Text 6"/>
          <p:cNvSpPr/>
          <p:nvPr/>
        </p:nvSpPr>
        <p:spPr>
          <a:xfrm>
            <a:off x="1968500" y="2095500"/>
            <a:ext cx="13208000" cy="508000"/>
          </a:xfrm>
          <a:prstGeom prst="rect">
            <a:avLst/>
          </a:prstGeom>
          <a:noFill/>
          <a:ln/>
        </p:spPr>
        <p:txBody>
          <a:bodyPr wrap="square" lIns="0" tIns="0" rIns="0" bIns="0" rtlCol="0" anchor="t"/>
          <a:lstStyle/>
          <a:p>
            <a:pPr>
              <a:lnSpc>
                <a:spcPct val="140000"/>
              </a:lnSpc>
            </a:pPr>
            <a:r>
              <a:rPr lang="en-US" sz="1600" dirty="0">
                <a:solidFill>
                  <a:srgbClr val="1A1A2E"/>
                </a:solidFill>
                <a:latin typeface="Quattrocento Sans" pitchFamily="34" charset="0"/>
                <a:ea typeface="Quattrocento Sans" pitchFamily="34" charset="-122"/>
                <a:cs typeface="Quattrocento Sans" pitchFamily="34" charset="-120"/>
              </a:rPr>
              <a:t>Do not click any links, open attachments, or download files from the suspicious message.</a:t>
            </a:r>
            <a:endParaRPr lang="en-US" sz="1600" dirty="0"/>
          </a:p>
        </p:txBody>
      </p:sp>
      <p:sp>
        <p:nvSpPr>
          <p:cNvPr id="9" name="Shape 7"/>
          <p:cNvSpPr/>
          <p:nvPr/>
        </p:nvSpPr>
        <p:spPr>
          <a:xfrm>
            <a:off x="762000" y="2921000"/>
            <a:ext cx="14732000" cy="1206500"/>
          </a:xfrm>
          <a:prstGeom prst="roundRect">
            <a:avLst>
              <a:gd name="adj" fmla="val 5000"/>
            </a:avLst>
          </a:prstGeom>
          <a:solidFill>
            <a:srgbClr val="EDEAE4"/>
          </a:solidFill>
          <a:ln/>
        </p:spPr>
      </p:sp>
      <p:sp>
        <p:nvSpPr>
          <p:cNvPr id="10" name="Shape 8"/>
          <p:cNvSpPr/>
          <p:nvPr/>
        </p:nvSpPr>
        <p:spPr>
          <a:xfrm>
            <a:off x="1016000" y="3175000"/>
            <a:ext cx="698500" cy="698500"/>
          </a:xfrm>
          <a:prstGeom prst="ellipse">
            <a:avLst/>
          </a:prstGeom>
          <a:solidFill>
            <a:srgbClr val="E85D04"/>
          </a:solidFill>
          <a:ln/>
        </p:spPr>
      </p:sp>
      <p:sp>
        <p:nvSpPr>
          <p:cNvPr id="11" name="Text 9"/>
          <p:cNvSpPr/>
          <p:nvPr/>
        </p:nvSpPr>
        <p:spPr>
          <a:xfrm>
            <a:off x="1016000" y="3175000"/>
            <a:ext cx="698500" cy="698500"/>
          </a:xfrm>
          <a:prstGeom prst="rect">
            <a:avLst/>
          </a:prstGeom>
          <a:noFill/>
          <a:ln/>
        </p:spPr>
        <p:txBody>
          <a:bodyPr wrap="none" lIns="0" tIns="0" rIns="0" bIns="0" rtlCol="0" anchor="ctr"/>
          <a:lstStyle/>
          <a:p>
            <a:pPr algn="ctr">
              <a:lnSpc>
                <a:spcPct val="100000"/>
              </a:lnSpc>
            </a:pPr>
            <a:r>
              <a:rPr lang="en-US" sz="2400" dirty="0">
                <a:solidFill>
                  <a:srgbClr val="FFFFFF"/>
                </a:solidFill>
                <a:latin typeface="Liter" pitchFamily="34" charset="0"/>
                <a:ea typeface="Liter" pitchFamily="34" charset="-122"/>
                <a:cs typeface="Liter" pitchFamily="34" charset="-120"/>
              </a:rPr>
              <a:t>2</a:t>
            </a:r>
            <a:endParaRPr lang="en-US" sz="1600" dirty="0"/>
          </a:p>
        </p:txBody>
      </p:sp>
      <p:sp>
        <p:nvSpPr>
          <p:cNvPr id="12" name="Text 10"/>
          <p:cNvSpPr/>
          <p:nvPr/>
        </p:nvSpPr>
        <p:spPr>
          <a:xfrm>
            <a:off x="1968500" y="3073400"/>
            <a:ext cx="5080000" cy="381000"/>
          </a:xfrm>
          <a:prstGeom prst="rect">
            <a:avLst/>
          </a:prstGeom>
          <a:noFill/>
          <a:ln/>
        </p:spPr>
        <p:txBody>
          <a:bodyPr wrap="none" lIns="0" tIns="0" rIns="0" bIns="0" rtlCol="0" anchor="ctr"/>
          <a:lstStyle/>
          <a:p>
            <a:pPr>
              <a:lnSpc>
                <a:spcPct val="100000"/>
              </a:lnSpc>
            </a:pPr>
            <a:r>
              <a:rPr lang="en-US" sz="1900" dirty="0">
                <a:solidFill>
                  <a:srgbClr val="1B263B"/>
                </a:solidFill>
                <a:latin typeface="Liter" pitchFamily="34" charset="0"/>
                <a:ea typeface="Liter" pitchFamily="34" charset="-122"/>
                <a:cs typeface="Liter" pitchFamily="34" charset="-120"/>
              </a:rPr>
              <a:t>Do NOT Reply</a:t>
            </a:r>
            <a:endParaRPr lang="en-US" sz="1600" dirty="0"/>
          </a:p>
        </p:txBody>
      </p:sp>
      <p:sp>
        <p:nvSpPr>
          <p:cNvPr id="13" name="Text 11"/>
          <p:cNvSpPr/>
          <p:nvPr/>
        </p:nvSpPr>
        <p:spPr>
          <a:xfrm>
            <a:off x="1968500" y="3492500"/>
            <a:ext cx="13208000" cy="508000"/>
          </a:xfrm>
          <a:prstGeom prst="rect">
            <a:avLst/>
          </a:prstGeom>
          <a:noFill/>
          <a:ln/>
        </p:spPr>
        <p:txBody>
          <a:bodyPr wrap="square" lIns="0" tIns="0" rIns="0" bIns="0" rtlCol="0" anchor="t"/>
          <a:lstStyle/>
          <a:p>
            <a:pPr>
              <a:lnSpc>
                <a:spcPct val="140000"/>
              </a:lnSpc>
            </a:pPr>
            <a:r>
              <a:rPr lang="en-US" sz="1600" dirty="0">
                <a:solidFill>
                  <a:srgbClr val="1A1A2E"/>
                </a:solidFill>
                <a:latin typeface="Quattrocento Sans" pitchFamily="34" charset="0"/>
                <a:ea typeface="Quattrocento Sans" pitchFamily="34" charset="-122"/>
                <a:cs typeface="Quattrocento Sans" pitchFamily="34" charset="-120"/>
              </a:rPr>
              <a:t>Never reply to the email or provide any information. Replying confirms your address is active.</a:t>
            </a:r>
            <a:endParaRPr lang="en-US" sz="1600" dirty="0"/>
          </a:p>
        </p:txBody>
      </p:sp>
      <p:sp>
        <p:nvSpPr>
          <p:cNvPr id="14" name="Shape 12"/>
          <p:cNvSpPr/>
          <p:nvPr/>
        </p:nvSpPr>
        <p:spPr>
          <a:xfrm>
            <a:off x="762000" y="4318000"/>
            <a:ext cx="14732000" cy="1206500"/>
          </a:xfrm>
          <a:prstGeom prst="roundRect">
            <a:avLst>
              <a:gd name="adj" fmla="val 5000"/>
            </a:avLst>
          </a:prstGeom>
          <a:solidFill>
            <a:srgbClr val="EDEAE4"/>
          </a:solidFill>
          <a:ln/>
        </p:spPr>
      </p:sp>
      <p:sp>
        <p:nvSpPr>
          <p:cNvPr id="15" name="Shape 13"/>
          <p:cNvSpPr/>
          <p:nvPr/>
        </p:nvSpPr>
        <p:spPr>
          <a:xfrm>
            <a:off x="1016000" y="4572000"/>
            <a:ext cx="698500" cy="698500"/>
          </a:xfrm>
          <a:prstGeom prst="ellipse">
            <a:avLst/>
          </a:prstGeom>
          <a:solidFill>
            <a:srgbClr val="E85D04"/>
          </a:solidFill>
          <a:ln/>
        </p:spPr>
      </p:sp>
      <p:sp>
        <p:nvSpPr>
          <p:cNvPr id="16" name="Text 14"/>
          <p:cNvSpPr/>
          <p:nvPr/>
        </p:nvSpPr>
        <p:spPr>
          <a:xfrm>
            <a:off x="1016000" y="4572000"/>
            <a:ext cx="698500" cy="698500"/>
          </a:xfrm>
          <a:prstGeom prst="rect">
            <a:avLst/>
          </a:prstGeom>
          <a:noFill/>
          <a:ln/>
        </p:spPr>
        <p:txBody>
          <a:bodyPr wrap="none" lIns="0" tIns="0" rIns="0" bIns="0" rtlCol="0" anchor="ctr"/>
          <a:lstStyle/>
          <a:p>
            <a:pPr algn="ctr">
              <a:lnSpc>
                <a:spcPct val="100000"/>
              </a:lnSpc>
            </a:pPr>
            <a:r>
              <a:rPr lang="en-US" sz="2400" dirty="0">
                <a:solidFill>
                  <a:srgbClr val="FFFFFF"/>
                </a:solidFill>
                <a:latin typeface="Liter" pitchFamily="34" charset="0"/>
                <a:ea typeface="Liter" pitchFamily="34" charset="-122"/>
                <a:cs typeface="Liter" pitchFamily="34" charset="-120"/>
              </a:rPr>
              <a:t>3</a:t>
            </a:r>
            <a:endParaRPr lang="en-US" sz="1600" dirty="0"/>
          </a:p>
        </p:txBody>
      </p:sp>
      <p:sp>
        <p:nvSpPr>
          <p:cNvPr id="17" name="Text 15"/>
          <p:cNvSpPr/>
          <p:nvPr/>
        </p:nvSpPr>
        <p:spPr>
          <a:xfrm>
            <a:off x="1968500" y="4470400"/>
            <a:ext cx="5080000" cy="381000"/>
          </a:xfrm>
          <a:prstGeom prst="rect">
            <a:avLst/>
          </a:prstGeom>
          <a:noFill/>
          <a:ln/>
        </p:spPr>
        <p:txBody>
          <a:bodyPr wrap="none" lIns="0" tIns="0" rIns="0" bIns="0" rtlCol="0" anchor="ctr"/>
          <a:lstStyle/>
          <a:p>
            <a:pPr>
              <a:lnSpc>
                <a:spcPct val="100000"/>
              </a:lnSpc>
            </a:pPr>
            <a:r>
              <a:rPr lang="en-US" sz="1900" dirty="0">
                <a:solidFill>
                  <a:srgbClr val="1B263B"/>
                </a:solidFill>
                <a:latin typeface="Liter" pitchFamily="34" charset="0"/>
                <a:ea typeface="Liter" pitchFamily="34" charset="-122"/>
                <a:cs typeface="Liter" pitchFamily="34" charset="-120"/>
              </a:rPr>
              <a:t>Report to IT/Security Team</a:t>
            </a:r>
            <a:endParaRPr lang="en-US" sz="1600" dirty="0"/>
          </a:p>
        </p:txBody>
      </p:sp>
      <p:sp>
        <p:nvSpPr>
          <p:cNvPr id="18" name="Text 16"/>
          <p:cNvSpPr/>
          <p:nvPr/>
        </p:nvSpPr>
        <p:spPr>
          <a:xfrm>
            <a:off x="1968500" y="4889500"/>
            <a:ext cx="13208000" cy="508000"/>
          </a:xfrm>
          <a:prstGeom prst="rect">
            <a:avLst/>
          </a:prstGeom>
          <a:noFill/>
          <a:ln/>
        </p:spPr>
        <p:txBody>
          <a:bodyPr wrap="square" lIns="0" tIns="0" rIns="0" bIns="0" rtlCol="0" anchor="t"/>
          <a:lstStyle/>
          <a:p>
            <a:pPr>
              <a:lnSpc>
                <a:spcPct val="140000"/>
              </a:lnSpc>
            </a:pPr>
            <a:r>
              <a:rPr lang="en-US" sz="1600" dirty="0">
                <a:solidFill>
                  <a:srgbClr val="1A1A2E"/>
                </a:solidFill>
                <a:latin typeface="Quattrocento Sans" pitchFamily="34" charset="0"/>
                <a:ea typeface="Quattrocento Sans" pitchFamily="34" charset="-122"/>
                <a:cs typeface="Quattrocento Sans" pitchFamily="34" charset="-120"/>
              </a:rPr>
              <a:t>Report the suspicious message to your IT or security team immediately using your organization's reporting process.</a:t>
            </a:r>
            <a:endParaRPr lang="en-US" sz="1600" dirty="0"/>
          </a:p>
        </p:txBody>
      </p:sp>
      <p:sp>
        <p:nvSpPr>
          <p:cNvPr id="19" name="Shape 17"/>
          <p:cNvSpPr/>
          <p:nvPr/>
        </p:nvSpPr>
        <p:spPr>
          <a:xfrm>
            <a:off x="762000" y="5715000"/>
            <a:ext cx="14732000" cy="1206500"/>
          </a:xfrm>
          <a:prstGeom prst="roundRect">
            <a:avLst>
              <a:gd name="adj" fmla="val 5000"/>
            </a:avLst>
          </a:prstGeom>
          <a:solidFill>
            <a:srgbClr val="FDECE4"/>
          </a:solidFill>
          <a:ln/>
        </p:spPr>
      </p:sp>
      <p:sp>
        <p:nvSpPr>
          <p:cNvPr id="20" name="Shape 18"/>
          <p:cNvSpPr/>
          <p:nvPr/>
        </p:nvSpPr>
        <p:spPr>
          <a:xfrm>
            <a:off x="1016000" y="5969000"/>
            <a:ext cx="698500" cy="698500"/>
          </a:xfrm>
          <a:prstGeom prst="ellipse">
            <a:avLst/>
          </a:prstGeom>
          <a:solidFill>
            <a:srgbClr val="E85D04"/>
          </a:solidFill>
          <a:ln/>
        </p:spPr>
      </p:sp>
      <p:sp>
        <p:nvSpPr>
          <p:cNvPr id="21" name="Text 19"/>
          <p:cNvSpPr/>
          <p:nvPr/>
        </p:nvSpPr>
        <p:spPr>
          <a:xfrm>
            <a:off x="1016000" y="5969000"/>
            <a:ext cx="698500" cy="698500"/>
          </a:xfrm>
          <a:prstGeom prst="rect">
            <a:avLst/>
          </a:prstGeom>
          <a:noFill/>
          <a:ln/>
        </p:spPr>
        <p:txBody>
          <a:bodyPr wrap="none" lIns="0" tIns="0" rIns="0" bIns="0" rtlCol="0" anchor="ctr"/>
          <a:lstStyle/>
          <a:p>
            <a:pPr algn="ctr">
              <a:lnSpc>
                <a:spcPct val="100000"/>
              </a:lnSpc>
            </a:pPr>
            <a:r>
              <a:rPr lang="en-US" sz="2400" dirty="0">
                <a:solidFill>
                  <a:srgbClr val="FFFFFF"/>
                </a:solidFill>
                <a:latin typeface="Liter" pitchFamily="34" charset="0"/>
                <a:ea typeface="Liter" pitchFamily="34" charset="-122"/>
                <a:cs typeface="Liter" pitchFamily="34" charset="-120"/>
              </a:rPr>
              <a:t>4</a:t>
            </a:r>
            <a:endParaRPr lang="en-US" sz="1600" dirty="0"/>
          </a:p>
        </p:txBody>
      </p:sp>
      <p:sp>
        <p:nvSpPr>
          <p:cNvPr id="22" name="Text 20"/>
          <p:cNvSpPr/>
          <p:nvPr/>
        </p:nvSpPr>
        <p:spPr>
          <a:xfrm>
            <a:off x="1968500" y="5867400"/>
            <a:ext cx="6350000" cy="381000"/>
          </a:xfrm>
          <a:prstGeom prst="rect">
            <a:avLst/>
          </a:prstGeom>
          <a:noFill/>
          <a:ln/>
        </p:spPr>
        <p:txBody>
          <a:bodyPr wrap="none" lIns="0" tIns="0" rIns="0" bIns="0" rtlCol="0" anchor="ctr"/>
          <a:lstStyle/>
          <a:p>
            <a:pPr>
              <a:lnSpc>
                <a:spcPct val="100000"/>
              </a:lnSpc>
            </a:pPr>
            <a:r>
              <a:rPr lang="en-US" sz="1900" dirty="0">
                <a:solidFill>
                  <a:srgbClr val="E85D04"/>
                </a:solidFill>
                <a:latin typeface="Liter" pitchFamily="34" charset="0"/>
                <a:ea typeface="Liter" pitchFamily="34" charset="-122"/>
                <a:cs typeface="Liter" pitchFamily="34" charset="-120"/>
              </a:rPr>
              <a:t>If You Already Clicked — Act Fast</a:t>
            </a:r>
            <a:endParaRPr lang="en-US" sz="1600" dirty="0"/>
          </a:p>
        </p:txBody>
      </p:sp>
      <p:sp>
        <p:nvSpPr>
          <p:cNvPr id="23" name="Text 21"/>
          <p:cNvSpPr/>
          <p:nvPr/>
        </p:nvSpPr>
        <p:spPr>
          <a:xfrm>
            <a:off x="1968500" y="6286500"/>
            <a:ext cx="13208000" cy="508000"/>
          </a:xfrm>
          <a:prstGeom prst="rect">
            <a:avLst/>
          </a:prstGeom>
          <a:noFill/>
          <a:ln/>
        </p:spPr>
        <p:txBody>
          <a:bodyPr wrap="square" lIns="0" tIns="0" rIns="0" bIns="0" rtlCol="0" anchor="t"/>
          <a:lstStyle/>
          <a:p>
            <a:pPr>
              <a:lnSpc>
                <a:spcPct val="140000"/>
              </a:lnSpc>
            </a:pPr>
            <a:r>
              <a:rPr lang="en-US" sz="1600" dirty="0">
                <a:solidFill>
                  <a:srgbClr val="1A1A2E"/>
                </a:solidFill>
                <a:latin typeface="Quattrocento Sans" pitchFamily="34" charset="0"/>
                <a:ea typeface="Quattrocento Sans" pitchFamily="34" charset="-122"/>
                <a:cs typeface="Quattrocento Sans" pitchFamily="34" charset="-120"/>
              </a:rPr>
              <a:t>Disconnect from the network, change your passwords immediately, run a security scan, and notify IT without delay.</a:t>
            </a:r>
            <a:endParaRPr lang="en-US" sz="1600" dirty="0"/>
          </a:p>
        </p:txBody>
      </p:sp>
      <p:sp>
        <p:nvSpPr>
          <p:cNvPr id="24" name="Shape 22"/>
          <p:cNvSpPr/>
          <p:nvPr/>
        </p:nvSpPr>
        <p:spPr>
          <a:xfrm>
            <a:off x="762000" y="7112000"/>
            <a:ext cx="14732000" cy="1206500"/>
          </a:xfrm>
          <a:prstGeom prst="roundRect">
            <a:avLst>
              <a:gd name="adj" fmla="val 5000"/>
            </a:avLst>
          </a:prstGeom>
          <a:solidFill>
            <a:srgbClr val="EDEAE4"/>
          </a:solidFill>
          <a:ln/>
        </p:spPr>
      </p:sp>
      <p:sp>
        <p:nvSpPr>
          <p:cNvPr id="25" name="Shape 23"/>
          <p:cNvSpPr/>
          <p:nvPr/>
        </p:nvSpPr>
        <p:spPr>
          <a:xfrm>
            <a:off x="1016000" y="7366000"/>
            <a:ext cx="698500" cy="698500"/>
          </a:xfrm>
          <a:prstGeom prst="ellipse">
            <a:avLst/>
          </a:prstGeom>
          <a:solidFill>
            <a:srgbClr val="E85D04"/>
          </a:solidFill>
          <a:ln/>
        </p:spPr>
      </p:sp>
      <p:sp>
        <p:nvSpPr>
          <p:cNvPr id="26" name="Text 24"/>
          <p:cNvSpPr/>
          <p:nvPr/>
        </p:nvSpPr>
        <p:spPr>
          <a:xfrm>
            <a:off x="1016000" y="7366000"/>
            <a:ext cx="698500" cy="698500"/>
          </a:xfrm>
          <a:prstGeom prst="rect">
            <a:avLst/>
          </a:prstGeom>
          <a:noFill/>
          <a:ln/>
        </p:spPr>
        <p:txBody>
          <a:bodyPr wrap="none" lIns="0" tIns="0" rIns="0" bIns="0" rtlCol="0" anchor="ctr"/>
          <a:lstStyle/>
          <a:p>
            <a:pPr algn="ctr">
              <a:lnSpc>
                <a:spcPct val="100000"/>
              </a:lnSpc>
            </a:pPr>
            <a:r>
              <a:rPr lang="en-US" sz="2400" dirty="0">
                <a:solidFill>
                  <a:srgbClr val="FFFFFF"/>
                </a:solidFill>
                <a:latin typeface="Liter" pitchFamily="34" charset="0"/>
                <a:ea typeface="Liter" pitchFamily="34" charset="-122"/>
                <a:cs typeface="Liter" pitchFamily="34" charset="-120"/>
              </a:rPr>
              <a:t>5</a:t>
            </a:r>
            <a:endParaRPr lang="en-US" sz="1600" dirty="0"/>
          </a:p>
        </p:txBody>
      </p:sp>
      <p:sp>
        <p:nvSpPr>
          <p:cNvPr id="27" name="Text 25"/>
          <p:cNvSpPr/>
          <p:nvPr/>
        </p:nvSpPr>
        <p:spPr>
          <a:xfrm>
            <a:off x="1968500" y="7264400"/>
            <a:ext cx="5080000" cy="381000"/>
          </a:xfrm>
          <a:prstGeom prst="rect">
            <a:avLst/>
          </a:prstGeom>
          <a:noFill/>
          <a:ln/>
        </p:spPr>
        <p:txBody>
          <a:bodyPr wrap="none" lIns="0" tIns="0" rIns="0" bIns="0" rtlCol="0" anchor="ctr"/>
          <a:lstStyle/>
          <a:p>
            <a:pPr>
              <a:lnSpc>
                <a:spcPct val="100000"/>
              </a:lnSpc>
            </a:pPr>
            <a:r>
              <a:rPr lang="en-US" sz="1900" dirty="0">
                <a:solidFill>
                  <a:srgbClr val="1B263B"/>
                </a:solidFill>
                <a:latin typeface="Liter" pitchFamily="34" charset="0"/>
                <a:ea typeface="Liter" pitchFamily="34" charset="-122"/>
                <a:cs typeface="Liter" pitchFamily="34" charset="-120"/>
              </a:rPr>
              <a:t>Document the Incident</a:t>
            </a:r>
            <a:endParaRPr lang="en-US" sz="1600" dirty="0"/>
          </a:p>
        </p:txBody>
      </p:sp>
      <p:sp>
        <p:nvSpPr>
          <p:cNvPr id="28" name="Text 26"/>
          <p:cNvSpPr/>
          <p:nvPr/>
        </p:nvSpPr>
        <p:spPr>
          <a:xfrm>
            <a:off x="1968500" y="7683500"/>
            <a:ext cx="13208000" cy="508000"/>
          </a:xfrm>
          <a:prstGeom prst="rect">
            <a:avLst/>
          </a:prstGeom>
          <a:noFill/>
          <a:ln/>
        </p:spPr>
        <p:txBody>
          <a:bodyPr wrap="square" lIns="0" tIns="0" rIns="0" bIns="0" rtlCol="0" anchor="t"/>
          <a:lstStyle/>
          <a:p>
            <a:pPr>
              <a:lnSpc>
                <a:spcPct val="140000"/>
              </a:lnSpc>
            </a:pPr>
            <a:r>
              <a:rPr lang="en-US" sz="1600" dirty="0">
                <a:solidFill>
                  <a:srgbClr val="1A1A2E"/>
                </a:solidFill>
                <a:latin typeface="Quattrocento Sans" pitchFamily="34" charset="0"/>
                <a:ea typeface="Quattrocento Sans" pitchFamily="34" charset="-122"/>
                <a:cs typeface="Quattrocento Sans" pitchFamily="34" charset="-120"/>
              </a:rPr>
              <a:t>Save the suspicious email and note what happened. Documentation helps security teams investigate and protect others.</a:t>
            </a:r>
            <a:endParaRPr lang="en-US" sz="1600" dirty="0"/>
          </a:p>
        </p:txBody>
      </p:sp>
      <p:sp>
        <p:nvSpPr>
          <p:cNvPr id="29" name="Text 27"/>
          <p:cNvSpPr/>
          <p:nvPr/>
        </p:nvSpPr>
        <p:spPr>
          <a:xfrm>
            <a:off x="13462000" y="8699500"/>
            <a:ext cx="2032000" cy="254000"/>
          </a:xfrm>
          <a:prstGeom prst="rect">
            <a:avLst/>
          </a:prstGeom>
          <a:noFill/>
          <a:ln/>
        </p:spPr>
        <p:txBody>
          <a:bodyPr wrap="none" lIns="0" tIns="0" rIns="0" bIns="0" rtlCol="0" anchor="ctr"/>
          <a:lstStyle/>
          <a:p>
            <a:pPr algn="r">
              <a:lnSpc>
                <a:spcPct val="140000"/>
              </a:lnSpc>
            </a:pPr>
            <a:r>
              <a:rPr lang="en-US" sz="1400" dirty="0">
                <a:solidFill>
                  <a:srgbClr val="5C6B7A"/>
                </a:solidFill>
                <a:latin typeface="QuattrocentoSans" pitchFamily="34" charset="0"/>
                <a:ea typeface="QuattrocentoSans" pitchFamily="34" charset="-122"/>
                <a:cs typeface="QuattrocentoSans" pitchFamily="34" charset="-120"/>
              </a:rPr>
              <a:t>04 / Protection</a:t>
            </a:r>
            <a:endParaRPr lang="en-US" sz="14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762000" y="571500"/>
            <a:ext cx="11430000" cy="508000"/>
          </a:xfrm>
          <a:prstGeom prst="rect">
            <a:avLst/>
          </a:prstGeom>
          <a:noFill/>
          <a:ln/>
        </p:spPr>
        <p:txBody>
          <a:bodyPr wrap="none" lIns="0" tIns="0" rIns="0" bIns="0" rtlCol="0" anchor="ctr"/>
          <a:lstStyle/>
          <a:p>
            <a:pPr>
              <a:lnSpc>
                <a:spcPct val="130000"/>
              </a:lnSpc>
            </a:pPr>
            <a:r>
              <a:rPr lang="en-US" sz="2800" dirty="0">
                <a:solidFill>
                  <a:srgbClr val="1B263B"/>
                </a:solidFill>
                <a:latin typeface="Liter" pitchFamily="34" charset="0"/>
                <a:ea typeface="Liter" pitchFamily="34" charset="-122"/>
                <a:cs typeface="Liter" pitchFamily="34" charset="-120"/>
              </a:rPr>
              <a:t>Quiz: Can You Spot the Phishing Attempt?</a:t>
            </a:r>
            <a:endParaRPr lang="en-US" sz="2800" dirty="0"/>
          </a:p>
        </p:txBody>
      </p:sp>
      <p:sp>
        <p:nvSpPr>
          <p:cNvPr id="3" name="Shape 1"/>
          <p:cNvSpPr/>
          <p:nvPr/>
        </p:nvSpPr>
        <p:spPr>
          <a:xfrm>
            <a:off x="762000" y="1143000"/>
            <a:ext cx="762000" cy="38100"/>
          </a:xfrm>
          <a:prstGeom prst="rect">
            <a:avLst/>
          </a:prstGeom>
          <a:solidFill>
            <a:srgbClr val="E85D04"/>
          </a:solidFill>
          <a:ln/>
        </p:spPr>
      </p:sp>
      <p:sp>
        <p:nvSpPr>
          <p:cNvPr id="4" name="Shape 2"/>
          <p:cNvSpPr/>
          <p:nvPr/>
        </p:nvSpPr>
        <p:spPr>
          <a:xfrm>
            <a:off x="762000" y="1460500"/>
            <a:ext cx="4699000" cy="6858000"/>
          </a:xfrm>
          <a:prstGeom prst="roundRect">
            <a:avLst>
              <a:gd name="adj" fmla="val 6000"/>
            </a:avLst>
          </a:prstGeom>
          <a:solidFill>
            <a:srgbClr val="EDEAE4"/>
          </a:solidFill>
          <a:ln/>
        </p:spPr>
      </p:sp>
      <p:sp>
        <p:nvSpPr>
          <p:cNvPr id="5" name="Shape 3"/>
          <p:cNvSpPr/>
          <p:nvPr/>
        </p:nvSpPr>
        <p:spPr>
          <a:xfrm>
            <a:off x="762000" y="1460500"/>
            <a:ext cx="4699000" cy="508000"/>
          </a:xfrm>
          <a:prstGeom prst="roundRect">
            <a:avLst>
              <a:gd name="adj" fmla="val 6000"/>
            </a:avLst>
          </a:prstGeom>
          <a:solidFill>
            <a:srgbClr val="1B263B"/>
          </a:solidFill>
          <a:ln/>
        </p:spPr>
      </p:sp>
      <p:sp>
        <p:nvSpPr>
          <p:cNvPr id="6" name="Text 4"/>
          <p:cNvSpPr/>
          <p:nvPr/>
        </p:nvSpPr>
        <p:spPr>
          <a:xfrm>
            <a:off x="952500" y="1524000"/>
            <a:ext cx="4318000" cy="381000"/>
          </a:xfrm>
          <a:prstGeom prst="rect">
            <a:avLst/>
          </a:prstGeom>
          <a:noFill/>
          <a:ln/>
        </p:spPr>
        <p:txBody>
          <a:bodyPr wrap="none" lIns="0" tIns="0" rIns="0" bIns="0" rtlCol="0" anchor="ctr"/>
          <a:lstStyle/>
          <a:p>
            <a:pPr>
              <a:lnSpc>
                <a:spcPct val="100000"/>
              </a:lnSpc>
            </a:pPr>
            <a:r>
              <a:rPr lang="en-US" sz="1400" dirty="0">
                <a:solidFill>
                  <a:srgbClr val="FFFFFF"/>
                </a:solidFill>
                <a:latin typeface="Liter" pitchFamily="34" charset="0"/>
                <a:ea typeface="Liter" pitchFamily="34" charset="-122"/>
                <a:cs typeface="Liter" pitchFamily="34" charset="-120"/>
              </a:rPr>
              <a:t>SCENARIO 1</a:t>
            </a:r>
            <a:endParaRPr lang="en-US" sz="1600" dirty="0"/>
          </a:p>
        </p:txBody>
      </p:sp>
      <p:sp>
        <p:nvSpPr>
          <p:cNvPr id="7" name="Shape 5"/>
          <p:cNvSpPr/>
          <p:nvPr/>
        </p:nvSpPr>
        <p:spPr>
          <a:xfrm>
            <a:off x="990600" y="2222500"/>
            <a:ext cx="457200" cy="406400"/>
          </a:xfrm>
          <a:custGeom>
            <a:avLst/>
            <a:gdLst/>
            <a:ahLst/>
            <a:cxnLst/>
            <a:rect l="l" t="t" r="r" b="b"/>
            <a:pathLst>
              <a:path w="457200" h="406400">
                <a:moveTo>
                  <a:pt x="228600" y="26908"/>
                </a:moveTo>
                <a:lnTo>
                  <a:pt x="76518" y="139541"/>
                </a:lnTo>
                <a:lnTo>
                  <a:pt x="202009" y="232569"/>
                </a:lnTo>
                <a:cubicBezTo>
                  <a:pt x="206216" y="235664"/>
                  <a:pt x="210899" y="238046"/>
                  <a:pt x="215900" y="239474"/>
                </a:cubicBezTo>
                <a:lnTo>
                  <a:pt x="215900" y="368300"/>
                </a:lnTo>
                <a:cubicBezTo>
                  <a:pt x="215900" y="372666"/>
                  <a:pt x="216297" y="376873"/>
                  <a:pt x="216932" y="381000"/>
                </a:cubicBezTo>
                <a:lnTo>
                  <a:pt x="76200" y="381000"/>
                </a:lnTo>
                <a:cubicBezTo>
                  <a:pt x="48181" y="381000"/>
                  <a:pt x="25400" y="358219"/>
                  <a:pt x="25400" y="330200"/>
                </a:cubicBezTo>
                <a:lnTo>
                  <a:pt x="25400" y="139779"/>
                </a:lnTo>
                <a:cubicBezTo>
                  <a:pt x="25400" y="123666"/>
                  <a:pt x="33020" y="108506"/>
                  <a:pt x="45958" y="98981"/>
                </a:cubicBezTo>
                <a:lnTo>
                  <a:pt x="202009" y="-16669"/>
                </a:lnTo>
                <a:cubicBezTo>
                  <a:pt x="209709" y="-22384"/>
                  <a:pt x="218996" y="-25400"/>
                  <a:pt x="228600" y="-25400"/>
                </a:cubicBezTo>
                <a:cubicBezTo>
                  <a:pt x="238204" y="-25400"/>
                  <a:pt x="247491" y="-22304"/>
                  <a:pt x="255191" y="-16669"/>
                </a:cubicBezTo>
                <a:lnTo>
                  <a:pt x="411242" y="98981"/>
                </a:lnTo>
                <a:cubicBezTo>
                  <a:pt x="416957" y="103188"/>
                  <a:pt x="421640" y="108506"/>
                  <a:pt x="425053" y="114538"/>
                </a:cubicBezTo>
                <a:cubicBezTo>
                  <a:pt x="423069" y="114379"/>
                  <a:pt x="421084" y="114300"/>
                  <a:pt x="419100" y="114300"/>
                </a:cubicBezTo>
                <a:lnTo>
                  <a:pt x="346551" y="114300"/>
                </a:lnTo>
                <a:lnTo>
                  <a:pt x="228600" y="26908"/>
                </a:lnTo>
                <a:close/>
                <a:moveTo>
                  <a:pt x="254000" y="190500"/>
                </a:moveTo>
                <a:cubicBezTo>
                  <a:pt x="254000" y="169466"/>
                  <a:pt x="271066" y="152400"/>
                  <a:pt x="292100" y="152400"/>
                </a:cubicBezTo>
                <a:lnTo>
                  <a:pt x="419100" y="152400"/>
                </a:lnTo>
                <a:cubicBezTo>
                  <a:pt x="440134" y="152400"/>
                  <a:pt x="457200" y="169466"/>
                  <a:pt x="457200" y="190500"/>
                </a:cubicBezTo>
                <a:lnTo>
                  <a:pt x="457200" y="368300"/>
                </a:lnTo>
                <a:cubicBezTo>
                  <a:pt x="457200" y="389334"/>
                  <a:pt x="440134" y="406400"/>
                  <a:pt x="419100" y="406400"/>
                </a:cubicBezTo>
                <a:lnTo>
                  <a:pt x="292100" y="406400"/>
                </a:lnTo>
                <a:cubicBezTo>
                  <a:pt x="271066" y="406400"/>
                  <a:pt x="254000" y="389334"/>
                  <a:pt x="254000" y="368300"/>
                </a:cubicBezTo>
                <a:lnTo>
                  <a:pt x="254000" y="190500"/>
                </a:lnTo>
                <a:close/>
                <a:moveTo>
                  <a:pt x="317500" y="203200"/>
                </a:moveTo>
                <a:cubicBezTo>
                  <a:pt x="306943" y="203200"/>
                  <a:pt x="298450" y="211693"/>
                  <a:pt x="298450" y="222250"/>
                </a:cubicBezTo>
                <a:cubicBezTo>
                  <a:pt x="298450" y="232807"/>
                  <a:pt x="306943" y="241300"/>
                  <a:pt x="317500" y="241300"/>
                </a:cubicBezTo>
                <a:lnTo>
                  <a:pt x="393700" y="241300"/>
                </a:lnTo>
                <a:cubicBezTo>
                  <a:pt x="404257" y="241300"/>
                  <a:pt x="412750" y="232807"/>
                  <a:pt x="412750" y="222250"/>
                </a:cubicBezTo>
                <a:cubicBezTo>
                  <a:pt x="412750" y="211693"/>
                  <a:pt x="404257" y="203200"/>
                  <a:pt x="393700" y="203200"/>
                </a:cubicBezTo>
                <a:lnTo>
                  <a:pt x="317500" y="203200"/>
                </a:lnTo>
                <a:close/>
                <a:moveTo>
                  <a:pt x="317500" y="279400"/>
                </a:moveTo>
                <a:cubicBezTo>
                  <a:pt x="306943" y="279400"/>
                  <a:pt x="298450" y="287893"/>
                  <a:pt x="298450" y="298450"/>
                </a:cubicBezTo>
                <a:cubicBezTo>
                  <a:pt x="298450" y="309007"/>
                  <a:pt x="306943" y="317500"/>
                  <a:pt x="317500" y="317500"/>
                </a:cubicBezTo>
                <a:lnTo>
                  <a:pt x="361950" y="317500"/>
                </a:lnTo>
                <a:cubicBezTo>
                  <a:pt x="372507" y="317500"/>
                  <a:pt x="381000" y="309007"/>
                  <a:pt x="381000" y="298450"/>
                </a:cubicBezTo>
                <a:cubicBezTo>
                  <a:pt x="381000" y="287893"/>
                  <a:pt x="372507" y="279400"/>
                  <a:pt x="361950" y="279400"/>
                </a:cubicBezTo>
                <a:lnTo>
                  <a:pt x="317500" y="279400"/>
                </a:lnTo>
                <a:close/>
              </a:path>
            </a:pathLst>
          </a:custGeom>
          <a:solidFill>
            <a:srgbClr val="E85D04"/>
          </a:solidFill>
          <a:ln/>
        </p:spPr>
      </p:sp>
      <p:sp>
        <p:nvSpPr>
          <p:cNvPr id="8" name="Text 6"/>
          <p:cNvSpPr/>
          <p:nvPr/>
        </p:nvSpPr>
        <p:spPr>
          <a:xfrm>
            <a:off x="1016000" y="2794000"/>
            <a:ext cx="4191000" cy="1651000"/>
          </a:xfrm>
          <a:prstGeom prst="rect">
            <a:avLst/>
          </a:prstGeom>
          <a:noFill/>
          <a:ln/>
        </p:spPr>
        <p:txBody>
          <a:bodyPr wrap="square" lIns="0" tIns="0" rIns="0" bIns="0" rtlCol="0" anchor="t"/>
          <a:lstStyle/>
          <a:p>
            <a:pPr>
              <a:lnSpc>
                <a:spcPct val="150000"/>
              </a:lnSpc>
            </a:pPr>
            <a:r>
              <a:rPr lang="en-US" sz="2000" dirty="0">
                <a:solidFill>
                  <a:srgbClr val="1A1A2E"/>
                </a:solidFill>
                <a:latin typeface="Quattrocento Sans" pitchFamily="34" charset="0"/>
                <a:ea typeface="Quattrocento Sans" pitchFamily="34" charset="-122"/>
                <a:cs typeface="Quattrocento Sans" pitchFamily="34" charset="-120"/>
              </a:rPr>
              <a:t>You receive an email from</a:t>
            </a:r>
          </a:p>
          <a:p>
            <a:pPr>
              <a:lnSpc>
                <a:spcPct val="150000"/>
              </a:lnSpc>
            </a:pPr>
            <a:r>
              <a:rPr lang="en-US" sz="2000" dirty="0">
                <a:solidFill>
                  <a:srgbClr val="1A1A2E"/>
                </a:solidFill>
                <a:latin typeface="Quattrocento Sans" pitchFamily="34" charset="0"/>
                <a:ea typeface="Quattrocento Sans" pitchFamily="34" charset="-122"/>
                <a:cs typeface="Quattrocento Sans" pitchFamily="34" charset="-120"/>
              </a:rPr>
              <a:t> </a:t>
            </a:r>
            <a:r>
              <a:rPr lang="en-US" sz="2000" b="1" dirty="0">
                <a:solidFill>
                  <a:srgbClr val="1A1A2E"/>
                </a:solidFill>
                <a:latin typeface="Quattrocento Sans" pitchFamily="34" charset="0"/>
                <a:ea typeface="Quattrocento Sans" pitchFamily="34" charset="-122"/>
                <a:cs typeface="Quattrocento Sans" pitchFamily="34" charset="-120"/>
              </a:rPr>
              <a:t>“kyc-update@sbi-security.com"</a:t>
            </a:r>
            <a:r>
              <a:rPr lang="en-US" sz="2000" dirty="0">
                <a:solidFill>
                  <a:srgbClr val="1A1A2E"/>
                </a:solidFill>
                <a:latin typeface="Quattrocento Sans" pitchFamily="34" charset="0"/>
                <a:ea typeface="Quattrocento Sans" pitchFamily="34" charset="-122"/>
                <a:cs typeface="Quattrocento Sans" pitchFamily="34" charset="-120"/>
              </a:rPr>
              <a:t> asking you to update your KYC within 24 hours or your bank account will </a:t>
            </a:r>
            <a:r>
              <a:rPr lang="en-US" sz="2000" dirty="0" err="1">
                <a:solidFill>
                  <a:srgbClr val="1A1A2E"/>
                </a:solidFill>
                <a:latin typeface="Quattrocento Sans" pitchFamily="34" charset="0"/>
                <a:ea typeface="Quattrocento Sans" pitchFamily="34" charset="-122"/>
                <a:cs typeface="Quattrocento Sans" pitchFamily="34" charset="-120"/>
              </a:rPr>
              <a:t>bw</a:t>
            </a:r>
            <a:r>
              <a:rPr lang="en-US" sz="2000" dirty="0">
                <a:solidFill>
                  <a:srgbClr val="1A1A2E"/>
                </a:solidFill>
                <a:latin typeface="Quattrocento Sans" pitchFamily="34" charset="0"/>
                <a:ea typeface="Quattrocento Sans" pitchFamily="34" charset="-122"/>
                <a:cs typeface="Quattrocento Sans" pitchFamily="34" charset="-120"/>
              </a:rPr>
              <a:t> blocked.</a:t>
            </a:r>
            <a:endParaRPr lang="en-US" sz="2000" dirty="0"/>
          </a:p>
        </p:txBody>
      </p:sp>
      <p:sp>
        <p:nvSpPr>
          <p:cNvPr id="9" name="Text 7"/>
          <p:cNvSpPr/>
          <p:nvPr/>
        </p:nvSpPr>
        <p:spPr>
          <a:xfrm>
            <a:off x="1016000" y="5232400"/>
            <a:ext cx="4191000" cy="635000"/>
          </a:xfrm>
          <a:prstGeom prst="rect">
            <a:avLst/>
          </a:prstGeom>
          <a:noFill/>
          <a:ln/>
        </p:spPr>
        <p:txBody>
          <a:bodyPr wrap="square" lIns="0" tIns="0" rIns="0" bIns="0" rtlCol="0" anchor="t"/>
          <a:lstStyle/>
          <a:p>
            <a:pPr>
              <a:lnSpc>
                <a:spcPct val="140000"/>
              </a:lnSpc>
            </a:pPr>
            <a:r>
              <a:rPr lang="en-US" sz="2000" dirty="0">
                <a:solidFill>
                  <a:srgbClr val="1B263B"/>
                </a:solidFill>
                <a:latin typeface="Liter" pitchFamily="34" charset="0"/>
                <a:ea typeface="Liter" pitchFamily="34" charset="-122"/>
                <a:cs typeface="Liter" pitchFamily="34" charset="-120"/>
              </a:rPr>
              <a:t>What do you do?</a:t>
            </a:r>
            <a:endParaRPr lang="en-US" sz="2000" dirty="0"/>
          </a:p>
        </p:txBody>
      </p:sp>
      <p:sp>
        <p:nvSpPr>
          <p:cNvPr id="10" name="Shape 8"/>
          <p:cNvSpPr/>
          <p:nvPr/>
        </p:nvSpPr>
        <p:spPr>
          <a:xfrm>
            <a:off x="1016000" y="5842000"/>
            <a:ext cx="4191000" cy="25400"/>
          </a:xfrm>
          <a:prstGeom prst="rect">
            <a:avLst/>
          </a:prstGeom>
          <a:solidFill>
            <a:srgbClr val="E85D04"/>
          </a:solidFill>
          <a:ln/>
        </p:spPr>
      </p:sp>
      <p:sp>
        <p:nvSpPr>
          <p:cNvPr id="11" name="Text 9"/>
          <p:cNvSpPr/>
          <p:nvPr/>
        </p:nvSpPr>
        <p:spPr>
          <a:xfrm>
            <a:off x="1016000" y="6159500"/>
            <a:ext cx="4191000" cy="1270000"/>
          </a:xfrm>
          <a:prstGeom prst="rect">
            <a:avLst/>
          </a:prstGeom>
          <a:noFill/>
          <a:ln/>
        </p:spPr>
        <p:txBody>
          <a:bodyPr wrap="square" lIns="0" tIns="0" rIns="0" bIns="0" rtlCol="0" anchor="t"/>
          <a:lstStyle/>
          <a:p>
            <a:pPr>
              <a:lnSpc>
                <a:spcPct val="150000"/>
              </a:lnSpc>
            </a:pPr>
            <a:r>
              <a:rPr lang="en-US" sz="2000" b="1" dirty="0">
                <a:solidFill>
                  <a:srgbClr val="E85D04"/>
                </a:solidFill>
                <a:latin typeface="Quattrocento Sans" pitchFamily="34" charset="0"/>
                <a:ea typeface="Quattrocento Sans" pitchFamily="34" charset="-122"/>
                <a:cs typeface="Quattrocento Sans" pitchFamily="34" charset="-120"/>
              </a:rPr>
              <a:t>Report it.</a:t>
            </a:r>
            <a:r>
              <a:rPr lang="en-US" sz="2000" dirty="0">
                <a:solidFill>
                  <a:srgbClr val="1A1A2E"/>
                </a:solidFill>
                <a:latin typeface="Quattrocento Sans" pitchFamily="34" charset="0"/>
                <a:ea typeface="Quattrocento Sans" pitchFamily="34" charset="-122"/>
                <a:cs typeface="Quattrocento Sans" pitchFamily="34" charset="-120"/>
              </a:rPr>
              <a:t> Fake domain , Fake urgency and request for sensitive information</a:t>
            </a:r>
            <a:endParaRPr lang="en-US" sz="2000" dirty="0"/>
          </a:p>
        </p:txBody>
      </p:sp>
      <p:sp>
        <p:nvSpPr>
          <p:cNvPr id="12" name="Shape 10"/>
          <p:cNvSpPr/>
          <p:nvPr/>
        </p:nvSpPr>
        <p:spPr>
          <a:xfrm>
            <a:off x="5778500" y="1968500"/>
            <a:ext cx="4699000" cy="6858000"/>
          </a:xfrm>
          <a:prstGeom prst="roundRect">
            <a:avLst>
              <a:gd name="adj" fmla="val 6000"/>
            </a:avLst>
          </a:prstGeom>
          <a:solidFill>
            <a:srgbClr val="EDEAE4"/>
          </a:solidFill>
          <a:ln/>
        </p:spPr>
      </p:sp>
      <p:sp>
        <p:nvSpPr>
          <p:cNvPr id="13" name="Shape 11"/>
          <p:cNvSpPr/>
          <p:nvPr/>
        </p:nvSpPr>
        <p:spPr>
          <a:xfrm>
            <a:off x="5778500" y="1460500"/>
            <a:ext cx="4699000" cy="508000"/>
          </a:xfrm>
          <a:prstGeom prst="roundRect">
            <a:avLst>
              <a:gd name="adj" fmla="val 6000"/>
            </a:avLst>
          </a:prstGeom>
          <a:solidFill>
            <a:srgbClr val="1B263B"/>
          </a:solidFill>
          <a:ln/>
        </p:spPr>
      </p:sp>
      <p:sp>
        <p:nvSpPr>
          <p:cNvPr id="14" name="Text 12"/>
          <p:cNvSpPr/>
          <p:nvPr/>
        </p:nvSpPr>
        <p:spPr>
          <a:xfrm>
            <a:off x="5969000" y="1524000"/>
            <a:ext cx="4318000" cy="381000"/>
          </a:xfrm>
          <a:prstGeom prst="rect">
            <a:avLst/>
          </a:prstGeom>
          <a:noFill/>
          <a:ln/>
        </p:spPr>
        <p:txBody>
          <a:bodyPr wrap="none" lIns="0" tIns="0" rIns="0" bIns="0" rtlCol="0" anchor="ctr"/>
          <a:lstStyle/>
          <a:p>
            <a:pPr>
              <a:lnSpc>
                <a:spcPct val="100000"/>
              </a:lnSpc>
            </a:pPr>
            <a:r>
              <a:rPr lang="en-US" sz="1400" dirty="0">
                <a:solidFill>
                  <a:srgbClr val="FFFFFF"/>
                </a:solidFill>
                <a:latin typeface="Liter" pitchFamily="34" charset="0"/>
                <a:ea typeface="Liter" pitchFamily="34" charset="-122"/>
                <a:cs typeface="Liter" pitchFamily="34" charset="-120"/>
              </a:rPr>
              <a:t>SCENARIO 2</a:t>
            </a:r>
            <a:endParaRPr lang="en-US" sz="1600" dirty="0"/>
          </a:p>
        </p:txBody>
      </p:sp>
      <p:sp>
        <p:nvSpPr>
          <p:cNvPr id="15" name="Shape 13"/>
          <p:cNvSpPr/>
          <p:nvPr/>
        </p:nvSpPr>
        <p:spPr>
          <a:xfrm>
            <a:off x="6057900" y="2222500"/>
            <a:ext cx="355600" cy="406400"/>
          </a:xfrm>
          <a:custGeom>
            <a:avLst/>
            <a:gdLst/>
            <a:ahLst/>
            <a:cxnLst/>
            <a:rect l="l" t="t" r="r" b="b"/>
            <a:pathLst>
              <a:path w="355600" h="406400">
                <a:moveTo>
                  <a:pt x="177800" y="196850"/>
                </a:moveTo>
                <a:cubicBezTo>
                  <a:pt x="125230" y="196850"/>
                  <a:pt x="82550" y="154170"/>
                  <a:pt x="82550" y="101600"/>
                </a:cubicBezTo>
                <a:cubicBezTo>
                  <a:pt x="82550" y="49030"/>
                  <a:pt x="125230" y="6350"/>
                  <a:pt x="177800" y="6350"/>
                </a:cubicBezTo>
                <a:cubicBezTo>
                  <a:pt x="230370" y="6350"/>
                  <a:pt x="273050" y="49030"/>
                  <a:pt x="273050" y="101600"/>
                </a:cubicBezTo>
                <a:cubicBezTo>
                  <a:pt x="273050" y="154170"/>
                  <a:pt x="230370" y="196850"/>
                  <a:pt x="177800" y="196850"/>
                </a:cubicBezTo>
                <a:close/>
                <a:moveTo>
                  <a:pt x="153591" y="241300"/>
                </a:moveTo>
                <a:lnTo>
                  <a:pt x="202009" y="241300"/>
                </a:lnTo>
                <a:cubicBezTo>
                  <a:pt x="209709" y="241300"/>
                  <a:pt x="215900" y="247491"/>
                  <a:pt x="215900" y="255191"/>
                </a:cubicBezTo>
                <a:cubicBezTo>
                  <a:pt x="215900" y="258524"/>
                  <a:pt x="214709" y="261699"/>
                  <a:pt x="212566" y="264239"/>
                </a:cubicBezTo>
                <a:lnTo>
                  <a:pt x="190818" y="289639"/>
                </a:lnTo>
                <a:lnTo>
                  <a:pt x="215424" y="381000"/>
                </a:lnTo>
                <a:lnTo>
                  <a:pt x="215900" y="381000"/>
                </a:lnTo>
                <a:lnTo>
                  <a:pt x="243364" y="271066"/>
                </a:lnTo>
                <a:cubicBezTo>
                  <a:pt x="245110" y="264160"/>
                  <a:pt x="252174" y="259953"/>
                  <a:pt x="258842" y="262493"/>
                </a:cubicBezTo>
                <a:cubicBezTo>
                  <a:pt x="307975" y="281226"/>
                  <a:pt x="342900" y="328851"/>
                  <a:pt x="342900" y="384572"/>
                </a:cubicBezTo>
                <a:cubicBezTo>
                  <a:pt x="342900" y="396558"/>
                  <a:pt x="333137" y="406321"/>
                  <a:pt x="321151" y="406321"/>
                </a:cubicBezTo>
                <a:lnTo>
                  <a:pt x="34449" y="406400"/>
                </a:lnTo>
                <a:cubicBezTo>
                  <a:pt x="22463" y="406400"/>
                  <a:pt x="12700" y="396637"/>
                  <a:pt x="12700" y="384651"/>
                </a:cubicBezTo>
                <a:cubicBezTo>
                  <a:pt x="12700" y="328930"/>
                  <a:pt x="47625" y="281305"/>
                  <a:pt x="96758" y="262573"/>
                </a:cubicBezTo>
                <a:cubicBezTo>
                  <a:pt x="103426" y="260033"/>
                  <a:pt x="110490" y="264239"/>
                  <a:pt x="112236" y="271145"/>
                </a:cubicBezTo>
                <a:lnTo>
                  <a:pt x="139700" y="381079"/>
                </a:lnTo>
                <a:lnTo>
                  <a:pt x="140176" y="381079"/>
                </a:lnTo>
                <a:lnTo>
                  <a:pt x="164783" y="289719"/>
                </a:lnTo>
                <a:lnTo>
                  <a:pt x="143034" y="264319"/>
                </a:lnTo>
                <a:cubicBezTo>
                  <a:pt x="140891" y="261779"/>
                  <a:pt x="139700" y="258604"/>
                  <a:pt x="139700" y="255270"/>
                </a:cubicBezTo>
                <a:cubicBezTo>
                  <a:pt x="139700" y="247571"/>
                  <a:pt x="145891" y="241379"/>
                  <a:pt x="153591" y="241379"/>
                </a:cubicBezTo>
                <a:close/>
              </a:path>
            </a:pathLst>
          </a:custGeom>
          <a:solidFill>
            <a:srgbClr val="E85D04"/>
          </a:solidFill>
          <a:ln/>
        </p:spPr>
      </p:sp>
      <p:sp>
        <p:nvSpPr>
          <p:cNvPr id="16" name="Text 14"/>
          <p:cNvSpPr/>
          <p:nvPr/>
        </p:nvSpPr>
        <p:spPr>
          <a:xfrm>
            <a:off x="6032500" y="2794000"/>
            <a:ext cx="4191000" cy="1651000"/>
          </a:xfrm>
          <a:prstGeom prst="rect">
            <a:avLst/>
          </a:prstGeom>
          <a:noFill/>
          <a:ln/>
        </p:spPr>
        <p:txBody>
          <a:bodyPr wrap="square" lIns="0" tIns="0" rIns="0" bIns="0" rtlCol="0" anchor="t"/>
          <a:lstStyle/>
          <a:p>
            <a:pPr>
              <a:lnSpc>
                <a:spcPct val="150000"/>
              </a:lnSpc>
            </a:pPr>
            <a:r>
              <a:rPr lang="en-US" sz="2000" dirty="0">
                <a:solidFill>
                  <a:srgbClr val="1A1A2E"/>
                </a:solidFill>
                <a:latin typeface="Quattrocento Sans" pitchFamily="34" charset="0"/>
                <a:ea typeface="Quattrocento Sans" pitchFamily="34" charset="-122"/>
                <a:cs typeface="Quattrocento Sans" pitchFamily="34" charset="-120"/>
              </a:rPr>
              <a:t>You receive a WhatsApp message claiming to be from a recruiter. They say you have been selected for an internship but must pay ₹999 as a registration fee.</a:t>
            </a:r>
            <a:endParaRPr lang="en-US" sz="2000" dirty="0"/>
          </a:p>
        </p:txBody>
      </p:sp>
      <p:sp>
        <p:nvSpPr>
          <p:cNvPr id="17" name="Text 15"/>
          <p:cNvSpPr/>
          <p:nvPr/>
        </p:nvSpPr>
        <p:spPr>
          <a:xfrm>
            <a:off x="6032500" y="5232400"/>
            <a:ext cx="4191000" cy="635000"/>
          </a:xfrm>
          <a:prstGeom prst="rect">
            <a:avLst/>
          </a:prstGeom>
          <a:noFill/>
          <a:ln/>
        </p:spPr>
        <p:txBody>
          <a:bodyPr wrap="square" lIns="0" tIns="0" rIns="0" bIns="0" rtlCol="0" anchor="t"/>
          <a:lstStyle/>
          <a:p>
            <a:pPr>
              <a:lnSpc>
                <a:spcPct val="140000"/>
              </a:lnSpc>
            </a:pPr>
            <a:r>
              <a:rPr lang="en-US" sz="2000" dirty="0">
                <a:solidFill>
                  <a:srgbClr val="1B263B"/>
                </a:solidFill>
                <a:latin typeface="Liter" pitchFamily="34" charset="0"/>
                <a:ea typeface="Liter" pitchFamily="34" charset="-122"/>
                <a:cs typeface="Liter" pitchFamily="34" charset="-120"/>
              </a:rPr>
              <a:t>What do you do?</a:t>
            </a:r>
            <a:endParaRPr lang="en-US" sz="2000" dirty="0"/>
          </a:p>
        </p:txBody>
      </p:sp>
      <p:sp>
        <p:nvSpPr>
          <p:cNvPr id="18" name="Shape 16"/>
          <p:cNvSpPr/>
          <p:nvPr/>
        </p:nvSpPr>
        <p:spPr>
          <a:xfrm>
            <a:off x="6032500" y="5842000"/>
            <a:ext cx="4191000" cy="25400"/>
          </a:xfrm>
          <a:prstGeom prst="rect">
            <a:avLst/>
          </a:prstGeom>
          <a:solidFill>
            <a:srgbClr val="E85D04"/>
          </a:solidFill>
          <a:ln/>
        </p:spPr>
      </p:sp>
      <p:sp>
        <p:nvSpPr>
          <p:cNvPr id="19" name="Text 17"/>
          <p:cNvSpPr/>
          <p:nvPr/>
        </p:nvSpPr>
        <p:spPr>
          <a:xfrm>
            <a:off x="6032500" y="6159500"/>
            <a:ext cx="4191000" cy="1270000"/>
          </a:xfrm>
          <a:prstGeom prst="rect">
            <a:avLst/>
          </a:prstGeom>
          <a:noFill/>
          <a:ln/>
        </p:spPr>
        <p:txBody>
          <a:bodyPr wrap="square" lIns="0" tIns="0" rIns="0" bIns="0" rtlCol="0" anchor="t"/>
          <a:lstStyle/>
          <a:p>
            <a:pPr>
              <a:lnSpc>
                <a:spcPct val="150000"/>
              </a:lnSpc>
            </a:pPr>
            <a:r>
              <a:rPr lang="en-US" sz="2000" b="1" dirty="0">
                <a:solidFill>
                  <a:srgbClr val="E85D04"/>
                </a:solidFill>
                <a:latin typeface="Quattrocento Sans" pitchFamily="34" charset="0"/>
                <a:ea typeface="Quattrocento Sans" pitchFamily="34" charset="-122"/>
                <a:cs typeface="Quattrocento Sans" pitchFamily="34" charset="-120"/>
              </a:rPr>
              <a:t>Verify before paying.</a:t>
            </a:r>
            <a:r>
              <a:rPr lang="en-US" sz="2000" dirty="0">
                <a:solidFill>
                  <a:srgbClr val="1A1A2E"/>
                </a:solidFill>
                <a:latin typeface="Quattrocento Sans" pitchFamily="34" charset="0"/>
                <a:ea typeface="Quattrocento Sans" pitchFamily="34" charset="-122"/>
                <a:cs typeface="Quattrocento Sans" pitchFamily="34" charset="-120"/>
              </a:rPr>
              <a:t> Unexpected payment request , pressure to act quickly , unverified recruiter</a:t>
            </a:r>
            <a:endParaRPr lang="en-US" sz="2000" dirty="0"/>
          </a:p>
        </p:txBody>
      </p:sp>
      <p:sp>
        <p:nvSpPr>
          <p:cNvPr id="20" name="Shape 18"/>
          <p:cNvSpPr/>
          <p:nvPr/>
        </p:nvSpPr>
        <p:spPr>
          <a:xfrm>
            <a:off x="10795000" y="1460500"/>
            <a:ext cx="4699000" cy="6858000"/>
          </a:xfrm>
          <a:prstGeom prst="roundRect">
            <a:avLst>
              <a:gd name="adj" fmla="val 6000"/>
            </a:avLst>
          </a:prstGeom>
          <a:solidFill>
            <a:srgbClr val="EDEAE4"/>
          </a:solidFill>
          <a:ln/>
        </p:spPr>
      </p:sp>
      <p:sp>
        <p:nvSpPr>
          <p:cNvPr id="21" name="Shape 19"/>
          <p:cNvSpPr/>
          <p:nvPr/>
        </p:nvSpPr>
        <p:spPr>
          <a:xfrm>
            <a:off x="10795000" y="1460500"/>
            <a:ext cx="4699000" cy="508000"/>
          </a:xfrm>
          <a:prstGeom prst="roundRect">
            <a:avLst>
              <a:gd name="adj" fmla="val 6000"/>
            </a:avLst>
          </a:prstGeom>
          <a:solidFill>
            <a:srgbClr val="1B263B"/>
          </a:solidFill>
          <a:ln/>
        </p:spPr>
      </p:sp>
      <p:sp>
        <p:nvSpPr>
          <p:cNvPr id="22" name="Text 20"/>
          <p:cNvSpPr/>
          <p:nvPr/>
        </p:nvSpPr>
        <p:spPr>
          <a:xfrm>
            <a:off x="10985500" y="1524000"/>
            <a:ext cx="4318000" cy="381000"/>
          </a:xfrm>
          <a:prstGeom prst="rect">
            <a:avLst/>
          </a:prstGeom>
          <a:noFill/>
          <a:ln/>
        </p:spPr>
        <p:txBody>
          <a:bodyPr wrap="none" lIns="0" tIns="0" rIns="0" bIns="0" rtlCol="0" anchor="ctr"/>
          <a:lstStyle/>
          <a:p>
            <a:pPr>
              <a:lnSpc>
                <a:spcPct val="100000"/>
              </a:lnSpc>
            </a:pPr>
            <a:r>
              <a:rPr lang="en-US" sz="1400" dirty="0">
                <a:solidFill>
                  <a:srgbClr val="FFFFFF"/>
                </a:solidFill>
                <a:latin typeface="Liter" pitchFamily="34" charset="0"/>
                <a:ea typeface="Liter" pitchFamily="34" charset="-122"/>
                <a:cs typeface="Liter" pitchFamily="34" charset="-120"/>
              </a:rPr>
              <a:t>SCENARIO 3</a:t>
            </a:r>
            <a:endParaRPr lang="en-US" sz="1600" dirty="0"/>
          </a:p>
        </p:txBody>
      </p:sp>
      <p:sp>
        <p:nvSpPr>
          <p:cNvPr id="23" name="Shape 21"/>
          <p:cNvSpPr/>
          <p:nvPr/>
        </p:nvSpPr>
        <p:spPr>
          <a:xfrm>
            <a:off x="11049000" y="2222500"/>
            <a:ext cx="406400" cy="406400"/>
          </a:xfrm>
          <a:custGeom>
            <a:avLst/>
            <a:gdLst/>
            <a:ahLst/>
            <a:cxnLst/>
            <a:rect l="l" t="t" r="r" b="b"/>
            <a:pathLst>
              <a:path w="406400" h="406400">
                <a:moveTo>
                  <a:pt x="203200" y="381000"/>
                </a:moveTo>
                <a:cubicBezTo>
                  <a:pt x="315436" y="381000"/>
                  <a:pt x="406400" y="295672"/>
                  <a:pt x="406400" y="190500"/>
                </a:cubicBezTo>
                <a:cubicBezTo>
                  <a:pt x="406400" y="85328"/>
                  <a:pt x="315436" y="0"/>
                  <a:pt x="203200" y="0"/>
                </a:cubicBezTo>
                <a:cubicBezTo>
                  <a:pt x="90964" y="0"/>
                  <a:pt x="0" y="85328"/>
                  <a:pt x="0" y="190500"/>
                </a:cubicBezTo>
                <a:cubicBezTo>
                  <a:pt x="0" y="233601"/>
                  <a:pt x="15240" y="273288"/>
                  <a:pt x="40958" y="305197"/>
                </a:cubicBezTo>
                <a:lnTo>
                  <a:pt x="2223" y="378460"/>
                </a:lnTo>
                <a:cubicBezTo>
                  <a:pt x="-1587" y="385604"/>
                  <a:pt x="-397" y="394335"/>
                  <a:pt x="5080" y="400288"/>
                </a:cubicBezTo>
                <a:cubicBezTo>
                  <a:pt x="10557" y="406241"/>
                  <a:pt x="19209" y="408067"/>
                  <a:pt x="26591" y="404892"/>
                </a:cubicBezTo>
                <a:lnTo>
                  <a:pt x="120571" y="364649"/>
                </a:lnTo>
                <a:cubicBezTo>
                  <a:pt x="145812" y="375126"/>
                  <a:pt x="173752" y="381000"/>
                  <a:pt x="203200" y="381000"/>
                </a:cubicBezTo>
                <a:close/>
                <a:moveTo>
                  <a:pt x="111760" y="137160"/>
                </a:moveTo>
                <a:lnTo>
                  <a:pt x="127000" y="137160"/>
                </a:lnTo>
                <a:cubicBezTo>
                  <a:pt x="133985" y="137160"/>
                  <a:pt x="139700" y="142875"/>
                  <a:pt x="139700" y="149860"/>
                </a:cubicBezTo>
                <a:cubicBezTo>
                  <a:pt x="139700" y="156845"/>
                  <a:pt x="133985" y="162560"/>
                  <a:pt x="127000" y="162560"/>
                </a:cubicBezTo>
                <a:lnTo>
                  <a:pt x="111760" y="162560"/>
                </a:lnTo>
                <a:cubicBezTo>
                  <a:pt x="107553" y="162560"/>
                  <a:pt x="104140" y="165973"/>
                  <a:pt x="104140" y="170180"/>
                </a:cubicBezTo>
                <a:cubicBezTo>
                  <a:pt x="104140" y="174387"/>
                  <a:pt x="107553" y="177800"/>
                  <a:pt x="111760" y="177800"/>
                </a:cubicBezTo>
                <a:cubicBezTo>
                  <a:pt x="130016" y="177800"/>
                  <a:pt x="144780" y="192564"/>
                  <a:pt x="144780" y="210820"/>
                </a:cubicBezTo>
                <a:cubicBezTo>
                  <a:pt x="144780" y="229076"/>
                  <a:pt x="130016" y="243840"/>
                  <a:pt x="111760" y="243840"/>
                </a:cubicBezTo>
                <a:lnTo>
                  <a:pt x="91440" y="243840"/>
                </a:lnTo>
                <a:cubicBezTo>
                  <a:pt x="84455" y="243840"/>
                  <a:pt x="78740" y="238125"/>
                  <a:pt x="78740" y="231140"/>
                </a:cubicBezTo>
                <a:cubicBezTo>
                  <a:pt x="78740" y="224155"/>
                  <a:pt x="84455" y="218440"/>
                  <a:pt x="91440" y="218440"/>
                </a:cubicBezTo>
                <a:lnTo>
                  <a:pt x="111760" y="218440"/>
                </a:lnTo>
                <a:cubicBezTo>
                  <a:pt x="115967" y="218440"/>
                  <a:pt x="119380" y="215027"/>
                  <a:pt x="119380" y="210820"/>
                </a:cubicBezTo>
                <a:cubicBezTo>
                  <a:pt x="119380" y="206613"/>
                  <a:pt x="115967" y="203200"/>
                  <a:pt x="111760" y="203200"/>
                </a:cubicBezTo>
                <a:cubicBezTo>
                  <a:pt x="93504" y="203200"/>
                  <a:pt x="78740" y="188436"/>
                  <a:pt x="78740" y="170180"/>
                </a:cubicBezTo>
                <a:cubicBezTo>
                  <a:pt x="78740" y="151924"/>
                  <a:pt x="93504" y="137160"/>
                  <a:pt x="111760" y="137160"/>
                </a:cubicBezTo>
                <a:close/>
                <a:moveTo>
                  <a:pt x="261620" y="170180"/>
                </a:moveTo>
                <a:cubicBezTo>
                  <a:pt x="261620" y="151924"/>
                  <a:pt x="276384" y="137160"/>
                  <a:pt x="294640" y="137160"/>
                </a:cubicBezTo>
                <a:lnTo>
                  <a:pt x="309880" y="137160"/>
                </a:lnTo>
                <a:cubicBezTo>
                  <a:pt x="316865" y="137160"/>
                  <a:pt x="322580" y="142875"/>
                  <a:pt x="322580" y="149860"/>
                </a:cubicBezTo>
                <a:cubicBezTo>
                  <a:pt x="322580" y="156845"/>
                  <a:pt x="316865" y="162560"/>
                  <a:pt x="309880" y="162560"/>
                </a:cubicBezTo>
                <a:lnTo>
                  <a:pt x="294640" y="162560"/>
                </a:lnTo>
                <a:cubicBezTo>
                  <a:pt x="290433" y="162560"/>
                  <a:pt x="287020" y="165973"/>
                  <a:pt x="287020" y="170180"/>
                </a:cubicBezTo>
                <a:cubicBezTo>
                  <a:pt x="287020" y="174387"/>
                  <a:pt x="290433" y="177800"/>
                  <a:pt x="294640" y="177800"/>
                </a:cubicBezTo>
                <a:cubicBezTo>
                  <a:pt x="312896" y="177800"/>
                  <a:pt x="327660" y="192564"/>
                  <a:pt x="327660" y="210820"/>
                </a:cubicBezTo>
                <a:cubicBezTo>
                  <a:pt x="327660" y="229076"/>
                  <a:pt x="312896" y="243840"/>
                  <a:pt x="294640" y="243840"/>
                </a:cubicBezTo>
                <a:lnTo>
                  <a:pt x="274320" y="243840"/>
                </a:lnTo>
                <a:cubicBezTo>
                  <a:pt x="267335" y="243840"/>
                  <a:pt x="261620" y="238125"/>
                  <a:pt x="261620" y="231140"/>
                </a:cubicBezTo>
                <a:cubicBezTo>
                  <a:pt x="261620" y="224155"/>
                  <a:pt x="267335" y="218440"/>
                  <a:pt x="274320" y="218440"/>
                </a:cubicBezTo>
                <a:lnTo>
                  <a:pt x="294640" y="218440"/>
                </a:lnTo>
                <a:cubicBezTo>
                  <a:pt x="298847" y="218440"/>
                  <a:pt x="302260" y="215027"/>
                  <a:pt x="302260" y="210820"/>
                </a:cubicBezTo>
                <a:cubicBezTo>
                  <a:pt x="302260" y="206613"/>
                  <a:pt x="298847" y="203200"/>
                  <a:pt x="294640" y="203200"/>
                </a:cubicBezTo>
                <a:cubicBezTo>
                  <a:pt x="276384" y="203200"/>
                  <a:pt x="261620" y="188436"/>
                  <a:pt x="261620" y="170180"/>
                </a:cubicBezTo>
                <a:close/>
                <a:moveTo>
                  <a:pt x="183594" y="143351"/>
                </a:moveTo>
                <a:lnTo>
                  <a:pt x="203200" y="175974"/>
                </a:lnTo>
                <a:lnTo>
                  <a:pt x="222806" y="143351"/>
                </a:lnTo>
                <a:cubicBezTo>
                  <a:pt x="225742" y="138430"/>
                  <a:pt x="231616" y="136128"/>
                  <a:pt x="237093" y="137636"/>
                </a:cubicBezTo>
                <a:cubicBezTo>
                  <a:pt x="242570" y="139144"/>
                  <a:pt x="246380" y="144145"/>
                  <a:pt x="246380" y="149860"/>
                </a:cubicBezTo>
                <a:lnTo>
                  <a:pt x="246380" y="231140"/>
                </a:lnTo>
                <a:cubicBezTo>
                  <a:pt x="246380" y="238125"/>
                  <a:pt x="240665" y="243840"/>
                  <a:pt x="233680" y="243840"/>
                </a:cubicBezTo>
                <a:cubicBezTo>
                  <a:pt x="226695" y="243840"/>
                  <a:pt x="220980" y="238125"/>
                  <a:pt x="220980" y="231140"/>
                </a:cubicBezTo>
                <a:lnTo>
                  <a:pt x="220980" y="195739"/>
                </a:lnTo>
                <a:lnTo>
                  <a:pt x="214074" y="207248"/>
                </a:lnTo>
                <a:cubicBezTo>
                  <a:pt x="211773" y="211058"/>
                  <a:pt x="207645" y="213439"/>
                  <a:pt x="203200" y="213439"/>
                </a:cubicBezTo>
                <a:cubicBezTo>
                  <a:pt x="198755" y="213439"/>
                  <a:pt x="194628" y="211058"/>
                  <a:pt x="192326" y="207248"/>
                </a:cubicBezTo>
                <a:lnTo>
                  <a:pt x="185420" y="195739"/>
                </a:lnTo>
                <a:lnTo>
                  <a:pt x="185420" y="231140"/>
                </a:lnTo>
                <a:cubicBezTo>
                  <a:pt x="185420" y="238125"/>
                  <a:pt x="179705" y="243840"/>
                  <a:pt x="172720" y="243840"/>
                </a:cubicBezTo>
                <a:cubicBezTo>
                  <a:pt x="165735" y="243840"/>
                  <a:pt x="160020" y="238125"/>
                  <a:pt x="160020" y="231140"/>
                </a:cubicBezTo>
                <a:lnTo>
                  <a:pt x="160020" y="149860"/>
                </a:lnTo>
                <a:cubicBezTo>
                  <a:pt x="160020" y="144145"/>
                  <a:pt x="163830" y="139144"/>
                  <a:pt x="169307" y="137636"/>
                </a:cubicBezTo>
                <a:cubicBezTo>
                  <a:pt x="174784" y="136128"/>
                  <a:pt x="180658" y="138430"/>
                  <a:pt x="183594" y="143351"/>
                </a:cubicBezTo>
                <a:close/>
              </a:path>
            </a:pathLst>
          </a:custGeom>
          <a:solidFill>
            <a:srgbClr val="E85D04"/>
          </a:solidFill>
          <a:ln/>
        </p:spPr>
      </p:sp>
      <p:sp>
        <p:nvSpPr>
          <p:cNvPr id="24" name="Text 22"/>
          <p:cNvSpPr/>
          <p:nvPr/>
        </p:nvSpPr>
        <p:spPr>
          <a:xfrm>
            <a:off x="11049000" y="2794000"/>
            <a:ext cx="4191000" cy="1651000"/>
          </a:xfrm>
          <a:prstGeom prst="rect">
            <a:avLst/>
          </a:prstGeom>
          <a:noFill/>
          <a:ln/>
        </p:spPr>
        <p:txBody>
          <a:bodyPr wrap="square" lIns="0" tIns="0" rIns="0" bIns="0" rtlCol="0" anchor="t"/>
          <a:lstStyle/>
          <a:p>
            <a:pPr>
              <a:lnSpc>
                <a:spcPct val="150000"/>
              </a:lnSpc>
            </a:pPr>
            <a:r>
              <a:rPr lang="en-US" sz="2000" dirty="0">
                <a:solidFill>
                  <a:srgbClr val="1A1A2E"/>
                </a:solidFill>
                <a:latin typeface="Quattrocento Sans" pitchFamily="34" charset="0"/>
                <a:ea typeface="Quattrocento Sans" pitchFamily="34" charset="-122"/>
                <a:cs typeface="Quattrocento Sans" pitchFamily="34" charset="-120"/>
              </a:rPr>
              <a:t>A </a:t>
            </a:r>
            <a:r>
              <a:rPr lang="en-US" sz="2000" b="1" dirty="0">
                <a:solidFill>
                  <a:srgbClr val="1A1A2E"/>
                </a:solidFill>
                <a:latin typeface="Quattrocento Sans" pitchFamily="34" charset="0"/>
                <a:ea typeface="Quattrocento Sans" pitchFamily="34" charset="-122"/>
                <a:cs typeface="Quattrocento Sans" pitchFamily="34" charset="-120"/>
              </a:rPr>
              <a:t>text message</a:t>
            </a:r>
            <a:r>
              <a:rPr lang="en-US" sz="2000" dirty="0">
                <a:solidFill>
                  <a:srgbClr val="1A1A2E"/>
                </a:solidFill>
                <a:latin typeface="Quattrocento Sans" pitchFamily="34" charset="0"/>
                <a:ea typeface="Quattrocento Sans" pitchFamily="34" charset="-122"/>
                <a:cs typeface="Quattrocento Sans" pitchFamily="34" charset="-120"/>
              </a:rPr>
              <a:t> says your package delivery failed and provides a link to reschedule: </a:t>
            </a:r>
            <a:r>
              <a:rPr lang="en-US" sz="2000" b="1" dirty="0">
                <a:solidFill>
                  <a:srgbClr val="1A1A2E"/>
                </a:solidFill>
                <a:latin typeface="Quattrocento Sans" pitchFamily="34" charset="0"/>
                <a:ea typeface="Quattrocento Sans" pitchFamily="34" charset="-122"/>
                <a:cs typeface="Quattrocento Sans" pitchFamily="34" charset="-120"/>
              </a:rPr>
              <a:t>"track-package-now.com"</a:t>
            </a:r>
            <a:endParaRPr lang="en-US" sz="2000" dirty="0"/>
          </a:p>
        </p:txBody>
      </p:sp>
      <p:sp>
        <p:nvSpPr>
          <p:cNvPr id="25" name="Text 23"/>
          <p:cNvSpPr/>
          <p:nvPr/>
        </p:nvSpPr>
        <p:spPr>
          <a:xfrm>
            <a:off x="11049000" y="5232400"/>
            <a:ext cx="4191000" cy="635000"/>
          </a:xfrm>
          <a:prstGeom prst="rect">
            <a:avLst/>
          </a:prstGeom>
          <a:noFill/>
          <a:ln/>
        </p:spPr>
        <p:txBody>
          <a:bodyPr wrap="square" lIns="0" tIns="0" rIns="0" bIns="0" rtlCol="0" anchor="t"/>
          <a:lstStyle/>
          <a:p>
            <a:pPr>
              <a:lnSpc>
                <a:spcPct val="140000"/>
              </a:lnSpc>
            </a:pPr>
            <a:r>
              <a:rPr lang="en-US" sz="2000" dirty="0">
                <a:solidFill>
                  <a:srgbClr val="1B263B"/>
                </a:solidFill>
                <a:latin typeface="Liter" pitchFamily="34" charset="0"/>
                <a:ea typeface="Liter" pitchFamily="34" charset="-122"/>
                <a:cs typeface="Liter" pitchFamily="34" charset="-120"/>
              </a:rPr>
              <a:t>What do you do?</a:t>
            </a:r>
            <a:endParaRPr lang="en-US" sz="2000" dirty="0"/>
          </a:p>
        </p:txBody>
      </p:sp>
      <p:sp>
        <p:nvSpPr>
          <p:cNvPr id="26" name="Shape 24"/>
          <p:cNvSpPr/>
          <p:nvPr/>
        </p:nvSpPr>
        <p:spPr>
          <a:xfrm>
            <a:off x="11049000" y="5842000"/>
            <a:ext cx="4191000" cy="25400"/>
          </a:xfrm>
          <a:prstGeom prst="rect">
            <a:avLst/>
          </a:prstGeom>
          <a:solidFill>
            <a:srgbClr val="E85D04"/>
          </a:solidFill>
          <a:ln/>
        </p:spPr>
      </p:sp>
      <p:sp>
        <p:nvSpPr>
          <p:cNvPr id="27" name="Text 25"/>
          <p:cNvSpPr/>
          <p:nvPr/>
        </p:nvSpPr>
        <p:spPr>
          <a:xfrm>
            <a:off x="11049000" y="6159500"/>
            <a:ext cx="4191000" cy="1270000"/>
          </a:xfrm>
          <a:prstGeom prst="rect">
            <a:avLst/>
          </a:prstGeom>
          <a:noFill/>
          <a:ln/>
        </p:spPr>
        <p:txBody>
          <a:bodyPr wrap="square" lIns="0" tIns="0" rIns="0" bIns="0" rtlCol="0" anchor="t"/>
          <a:lstStyle/>
          <a:p>
            <a:pPr>
              <a:lnSpc>
                <a:spcPct val="150000"/>
              </a:lnSpc>
            </a:pPr>
            <a:r>
              <a:rPr lang="en-US" sz="2000" b="1" dirty="0">
                <a:solidFill>
                  <a:srgbClr val="E85D04"/>
                </a:solidFill>
                <a:latin typeface="Quattrocento Sans" pitchFamily="34" charset="0"/>
                <a:ea typeface="Quattrocento Sans" pitchFamily="34" charset="-122"/>
                <a:cs typeface="Quattrocento Sans" pitchFamily="34" charset="-120"/>
              </a:rPr>
              <a:t>Don't click.</a:t>
            </a:r>
            <a:r>
              <a:rPr lang="en-US" sz="2000" dirty="0">
                <a:solidFill>
                  <a:srgbClr val="1A1A2E"/>
                </a:solidFill>
                <a:latin typeface="Quattrocento Sans" pitchFamily="34" charset="0"/>
                <a:ea typeface="Quattrocento Sans" pitchFamily="34" charset="-122"/>
                <a:cs typeface="Quattrocento Sans" pitchFamily="34" charset="-120"/>
              </a:rPr>
              <a:t> Go to the carrier's official website directly. Smishing accounts for 35% of all phishing attacks.</a:t>
            </a:r>
            <a:endParaRPr lang="en-US" sz="2000" dirty="0"/>
          </a:p>
        </p:txBody>
      </p:sp>
      <p:sp>
        <p:nvSpPr>
          <p:cNvPr id="28" name="Text 26"/>
          <p:cNvSpPr/>
          <p:nvPr/>
        </p:nvSpPr>
        <p:spPr>
          <a:xfrm>
            <a:off x="13462000" y="8699500"/>
            <a:ext cx="2032000" cy="254000"/>
          </a:xfrm>
          <a:prstGeom prst="rect">
            <a:avLst/>
          </a:prstGeom>
          <a:noFill/>
          <a:ln/>
        </p:spPr>
        <p:txBody>
          <a:bodyPr wrap="none" lIns="0" tIns="0" rIns="0" bIns="0" rtlCol="0" anchor="ctr"/>
          <a:lstStyle/>
          <a:p>
            <a:pPr algn="r">
              <a:lnSpc>
                <a:spcPct val="140000"/>
              </a:lnSpc>
            </a:pPr>
            <a:r>
              <a:rPr lang="en-US" sz="1400" dirty="0">
                <a:solidFill>
                  <a:srgbClr val="5C6B7A"/>
                </a:solidFill>
                <a:latin typeface="QuattrocentoSans" pitchFamily="34" charset="0"/>
                <a:ea typeface="QuattrocentoSans" pitchFamily="34" charset="-122"/>
                <a:cs typeface="QuattrocentoSans" pitchFamily="34" charset="-120"/>
              </a:rPr>
              <a:t>04 / Protection</a:t>
            </a:r>
            <a:endParaRPr lang="en-US" sz="14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gradFill flip="none" rotWithShape="1">
            <a:gsLst>
              <a:gs pos="0">
                <a:srgbClr val="1B263B">
                  <a:alpha val="53000"/>
                </a:srgbClr>
              </a:gs>
              <a:gs pos="40000">
                <a:srgbClr val="1B263B">
                  <a:alpha val="80000"/>
                </a:srgbClr>
              </a:gs>
              <a:gs pos="100000">
                <a:srgbClr val="1B263B">
                  <a:alpha val="93000"/>
                </a:srgbClr>
              </a:gs>
            </a:gsLst>
            <a:lin ang="5400000" scaled="1"/>
          </a:gradFill>
          <a:ln/>
        </p:spPr>
      </p:sp>
      <p:sp>
        <p:nvSpPr>
          <p:cNvPr id="3" name="Shape 1"/>
          <p:cNvSpPr/>
          <p:nvPr/>
        </p:nvSpPr>
        <p:spPr>
          <a:xfrm>
            <a:off x="6858000" y="2921000"/>
            <a:ext cx="2540000" cy="38100"/>
          </a:xfrm>
          <a:prstGeom prst="rect">
            <a:avLst/>
          </a:prstGeom>
          <a:solidFill>
            <a:srgbClr val="E85D04"/>
          </a:solidFill>
          <a:ln/>
        </p:spPr>
      </p:sp>
      <p:sp>
        <p:nvSpPr>
          <p:cNvPr id="4" name="Text 2"/>
          <p:cNvSpPr/>
          <p:nvPr/>
        </p:nvSpPr>
        <p:spPr>
          <a:xfrm>
            <a:off x="1778000" y="3175000"/>
            <a:ext cx="12700000" cy="825500"/>
          </a:xfrm>
          <a:prstGeom prst="rect">
            <a:avLst/>
          </a:prstGeom>
          <a:noFill/>
          <a:ln/>
        </p:spPr>
        <p:txBody>
          <a:bodyPr wrap="none" lIns="0" tIns="0" rIns="0" bIns="0" rtlCol="0" anchor="ctr"/>
          <a:lstStyle/>
          <a:p>
            <a:pPr algn="ctr">
              <a:lnSpc>
                <a:spcPct val="100000"/>
              </a:lnSpc>
            </a:pPr>
            <a:r>
              <a:rPr lang="en-US" sz="4200" kern="0" spc="200" dirty="0">
                <a:solidFill>
                  <a:srgbClr val="FFFFFF"/>
                </a:solidFill>
                <a:latin typeface="Liter" pitchFamily="34" charset="0"/>
                <a:ea typeface="Liter" pitchFamily="34" charset="-122"/>
                <a:cs typeface="Liter" pitchFamily="34" charset="-120"/>
              </a:rPr>
              <a:t>STAY VIGILANT. STAY SECURE.</a:t>
            </a:r>
            <a:endParaRPr lang="en-US" sz="1600" dirty="0"/>
          </a:p>
        </p:txBody>
      </p:sp>
      <p:sp>
        <p:nvSpPr>
          <p:cNvPr id="5" name="Shape 3"/>
          <p:cNvSpPr/>
          <p:nvPr/>
        </p:nvSpPr>
        <p:spPr>
          <a:xfrm>
            <a:off x="6858000" y="4127500"/>
            <a:ext cx="2540000" cy="38100"/>
          </a:xfrm>
          <a:prstGeom prst="rect">
            <a:avLst/>
          </a:prstGeom>
          <a:solidFill>
            <a:srgbClr val="E85D04"/>
          </a:solidFill>
          <a:ln/>
        </p:spPr>
      </p:sp>
      <p:sp>
        <p:nvSpPr>
          <p:cNvPr id="6" name="Text 4"/>
          <p:cNvSpPr/>
          <p:nvPr/>
        </p:nvSpPr>
        <p:spPr>
          <a:xfrm>
            <a:off x="2413000" y="4445000"/>
            <a:ext cx="11430000" cy="1397000"/>
          </a:xfrm>
          <a:prstGeom prst="rect">
            <a:avLst/>
          </a:prstGeom>
          <a:noFill/>
          <a:ln/>
        </p:spPr>
        <p:txBody>
          <a:bodyPr wrap="square" lIns="0" tIns="0" rIns="0" bIns="0" rtlCol="0" anchor="t"/>
          <a:lstStyle/>
          <a:p>
            <a:pPr algn="ctr">
              <a:lnSpc>
                <a:spcPct val="160000"/>
              </a:lnSpc>
            </a:pPr>
            <a:r>
              <a:rPr lang="en-US" sz="1800" dirty="0">
                <a:solidFill>
                  <a:srgbClr val="FFFFFF">
                    <a:alpha val="80000"/>
                  </a:srgbClr>
                </a:solidFill>
                <a:latin typeface="Quattrocento Sans" pitchFamily="34" charset="0"/>
                <a:ea typeface="Quattrocento Sans" pitchFamily="34" charset="-122"/>
                <a:cs typeface="Quattrocento Sans" pitchFamily="34" charset="-120"/>
              </a:rPr>
              <a:t>Phishing attacks evolve constantly, but awareness is your strongest defense.</a:t>
            </a:r>
            <a:endParaRPr lang="en-US" sz="1600" dirty="0"/>
          </a:p>
          <a:p>
            <a:pPr algn="ctr">
              <a:lnSpc>
                <a:spcPct val="160000"/>
              </a:lnSpc>
            </a:pPr>
            <a:r>
              <a:rPr lang="en-US" sz="1800" dirty="0">
                <a:solidFill>
                  <a:srgbClr val="FFFFFF">
                    <a:alpha val="80000"/>
                  </a:srgbClr>
                </a:solidFill>
                <a:latin typeface="Quattrocento Sans" pitchFamily="34" charset="0"/>
                <a:ea typeface="Quattrocento Sans" pitchFamily="34" charset="-122"/>
                <a:cs typeface="Quattrocento Sans" pitchFamily="34" charset="-120"/>
              </a:rPr>
              <a:t>When in doubt, verify. Report suspicious activity.</a:t>
            </a:r>
            <a:endParaRPr lang="en-US" sz="1600" dirty="0"/>
          </a:p>
          <a:p>
            <a:pPr algn="ctr">
              <a:lnSpc>
                <a:spcPct val="160000"/>
              </a:lnSpc>
            </a:pPr>
            <a:r>
              <a:rPr lang="en-US" sz="1800" dirty="0">
                <a:solidFill>
                  <a:srgbClr val="FFFFFF">
                    <a:alpha val="80000"/>
                  </a:srgbClr>
                </a:solidFill>
                <a:latin typeface="Quattrocento Sans" pitchFamily="34" charset="0"/>
                <a:ea typeface="Quattrocento Sans" pitchFamily="34" charset="-122"/>
                <a:cs typeface="Quattrocento Sans" pitchFamily="34" charset="-120"/>
              </a:rPr>
              <a:t>Protect yourself and your organization.</a:t>
            </a:r>
            <a:endParaRPr lang="en-US" sz="1600" dirty="0"/>
          </a:p>
        </p:txBody>
      </p:sp>
      <p:sp>
        <p:nvSpPr>
          <p:cNvPr id="7" name="Text 5"/>
          <p:cNvSpPr/>
          <p:nvPr/>
        </p:nvSpPr>
        <p:spPr>
          <a:xfrm>
            <a:off x="3048000" y="6096000"/>
            <a:ext cx="10160000" cy="444500"/>
          </a:xfrm>
          <a:prstGeom prst="rect">
            <a:avLst/>
          </a:prstGeom>
          <a:noFill/>
          <a:ln/>
        </p:spPr>
        <p:txBody>
          <a:bodyPr wrap="none" lIns="0" tIns="0" rIns="0" bIns="0" rtlCol="0" anchor="ctr"/>
          <a:lstStyle/>
          <a:p>
            <a:pPr algn="ctr">
              <a:lnSpc>
                <a:spcPct val="100000"/>
              </a:lnSpc>
            </a:pPr>
            <a:r>
              <a:rPr lang="en-US" sz="1600" dirty="0">
                <a:solidFill>
                  <a:srgbClr val="FFFFFF">
                    <a:alpha val="53333"/>
                  </a:srgbClr>
                </a:solidFill>
                <a:latin typeface="Quattrocento Sans" pitchFamily="34" charset="0"/>
                <a:ea typeface="Quattrocento Sans" pitchFamily="34" charset="-122"/>
                <a:cs typeface="Quattrocento Sans" pitchFamily="34" charset="-120"/>
              </a:rPr>
              <a:t>Training reduces phishing susceptibility by 85%+</a:t>
            </a:r>
            <a:endParaRPr lang="en-US" sz="1600" dirty="0"/>
          </a:p>
        </p:txBody>
      </p:sp>
      <p:sp>
        <p:nvSpPr>
          <p:cNvPr id="8" name="Shape 6"/>
          <p:cNvSpPr/>
          <p:nvPr/>
        </p:nvSpPr>
        <p:spPr>
          <a:xfrm>
            <a:off x="0" y="8890000"/>
            <a:ext cx="16256000" cy="254000"/>
          </a:xfrm>
          <a:prstGeom prst="rect">
            <a:avLst/>
          </a:prstGeom>
          <a:solidFill>
            <a:srgbClr val="E85D04"/>
          </a:solidFill>
          <a:ln/>
        </p:spPr>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1669</Words>
  <Application>Microsoft Office PowerPoint</Application>
  <PresentationFormat>Custom</PresentationFormat>
  <Paragraphs>207</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phishing-awareness.pptd</dc:title>
  <dc:subject>phishing-awareness.pptd</dc:subject>
  <dc:creator>Kimi</dc:creator>
  <cp:lastModifiedBy>Nishant Kumar</cp:lastModifiedBy>
  <cp:revision>3</cp:revision>
  <dcterms:created xsi:type="dcterms:W3CDTF">2026-06-14T15:24:41Z</dcterms:created>
  <dcterms:modified xsi:type="dcterms:W3CDTF">2026-06-16T06:07:16Z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{"Label":"phishing-awareness.pptd","ContentProducer":"001191110108MACG2KBH8F10000","ProduceID":"","ReservedCode1":"","ContentPropagator":"001191110108MACG2KBH8F20000","PropagateID":"","ReservedCode2":""}</vt:lpwstr>
  </property>
</Properties>
</file>